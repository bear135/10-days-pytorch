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61"/>
    <p:restoredTop sz="96790"/>
  </p:normalViewPr>
  <p:slideViewPr>
    <p:cSldViewPr snapToGrid="0">
      <p:cViewPr varScale="1">
        <p:scale>
          <a:sx n="144" d="100"/>
          <a:sy n="144" d="100"/>
        </p:scale>
        <p:origin x="8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42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EC386611-DA1D-5984-7915-A39655EA00D8}"/>
              </a:ext>
            </a:extLst>
          </p:cNvPr>
          <p:cNvCxnSpPr/>
          <p:nvPr userDrawn="1"/>
        </p:nvCxnSpPr>
        <p:spPr>
          <a:xfrm>
            <a:off x="268913" y="694436"/>
            <a:ext cx="116393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ACC33B-932B-13A7-800E-CA47F31C7A77}"/>
              </a:ext>
            </a:extLst>
          </p:cNvPr>
          <p:cNvSpPr txBox="1"/>
          <p:nvPr userDrawn="1"/>
        </p:nvSpPr>
        <p:spPr>
          <a:xfrm>
            <a:off x="10864676" y="6291470"/>
            <a:ext cx="1043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77F96B8-C915-EB4F-8C3F-29DAE644A8B2}" type="slidenum">
              <a:rPr kumimoji="1" lang="ko-KR" altLang="en-US" sz="1200" smtClean="0"/>
              <a:pPr algn="r"/>
              <a:t>‹#›</a:t>
            </a:fld>
            <a:endParaRPr kumimoji="1"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EBB57-E58D-1126-CFFA-065DCF37E58D}"/>
              </a:ext>
            </a:extLst>
          </p:cNvPr>
          <p:cNvSpPr txBox="1"/>
          <p:nvPr userDrawn="1"/>
        </p:nvSpPr>
        <p:spPr>
          <a:xfrm>
            <a:off x="188007" y="323716"/>
            <a:ext cx="3507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200" dirty="0"/>
              <a:t>Deep Learning with </a:t>
            </a:r>
            <a:r>
              <a:rPr kumimoji="1" lang="en-US" altLang="ko-KR" sz="1200" dirty="0" err="1"/>
              <a:t>Pytorch</a:t>
            </a: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9155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rive.google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EA1C0A-EAB4-70F3-F80B-C43D9EFEB2B8}"/>
              </a:ext>
            </a:extLst>
          </p:cNvPr>
          <p:cNvSpPr txBox="1"/>
          <p:nvPr/>
        </p:nvSpPr>
        <p:spPr>
          <a:xfrm>
            <a:off x="10317190" y="336429"/>
            <a:ext cx="1535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1-1. </a:t>
            </a:r>
            <a:r>
              <a:rPr kumimoji="1" lang="ko-KR" altLang="en-US" sz="1200" dirty="0"/>
              <a:t>과정소개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688FDB-FB25-6391-F405-76C2A3284180}"/>
              </a:ext>
            </a:extLst>
          </p:cNvPr>
          <p:cNvSpPr/>
          <p:nvPr/>
        </p:nvSpPr>
        <p:spPr>
          <a:xfrm>
            <a:off x="232913" y="232913"/>
            <a:ext cx="11740551" cy="6288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18510-5A9B-9E78-9DDB-ABEB9CCBD434}"/>
              </a:ext>
            </a:extLst>
          </p:cNvPr>
          <p:cNvSpPr txBox="1"/>
          <p:nvPr/>
        </p:nvSpPr>
        <p:spPr>
          <a:xfrm>
            <a:off x="778135" y="1215503"/>
            <a:ext cx="103689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3300" b="1" dirty="0"/>
              <a:t>Deep Learning with </a:t>
            </a:r>
            <a:r>
              <a:rPr kumimoji="1" lang="en-US" altLang="ko-KR" sz="3300" b="1" dirty="0" err="1"/>
              <a:t>Pytorch</a:t>
            </a:r>
            <a:endParaRPr kumimoji="1" lang="en-US" altLang="ko-KR" sz="33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4B1708-9840-AFBF-CFD2-887619A75B54}"/>
              </a:ext>
            </a:extLst>
          </p:cNvPr>
          <p:cNvSpPr txBox="1"/>
          <p:nvPr/>
        </p:nvSpPr>
        <p:spPr>
          <a:xfrm>
            <a:off x="4063041" y="2612254"/>
            <a:ext cx="4080294" cy="3328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600" b="1" dirty="0">
                <a:latin typeface="+mn-ea"/>
              </a:rPr>
              <a:t>01. Machine Learning Summary </a:t>
            </a: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atin typeface="+mn-ea"/>
              </a:rPr>
              <a:t>AI, ML, DL  </a:t>
            </a: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atin typeface="+mn-ea"/>
              </a:rPr>
              <a:t>ML</a:t>
            </a:r>
            <a:r>
              <a:rPr kumimoji="1" lang="ko-KR" altLang="en-US" sz="1400" dirty="0">
                <a:latin typeface="+mn-ea"/>
              </a:rPr>
              <a:t>의 종류 </a:t>
            </a:r>
            <a:endParaRPr kumimoji="1" lang="en-US" altLang="ko-KR" sz="1400" dirty="0">
              <a:latin typeface="+mn-ea"/>
            </a:endParaRP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atin typeface="+mn-ea"/>
              </a:rPr>
              <a:t>ML PJT process (CRISP-DM) </a:t>
            </a: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실습환경 </a:t>
            </a:r>
            <a:r>
              <a:rPr kumimoji="1" lang="en-US" altLang="ko-KR" sz="1400" dirty="0">
                <a:latin typeface="+mn-ea"/>
              </a:rPr>
              <a:t>(Google </a:t>
            </a:r>
            <a:r>
              <a:rPr kumimoji="1" lang="en-US" altLang="ko-KR" sz="1400" dirty="0" err="1">
                <a:latin typeface="+mn-ea"/>
              </a:rPr>
              <a:t>Colab</a:t>
            </a:r>
            <a:r>
              <a:rPr kumimoji="1" lang="en-US" altLang="ko-KR" sz="1400" dirty="0">
                <a:latin typeface="+mn-ea"/>
              </a:rPr>
              <a:t>) </a:t>
            </a: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atin typeface="+mn-ea"/>
              </a:rPr>
              <a:t>ML</a:t>
            </a:r>
            <a:r>
              <a:rPr kumimoji="1" lang="ko-KR" altLang="en-US" sz="1400" dirty="0">
                <a:latin typeface="+mn-ea"/>
              </a:rPr>
              <a:t>을 위한 데이터 준비 </a:t>
            </a:r>
            <a:endParaRPr kumimoji="1" lang="en-US" altLang="ko-KR" sz="1400" dirty="0">
              <a:latin typeface="+mn-ea"/>
            </a:endParaRP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모델링 </a:t>
            </a:r>
            <a:endParaRPr kumimoji="1" lang="en-US" altLang="ko-KR" sz="1400" dirty="0">
              <a:latin typeface="+mn-ea"/>
            </a:endParaRP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모델 평가와 예측 </a:t>
            </a:r>
            <a:endParaRPr kumimoji="1" lang="en-US" altLang="ko-KR" sz="1400" dirty="0">
              <a:latin typeface="+mn-ea"/>
            </a:endParaRP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atin typeface="+mn-ea"/>
              </a:rPr>
              <a:t>[</a:t>
            </a:r>
            <a:r>
              <a:rPr kumimoji="1" lang="ko-KR" altLang="en-US" sz="1400" dirty="0">
                <a:latin typeface="+mn-ea"/>
              </a:rPr>
              <a:t>실습</a:t>
            </a:r>
            <a:r>
              <a:rPr kumimoji="1" lang="en-US" altLang="ko-KR" sz="1400" dirty="0">
                <a:latin typeface="+mn-ea"/>
              </a:rPr>
              <a:t>1] </a:t>
            </a:r>
            <a:r>
              <a:rPr kumimoji="1" lang="ko-KR" altLang="en-US" sz="1400" dirty="0">
                <a:latin typeface="+mn-ea"/>
              </a:rPr>
              <a:t>회귀 </a:t>
            </a:r>
            <a:r>
              <a:rPr kumimoji="1" lang="en-US" altLang="ko-KR" sz="1400" dirty="0">
                <a:latin typeface="+mn-ea"/>
              </a:rPr>
              <a:t>– </a:t>
            </a:r>
            <a:r>
              <a:rPr kumimoji="1" lang="ko-KR" altLang="en-US" sz="1400" dirty="0">
                <a:latin typeface="+mn-ea"/>
              </a:rPr>
              <a:t>광고비에 따른 매출 예측 모델 </a:t>
            </a:r>
            <a:endParaRPr kumimoji="1" lang="en-US" altLang="ko-KR" sz="1400" dirty="0">
              <a:latin typeface="+mn-ea"/>
            </a:endParaRP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atin typeface="+mn-ea"/>
              </a:rPr>
              <a:t>[</a:t>
            </a:r>
            <a:r>
              <a:rPr kumimoji="1" lang="ko-KR" altLang="en-US" sz="1400" dirty="0">
                <a:latin typeface="+mn-ea"/>
              </a:rPr>
              <a:t>실습</a:t>
            </a:r>
            <a:r>
              <a:rPr kumimoji="1" lang="en-US" altLang="ko-KR" sz="1400" dirty="0">
                <a:latin typeface="+mn-ea"/>
              </a:rPr>
              <a:t>2] </a:t>
            </a:r>
            <a:r>
              <a:rPr kumimoji="1" lang="ko-KR" altLang="en-US" sz="1400" dirty="0">
                <a:latin typeface="+mn-ea"/>
              </a:rPr>
              <a:t>분류 </a:t>
            </a:r>
            <a:r>
              <a:rPr kumimoji="1" lang="en-US" altLang="ko-KR" sz="1400" dirty="0">
                <a:latin typeface="+mn-ea"/>
              </a:rPr>
              <a:t>– </a:t>
            </a:r>
            <a:r>
              <a:rPr kumimoji="1" lang="ko-KR" altLang="en-US" sz="1400" dirty="0">
                <a:latin typeface="+mn-ea"/>
              </a:rPr>
              <a:t>합격 여부 예측 모델 </a:t>
            </a:r>
          </a:p>
        </p:txBody>
      </p:sp>
    </p:spTree>
    <p:extLst>
      <p:ext uri="{BB962C8B-B14F-4D97-AF65-F5344CB8AC3E}">
        <p14:creationId xmlns:p14="http://schemas.microsoft.com/office/powerpoint/2010/main" val="39526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188F7C-1E4A-D388-5E43-3ED3D5EC4F06}"/>
              </a:ext>
            </a:extLst>
          </p:cNvPr>
          <p:cNvSpPr txBox="1"/>
          <p:nvPr/>
        </p:nvSpPr>
        <p:spPr>
          <a:xfrm>
            <a:off x="8975325" y="345053"/>
            <a:ext cx="292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01. Machine Learning Summary</a:t>
            </a:r>
            <a:endParaRPr kumimoji="1"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9BFE4-40DD-A495-C8AF-323D9E4172FC}"/>
              </a:ext>
            </a:extLst>
          </p:cNvPr>
          <p:cNvSpPr txBox="1"/>
          <p:nvPr/>
        </p:nvSpPr>
        <p:spPr>
          <a:xfrm>
            <a:off x="284085" y="967667"/>
            <a:ext cx="3160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600" b="1" dirty="0"/>
              <a:t>1. AI, ML, DL </a:t>
            </a:r>
            <a:endParaRPr kumimoji="1" lang="ko-KR" altLang="en-US" sz="1600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724A6B2-36E5-F22A-940E-52B6EB8BC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783468"/>
              </p:ext>
            </p:extLst>
          </p:nvPr>
        </p:nvGraphicFramePr>
        <p:xfrm>
          <a:off x="347341" y="1438757"/>
          <a:ext cx="11497317" cy="1690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101">
                  <a:extLst>
                    <a:ext uri="{9D8B030D-6E8A-4147-A177-3AD203B41FA5}">
                      <a16:colId xmlns:a16="http://schemas.microsoft.com/office/drawing/2014/main" val="2134728606"/>
                    </a:ext>
                  </a:extLst>
                </a:gridCol>
                <a:gridCol w="4518608">
                  <a:extLst>
                    <a:ext uri="{9D8B030D-6E8A-4147-A177-3AD203B41FA5}">
                      <a16:colId xmlns:a16="http://schemas.microsoft.com/office/drawing/2014/main" val="3323437158"/>
                    </a:ext>
                  </a:extLst>
                </a:gridCol>
                <a:gridCol w="4518608">
                  <a:extLst>
                    <a:ext uri="{9D8B030D-6E8A-4147-A177-3AD203B41FA5}">
                      <a16:colId xmlns:a16="http://schemas.microsoft.com/office/drawing/2014/main" val="460281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개념적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실무 차원의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369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AI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기계가 인간처럼 사고하고 행동하는 것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규칙기반 시스템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528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Machine Learning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규칙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지시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(X) </a:t>
                      </a:r>
                    </a:p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데이터 기반 스스로 학습하여 추론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데이터 기반 패턴 학습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58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Deep Learning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인공신경망을 사용하는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ML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의 한 분야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인공신경망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비정형 데이터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46978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992B49F-E8E0-7271-5B07-904D5ED3507A}"/>
              </a:ext>
            </a:extLst>
          </p:cNvPr>
          <p:cNvSpPr txBox="1"/>
          <p:nvPr/>
        </p:nvSpPr>
        <p:spPr>
          <a:xfrm>
            <a:off x="347341" y="3505949"/>
            <a:ext cx="3160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600" b="1" dirty="0"/>
              <a:t>2. ML</a:t>
            </a:r>
            <a:r>
              <a:rPr kumimoji="1" lang="ko-KR" altLang="en-US" sz="1600" b="1" dirty="0"/>
              <a:t>의 종류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B890A1E-4C7D-A071-ECD4-93263AB03757}"/>
              </a:ext>
            </a:extLst>
          </p:cNvPr>
          <p:cNvSpPr/>
          <p:nvPr/>
        </p:nvSpPr>
        <p:spPr>
          <a:xfrm>
            <a:off x="1136343" y="4483222"/>
            <a:ext cx="1526959" cy="79899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>
                <a:solidFill>
                  <a:schemeClr val="tx1"/>
                </a:solidFill>
              </a:rPr>
              <a:t>Machine</a:t>
            </a:r>
          </a:p>
          <a:p>
            <a:pPr algn="ctr"/>
            <a:r>
              <a:rPr kumimoji="1" lang="en-US" altLang="ko-KR" sz="1600" dirty="0">
                <a:solidFill>
                  <a:schemeClr val="tx1"/>
                </a:solidFill>
              </a:rPr>
              <a:t>Learning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45D46A-5A8A-5226-D670-BF5EB039A28F}"/>
              </a:ext>
            </a:extLst>
          </p:cNvPr>
          <p:cNvSpPr/>
          <p:nvPr/>
        </p:nvSpPr>
        <p:spPr>
          <a:xfrm>
            <a:off x="3764132" y="4123768"/>
            <a:ext cx="1526959" cy="44823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chemeClr val="tx1"/>
                </a:solidFill>
              </a:rPr>
              <a:t>지도학습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4DD08F-5C52-E9EE-D28E-78714CFC3695}"/>
              </a:ext>
            </a:extLst>
          </p:cNvPr>
          <p:cNvSpPr/>
          <p:nvPr/>
        </p:nvSpPr>
        <p:spPr>
          <a:xfrm>
            <a:off x="3764131" y="5058096"/>
            <a:ext cx="1526959" cy="44823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chemeClr val="tx1"/>
                </a:solidFill>
              </a:rPr>
              <a:t>비지도학습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CFA48D5-DF81-98E3-9D5F-98871821D2DB}"/>
              </a:ext>
            </a:extLst>
          </p:cNvPr>
          <p:cNvSpPr/>
          <p:nvPr/>
        </p:nvSpPr>
        <p:spPr>
          <a:xfrm>
            <a:off x="3764130" y="5890333"/>
            <a:ext cx="1526959" cy="44823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chemeClr val="tx1"/>
                </a:solidFill>
              </a:rPr>
              <a:t>강화학습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85DE31-3B90-E881-B1E2-7D01BAFF6F29}"/>
              </a:ext>
            </a:extLst>
          </p:cNvPr>
          <p:cNvSpPr txBox="1"/>
          <p:nvPr/>
        </p:nvSpPr>
        <p:spPr>
          <a:xfrm>
            <a:off x="5299971" y="6184678"/>
            <a:ext cx="3994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400" i="1" dirty="0"/>
              <a:t>※ </a:t>
            </a:r>
            <a:r>
              <a:rPr kumimoji="1" lang="ko-KR" altLang="en-US" sz="1400" i="1" dirty="0"/>
              <a:t>환경과 상호작용 하며 </a:t>
            </a:r>
            <a:r>
              <a:rPr kumimoji="1" lang="en-US" altLang="ko-KR" sz="1400" i="1" dirty="0"/>
              <a:t>“</a:t>
            </a:r>
            <a:r>
              <a:rPr kumimoji="1" lang="ko-KR" altLang="en-US" sz="1400" i="1" dirty="0"/>
              <a:t>보상</a:t>
            </a:r>
            <a:r>
              <a:rPr kumimoji="1" lang="en-US" altLang="ko-KR" sz="1400" i="1" dirty="0"/>
              <a:t>”</a:t>
            </a:r>
            <a:r>
              <a:rPr kumimoji="1" lang="ko-KR" altLang="en-US" sz="1400" i="1" dirty="0"/>
              <a:t>을 강화</a:t>
            </a:r>
          </a:p>
        </p:txBody>
      </p:sp>
      <p:cxnSp>
        <p:nvCxnSpPr>
          <p:cNvPr id="19" name="꺾인 연결선[E] 18">
            <a:extLst>
              <a:ext uri="{FF2B5EF4-FFF2-40B4-BE49-F238E27FC236}">
                <a16:creationId xmlns:a16="http://schemas.microsoft.com/office/drawing/2014/main" id="{D12F4E21-29CA-A72B-F64C-43BC6D3D4B16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2663302" y="4347885"/>
            <a:ext cx="1100830" cy="53483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[E] 20">
            <a:extLst>
              <a:ext uri="{FF2B5EF4-FFF2-40B4-BE49-F238E27FC236}">
                <a16:creationId xmlns:a16="http://schemas.microsoft.com/office/drawing/2014/main" id="{685BAD52-F8B3-5F8E-B303-CF0BD93CECBB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2663302" y="4882718"/>
            <a:ext cx="1100829" cy="39949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2BCC745F-5E4E-9B1A-9AE1-373F9C255E43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2663302" y="4882718"/>
            <a:ext cx="1100828" cy="123173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48183EF-19CA-B902-B34A-888B85FF6B48}"/>
              </a:ext>
            </a:extLst>
          </p:cNvPr>
          <p:cNvSpPr/>
          <p:nvPr/>
        </p:nvSpPr>
        <p:spPr>
          <a:xfrm>
            <a:off x="6251360" y="3620386"/>
            <a:ext cx="1526959" cy="44823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chemeClr val="tx1"/>
                </a:solidFill>
              </a:rPr>
              <a:t>분류모델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BE7EFA6-4769-FB29-FB91-1EBCEDEEA428}"/>
              </a:ext>
            </a:extLst>
          </p:cNvPr>
          <p:cNvSpPr/>
          <p:nvPr/>
        </p:nvSpPr>
        <p:spPr>
          <a:xfrm>
            <a:off x="6251360" y="4279508"/>
            <a:ext cx="1526959" cy="44823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chemeClr val="tx1"/>
                </a:solidFill>
              </a:rPr>
              <a:t>회귀모델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BD39D07-A5AA-0FB6-C02B-65908D9B528A}"/>
              </a:ext>
            </a:extLst>
          </p:cNvPr>
          <p:cNvSpPr/>
          <p:nvPr/>
        </p:nvSpPr>
        <p:spPr>
          <a:xfrm>
            <a:off x="6251360" y="4902532"/>
            <a:ext cx="1526959" cy="44823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chemeClr val="tx1"/>
                </a:solidFill>
              </a:rPr>
              <a:t>군집화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AC20A53-2E47-23BB-FE11-FD39438C800B}"/>
              </a:ext>
            </a:extLst>
          </p:cNvPr>
          <p:cNvSpPr/>
          <p:nvPr/>
        </p:nvSpPr>
        <p:spPr>
          <a:xfrm>
            <a:off x="6251360" y="5561654"/>
            <a:ext cx="1526959" cy="44823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solidFill>
                  <a:schemeClr val="tx1"/>
                </a:solidFill>
              </a:rPr>
              <a:t>차원축소</a:t>
            </a:r>
          </a:p>
        </p:txBody>
      </p:sp>
      <p:cxnSp>
        <p:nvCxnSpPr>
          <p:cNvPr id="29" name="꺾인 연결선[E] 28">
            <a:extLst>
              <a:ext uri="{FF2B5EF4-FFF2-40B4-BE49-F238E27FC236}">
                <a16:creationId xmlns:a16="http://schemas.microsoft.com/office/drawing/2014/main" id="{BCD91F4E-2310-BBC7-5EC7-F616382A2489}"/>
              </a:ext>
            </a:extLst>
          </p:cNvPr>
          <p:cNvCxnSpPr>
            <a:cxnSpLocks/>
            <a:stCxn id="14" idx="3"/>
            <a:endCxn id="25" idx="1"/>
          </p:cNvCxnSpPr>
          <p:nvPr/>
        </p:nvCxnSpPr>
        <p:spPr>
          <a:xfrm flipV="1">
            <a:off x="5291091" y="3844503"/>
            <a:ext cx="960269" cy="50338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[E] 31">
            <a:extLst>
              <a:ext uri="{FF2B5EF4-FFF2-40B4-BE49-F238E27FC236}">
                <a16:creationId xmlns:a16="http://schemas.microsoft.com/office/drawing/2014/main" id="{EAFBC426-681C-1C06-8D96-50D116871165}"/>
              </a:ext>
            </a:extLst>
          </p:cNvPr>
          <p:cNvCxnSpPr>
            <a:cxnSpLocks/>
            <a:stCxn id="14" idx="3"/>
            <a:endCxn id="26" idx="1"/>
          </p:cNvCxnSpPr>
          <p:nvPr/>
        </p:nvCxnSpPr>
        <p:spPr>
          <a:xfrm>
            <a:off x="5291091" y="4347885"/>
            <a:ext cx="960269" cy="15574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[E] 34">
            <a:extLst>
              <a:ext uri="{FF2B5EF4-FFF2-40B4-BE49-F238E27FC236}">
                <a16:creationId xmlns:a16="http://schemas.microsoft.com/office/drawing/2014/main" id="{A122C984-18C9-3458-0CA4-1A842021496C}"/>
              </a:ext>
            </a:extLst>
          </p:cNvPr>
          <p:cNvCxnSpPr>
            <a:cxnSpLocks/>
            <a:stCxn id="15" idx="3"/>
            <a:endCxn id="27" idx="1"/>
          </p:cNvCxnSpPr>
          <p:nvPr/>
        </p:nvCxnSpPr>
        <p:spPr>
          <a:xfrm flipV="1">
            <a:off x="5291090" y="5126649"/>
            <a:ext cx="960270" cy="15556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[E] 37">
            <a:extLst>
              <a:ext uri="{FF2B5EF4-FFF2-40B4-BE49-F238E27FC236}">
                <a16:creationId xmlns:a16="http://schemas.microsoft.com/office/drawing/2014/main" id="{F0E84EEB-DC1A-DAD4-8547-301BE6D8E165}"/>
              </a:ext>
            </a:extLst>
          </p:cNvPr>
          <p:cNvCxnSpPr>
            <a:cxnSpLocks/>
            <a:stCxn id="15" idx="3"/>
            <a:endCxn id="28" idx="1"/>
          </p:cNvCxnSpPr>
          <p:nvPr/>
        </p:nvCxnSpPr>
        <p:spPr>
          <a:xfrm>
            <a:off x="5291090" y="5282213"/>
            <a:ext cx="960270" cy="50355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B52DBA2-3378-BF08-5C64-67504E1C5615}"/>
              </a:ext>
            </a:extLst>
          </p:cNvPr>
          <p:cNvSpPr txBox="1"/>
          <p:nvPr/>
        </p:nvSpPr>
        <p:spPr>
          <a:xfrm>
            <a:off x="7796075" y="3760843"/>
            <a:ext cx="3540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1400" i="1" dirty="0"/>
              <a:t>예</a:t>
            </a:r>
            <a:r>
              <a:rPr kumimoji="1" lang="en-US" altLang="ko-KR" sz="1400" i="1" dirty="0"/>
              <a:t>) </a:t>
            </a:r>
            <a:r>
              <a:rPr kumimoji="1" lang="ko-KR" altLang="en-US" sz="1400" i="1" dirty="0"/>
              <a:t>스팸메일 분류</a:t>
            </a:r>
            <a:r>
              <a:rPr kumimoji="1" lang="en-US" altLang="ko-KR" sz="1400" i="1" dirty="0"/>
              <a:t>, </a:t>
            </a:r>
            <a:r>
              <a:rPr kumimoji="1" lang="ko-KR" altLang="en-US" sz="1400" i="1" dirty="0"/>
              <a:t>신용불량 예측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45C8A3-433B-1261-5A01-E8B0A011EC3E}"/>
              </a:ext>
            </a:extLst>
          </p:cNvPr>
          <p:cNvSpPr txBox="1"/>
          <p:nvPr/>
        </p:nvSpPr>
        <p:spPr>
          <a:xfrm>
            <a:off x="7778319" y="4405609"/>
            <a:ext cx="3540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1400" i="1" dirty="0"/>
              <a:t>예</a:t>
            </a:r>
            <a:r>
              <a:rPr kumimoji="1" lang="en-US" altLang="ko-KR" sz="1400" i="1" dirty="0"/>
              <a:t>) </a:t>
            </a:r>
            <a:r>
              <a:rPr kumimoji="1" lang="ko-KR" altLang="en-US" sz="1400" i="1" dirty="0"/>
              <a:t>매출 예측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F7EA5C-D11A-4F4C-DB99-AA80F7FFDDD6}"/>
              </a:ext>
            </a:extLst>
          </p:cNvPr>
          <p:cNvSpPr txBox="1"/>
          <p:nvPr/>
        </p:nvSpPr>
        <p:spPr>
          <a:xfrm>
            <a:off x="7796075" y="5027745"/>
            <a:ext cx="3540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1400" i="1" dirty="0"/>
              <a:t>예</a:t>
            </a:r>
            <a:r>
              <a:rPr kumimoji="1" lang="en-US" altLang="ko-KR" sz="1400" i="1" dirty="0"/>
              <a:t>) </a:t>
            </a:r>
            <a:r>
              <a:rPr kumimoji="1" lang="ko-KR" altLang="en-US" sz="1400" i="1" dirty="0"/>
              <a:t>고객 </a:t>
            </a:r>
            <a:r>
              <a:rPr kumimoji="1" lang="en-US" altLang="ko-KR" sz="1400" i="1" dirty="0"/>
              <a:t>Segmentation</a:t>
            </a:r>
            <a:endParaRPr kumimoji="1" lang="ko-KR" alt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35016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62385D-EF23-07D1-A93F-C3E97E15BC73}"/>
              </a:ext>
            </a:extLst>
          </p:cNvPr>
          <p:cNvSpPr txBox="1"/>
          <p:nvPr/>
        </p:nvSpPr>
        <p:spPr>
          <a:xfrm>
            <a:off x="8975325" y="345053"/>
            <a:ext cx="292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01. Machine Learning Summary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A38998-D813-EBC3-F40A-9AB16D6A4529}"/>
              </a:ext>
            </a:extLst>
          </p:cNvPr>
          <p:cNvSpPr txBox="1"/>
          <p:nvPr/>
        </p:nvSpPr>
        <p:spPr>
          <a:xfrm>
            <a:off x="284084" y="967667"/>
            <a:ext cx="3968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600" b="1" dirty="0"/>
              <a:t>3. ML Project Process (CRISP-DM) </a:t>
            </a:r>
            <a:endParaRPr kumimoji="1" lang="ko-KR" altLang="en-US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14D82-315A-A248-B5EC-D8C2133E0C25}"/>
              </a:ext>
            </a:extLst>
          </p:cNvPr>
          <p:cNvSpPr txBox="1"/>
          <p:nvPr/>
        </p:nvSpPr>
        <p:spPr>
          <a:xfrm>
            <a:off x="541537" y="1411550"/>
            <a:ext cx="7048871" cy="2135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① </a:t>
            </a:r>
            <a:r>
              <a:rPr kumimoji="1" lang="ko-KR" altLang="en-US" sz="1400" dirty="0"/>
              <a:t>비즈니스 이해 </a:t>
            </a:r>
            <a:r>
              <a:rPr kumimoji="1" lang="en-US" altLang="ko-KR" sz="1400" dirty="0"/>
              <a:t>– </a:t>
            </a:r>
            <a:r>
              <a:rPr kumimoji="1" lang="ko-KR" altLang="en-US" sz="1400" dirty="0"/>
              <a:t>비즈니스 문제의 정의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분석 목적 및 방향 설정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초기 가설 설정 </a:t>
            </a:r>
            <a:endParaRPr kumimoji="1" lang="en-US" altLang="ko-KR" sz="1400" dirty="0"/>
          </a:p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② </a:t>
            </a:r>
            <a:r>
              <a:rPr kumimoji="1" lang="ko-KR" altLang="en-US" sz="1400" dirty="0"/>
              <a:t>데이터 이해 </a:t>
            </a:r>
            <a:r>
              <a:rPr kumimoji="1" lang="en-US" altLang="ko-KR" sz="1400" dirty="0"/>
              <a:t>– </a:t>
            </a:r>
            <a:r>
              <a:rPr kumimoji="1" lang="ko-KR" altLang="en-US" sz="1400" dirty="0"/>
              <a:t>탐색적 데이터 분석</a:t>
            </a:r>
            <a:endParaRPr kumimoji="1" lang="en-US" altLang="ko-KR" sz="1400" dirty="0"/>
          </a:p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③ </a:t>
            </a:r>
            <a:r>
              <a:rPr kumimoji="1" lang="ko-KR" altLang="en-US" sz="1400" dirty="0"/>
              <a:t>데이터 준비 </a:t>
            </a:r>
            <a:r>
              <a:rPr kumimoji="1" lang="en-US" altLang="ko-KR" sz="1400" dirty="0"/>
              <a:t>– </a:t>
            </a:r>
            <a:r>
              <a:rPr kumimoji="1" lang="ko-KR" altLang="en-US" sz="1400" dirty="0"/>
              <a:t>데이터 가공</a:t>
            </a:r>
            <a:r>
              <a:rPr kumimoji="1" lang="en-US" altLang="ko-KR" sz="1400" dirty="0"/>
              <a:t>/</a:t>
            </a:r>
            <a:r>
              <a:rPr kumimoji="1" lang="ko-KR" altLang="en-US" sz="1400" dirty="0" err="1"/>
              <a:t>전처리</a:t>
            </a:r>
            <a:endParaRPr kumimoji="1" lang="en-US" altLang="ko-KR" sz="1400" dirty="0"/>
          </a:p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④ </a:t>
            </a:r>
            <a:r>
              <a:rPr kumimoji="1" lang="ko-KR" altLang="en-US" sz="1400" dirty="0"/>
              <a:t>모델링 </a:t>
            </a:r>
            <a:r>
              <a:rPr kumimoji="1" lang="en-US" altLang="ko-KR" sz="1400" dirty="0"/>
              <a:t>– </a:t>
            </a:r>
            <a:r>
              <a:rPr kumimoji="1" lang="ko-KR" altLang="en-US" sz="1400" dirty="0"/>
              <a:t>알고리즘 선택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모델 개발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모델 훈련  </a:t>
            </a:r>
            <a:endParaRPr kumimoji="1" lang="en-US" altLang="ko-KR" sz="1400" dirty="0"/>
          </a:p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⑤ </a:t>
            </a:r>
            <a:r>
              <a:rPr kumimoji="1" lang="ko-KR" altLang="en-US" sz="1400" dirty="0"/>
              <a:t>모델 평가 </a:t>
            </a:r>
            <a:r>
              <a:rPr kumimoji="1" lang="en-US" altLang="ko-KR" sz="1400" dirty="0"/>
              <a:t>– </a:t>
            </a:r>
            <a:r>
              <a:rPr kumimoji="1" lang="ko-KR" altLang="en-US" sz="1400" dirty="0"/>
              <a:t>평가지표 측정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비즈니스 관점의 결과 해석 </a:t>
            </a:r>
            <a:endParaRPr kumimoji="1" lang="en-US" altLang="ko-KR" sz="1400" dirty="0"/>
          </a:p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⑥ </a:t>
            </a:r>
            <a:r>
              <a:rPr kumimoji="1" lang="ko-KR" altLang="en-US" sz="1400" dirty="0"/>
              <a:t>배포 </a:t>
            </a:r>
            <a:r>
              <a:rPr kumimoji="1" lang="en-US" altLang="ko-KR" sz="1400" dirty="0"/>
              <a:t>– </a:t>
            </a:r>
            <a:r>
              <a:rPr kumimoji="1" lang="ko-KR" altLang="en-US" sz="1400" dirty="0"/>
              <a:t>모델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결과의 실무 적용 </a:t>
            </a:r>
            <a:br>
              <a:rPr kumimoji="1" lang="en-US" altLang="ko-KR" sz="1400" dirty="0"/>
            </a:br>
            <a:br>
              <a:rPr kumimoji="1" lang="en-US" altLang="ko-KR" sz="1400" dirty="0"/>
            </a:br>
            <a:r>
              <a:rPr kumimoji="1" lang="en-US" altLang="ko-KR" sz="1400" b="1" i="1" dirty="0">
                <a:solidFill>
                  <a:schemeClr val="accent1"/>
                </a:solidFill>
                <a:sym typeface="Wingdings" pitchFamily="2" charset="2"/>
              </a:rPr>
              <a:t> </a:t>
            </a:r>
            <a:r>
              <a:rPr kumimoji="1" lang="ko-KR" altLang="en-US" sz="1400" b="1" i="1" dirty="0">
                <a:solidFill>
                  <a:schemeClr val="accent1"/>
                </a:solidFill>
                <a:sym typeface="Wingdings" pitchFamily="2" charset="2"/>
              </a:rPr>
              <a:t>프로젝트의 성공 여부 </a:t>
            </a:r>
            <a:r>
              <a:rPr kumimoji="1" lang="en-US" altLang="ko-KR" sz="1400" b="1" i="1" dirty="0">
                <a:solidFill>
                  <a:schemeClr val="accent1"/>
                </a:solidFill>
                <a:sym typeface="Wingdings" pitchFamily="2" charset="2"/>
              </a:rPr>
              <a:t>: “</a:t>
            </a:r>
            <a:r>
              <a:rPr kumimoji="1" lang="ko-KR" altLang="en-US" sz="1400" b="1" i="1" dirty="0">
                <a:solidFill>
                  <a:schemeClr val="accent1"/>
                </a:solidFill>
                <a:sym typeface="Wingdings" pitchFamily="2" charset="2"/>
              </a:rPr>
              <a:t>문제</a:t>
            </a:r>
            <a:r>
              <a:rPr kumimoji="1" lang="en-US" altLang="ko-KR" sz="1400" b="1" i="1" dirty="0">
                <a:solidFill>
                  <a:schemeClr val="accent1"/>
                </a:solidFill>
                <a:sym typeface="Wingdings" pitchFamily="2" charset="2"/>
              </a:rPr>
              <a:t>”</a:t>
            </a:r>
            <a:r>
              <a:rPr kumimoji="1" lang="ko-KR" altLang="en-US" sz="1400" b="1" i="1" dirty="0">
                <a:solidFill>
                  <a:schemeClr val="accent1"/>
                </a:solidFill>
                <a:sym typeface="Wingdings" pitchFamily="2" charset="2"/>
              </a:rPr>
              <a:t>는 무엇이며</a:t>
            </a:r>
            <a:r>
              <a:rPr kumimoji="1" lang="en-US" altLang="ko-KR" sz="1400" b="1" i="1" dirty="0">
                <a:solidFill>
                  <a:schemeClr val="accent1"/>
                </a:solidFill>
                <a:sym typeface="Wingdings" pitchFamily="2" charset="2"/>
              </a:rPr>
              <a:t>, </a:t>
            </a:r>
            <a:r>
              <a:rPr kumimoji="1" lang="ko-KR" altLang="en-US" sz="1400" b="1" i="1" dirty="0">
                <a:solidFill>
                  <a:schemeClr val="accent1"/>
                </a:solidFill>
                <a:sym typeface="Wingdings" pitchFamily="2" charset="2"/>
              </a:rPr>
              <a:t>그 문제가 </a:t>
            </a:r>
            <a:r>
              <a:rPr kumimoji="1" lang="en-US" altLang="ko-KR" sz="1400" b="1" i="1" dirty="0">
                <a:solidFill>
                  <a:schemeClr val="accent1"/>
                </a:solidFill>
                <a:sym typeface="Wingdings" pitchFamily="2" charset="2"/>
              </a:rPr>
              <a:t>“</a:t>
            </a:r>
            <a:r>
              <a:rPr kumimoji="1" lang="ko-KR" altLang="en-US" sz="1400" b="1" i="1" dirty="0">
                <a:solidFill>
                  <a:schemeClr val="accent1"/>
                </a:solidFill>
                <a:sym typeface="Wingdings" pitchFamily="2" charset="2"/>
              </a:rPr>
              <a:t>해결</a:t>
            </a:r>
            <a:r>
              <a:rPr kumimoji="1" lang="en-US" altLang="ko-KR" sz="1400" b="1" i="1" dirty="0">
                <a:solidFill>
                  <a:schemeClr val="accent1"/>
                </a:solidFill>
                <a:sym typeface="Wingdings" pitchFamily="2" charset="2"/>
              </a:rPr>
              <a:t>”</a:t>
            </a:r>
            <a:r>
              <a:rPr kumimoji="1" lang="ko-KR" altLang="en-US" sz="1400" b="1" i="1" dirty="0">
                <a:solidFill>
                  <a:schemeClr val="accent1"/>
                </a:solidFill>
                <a:sym typeface="Wingdings" pitchFamily="2" charset="2"/>
              </a:rPr>
              <a:t>되었는가</a:t>
            </a:r>
            <a:r>
              <a:rPr kumimoji="1" lang="en-US" altLang="ko-KR" sz="1400" b="1" i="1" dirty="0">
                <a:solidFill>
                  <a:schemeClr val="accent1"/>
                </a:solidFill>
                <a:sym typeface="Wingdings" pitchFamily="2" charset="2"/>
              </a:rPr>
              <a:t>? </a:t>
            </a:r>
            <a:r>
              <a:rPr kumimoji="1" lang="ko-KR" altLang="en-US" sz="1400" b="1" i="1" dirty="0">
                <a:solidFill>
                  <a:schemeClr val="accent1"/>
                </a:solidFill>
                <a:sym typeface="Wingdings" pitchFamily="2" charset="2"/>
              </a:rPr>
              <a:t> </a:t>
            </a:r>
            <a:endParaRPr kumimoji="1" lang="ko-KR" altLang="en-US" sz="1400" b="1" i="1" dirty="0">
              <a:solidFill>
                <a:schemeClr val="accent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71D47A-1A7F-D230-43AE-2CD8791E8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538" y="967667"/>
            <a:ext cx="3442202" cy="33267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9B2908-0C66-DDCC-5BC7-211D7D33E6F3}"/>
              </a:ext>
            </a:extLst>
          </p:cNvPr>
          <p:cNvSpPr txBox="1"/>
          <p:nvPr/>
        </p:nvSpPr>
        <p:spPr>
          <a:xfrm>
            <a:off x="328471" y="4213349"/>
            <a:ext cx="3968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600" b="1" dirty="0"/>
              <a:t>4. ML</a:t>
            </a:r>
            <a:r>
              <a:rPr kumimoji="1" lang="ko-KR" altLang="en-US" sz="1600" b="1" dirty="0"/>
              <a:t>을 위한 데이터 준비 원칙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E622C-5839-74FE-145C-2C4F15DC5857}"/>
              </a:ext>
            </a:extLst>
          </p:cNvPr>
          <p:cNvSpPr txBox="1"/>
          <p:nvPr/>
        </p:nvSpPr>
        <p:spPr>
          <a:xfrm>
            <a:off x="541536" y="4636367"/>
            <a:ext cx="7048871" cy="1101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① </a:t>
            </a:r>
            <a:r>
              <a:rPr kumimoji="1" lang="ko-KR" altLang="en-US" sz="1400" dirty="0"/>
              <a:t>모든 셀에는 값이 있어야 한다</a:t>
            </a:r>
            <a:r>
              <a:rPr kumimoji="1" lang="en-US" altLang="ko-KR" sz="1400" dirty="0"/>
              <a:t>. </a:t>
            </a:r>
            <a:r>
              <a:rPr kumimoji="1" lang="en-US" altLang="ko-KR" sz="1400" dirty="0">
                <a:sym typeface="Wingdings" pitchFamily="2" charset="2"/>
              </a:rPr>
              <a:t> </a:t>
            </a:r>
            <a:r>
              <a:rPr kumimoji="1" lang="ko-KR" altLang="en-US" sz="1400" i="1" dirty="0" err="1">
                <a:solidFill>
                  <a:schemeClr val="accent1"/>
                </a:solidFill>
                <a:sym typeface="Wingdings" pitchFamily="2" charset="2"/>
              </a:rPr>
              <a:t>결측치</a:t>
            </a:r>
            <a:r>
              <a:rPr kumimoji="1" lang="ko-KR" altLang="en-US" sz="1400" i="1" dirty="0">
                <a:solidFill>
                  <a:schemeClr val="accent1"/>
                </a:solidFill>
                <a:sym typeface="Wingdings" pitchFamily="2" charset="2"/>
              </a:rPr>
              <a:t> 처리 </a:t>
            </a:r>
            <a:endParaRPr kumimoji="1" lang="en-US" altLang="ko-KR" sz="1400" i="1" dirty="0">
              <a:solidFill>
                <a:schemeClr val="accent1"/>
              </a:solidFill>
            </a:endParaRPr>
          </a:p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② </a:t>
            </a:r>
            <a:r>
              <a:rPr kumimoji="1" lang="ko-KR" altLang="en-US" sz="1400" dirty="0"/>
              <a:t>모든 값은 숫자여야 한다</a:t>
            </a:r>
            <a:r>
              <a:rPr kumimoji="1" lang="en-US" altLang="ko-KR" sz="1400" dirty="0"/>
              <a:t>. </a:t>
            </a:r>
            <a:r>
              <a:rPr kumimoji="1" lang="en-US" altLang="ko-KR" sz="1400" dirty="0">
                <a:sym typeface="Wingdings" pitchFamily="2" charset="2"/>
              </a:rPr>
              <a:t> </a:t>
            </a:r>
            <a:r>
              <a:rPr kumimoji="1" lang="en-US" altLang="ko-KR" sz="1400" i="1" dirty="0">
                <a:solidFill>
                  <a:schemeClr val="accent1"/>
                </a:solidFill>
                <a:sym typeface="Wingdings" pitchFamily="2" charset="2"/>
              </a:rPr>
              <a:t>(</a:t>
            </a:r>
            <a:r>
              <a:rPr kumimoji="1" lang="ko-KR" altLang="en-US" sz="1400" i="1" dirty="0">
                <a:solidFill>
                  <a:schemeClr val="accent1"/>
                </a:solidFill>
                <a:sym typeface="Wingdings" pitchFamily="2" charset="2"/>
              </a:rPr>
              <a:t>범주형 데이터</a:t>
            </a:r>
            <a:r>
              <a:rPr kumimoji="1" lang="en-US" altLang="ko-KR" sz="1400" i="1" dirty="0">
                <a:solidFill>
                  <a:schemeClr val="accent1"/>
                </a:solidFill>
                <a:sym typeface="Wingdings" pitchFamily="2" charset="2"/>
              </a:rPr>
              <a:t>) Encoding </a:t>
            </a:r>
            <a:endParaRPr kumimoji="1" lang="en-US" altLang="ko-KR" sz="1400" i="1" dirty="0">
              <a:solidFill>
                <a:schemeClr val="accent1"/>
              </a:solidFill>
            </a:endParaRPr>
          </a:p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③ </a:t>
            </a:r>
            <a:r>
              <a:rPr kumimoji="1" lang="ko-KR" altLang="en-US" sz="1400" dirty="0"/>
              <a:t>변수들의 값의 범위는 일정해야 한다</a:t>
            </a:r>
            <a:r>
              <a:rPr kumimoji="1" lang="en-US" altLang="ko-KR" sz="1400" dirty="0"/>
              <a:t>. </a:t>
            </a:r>
            <a:r>
              <a:rPr kumimoji="1" lang="en-US" altLang="ko-KR" sz="1400" dirty="0">
                <a:sym typeface="Wingdings" pitchFamily="2" charset="2"/>
              </a:rPr>
              <a:t> </a:t>
            </a:r>
            <a:r>
              <a:rPr kumimoji="1" lang="en-US" altLang="ko-KR" sz="1400" i="1" dirty="0">
                <a:solidFill>
                  <a:schemeClr val="accent1"/>
                </a:solidFill>
                <a:sym typeface="Wingdings" pitchFamily="2" charset="2"/>
              </a:rPr>
              <a:t>Scaling (</a:t>
            </a:r>
            <a:r>
              <a:rPr kumimoji="1" lang="ko-KR" altLang="en-US" sz="1400" i="1" dirty="0">
                <a:solidFill>
                  <a:schemeClr val="accent1"/>
                </a:solidFill>
                <a:sym typeface="Wingdings" pitchFamily="2" charset="2"/>
              </a:rPr>
              <a:t>정규화</a:t>
            </a:r>
            <a:r>
              <a:rPr kumimoji="1" lang="en-US" altLang="ko-KR" sz="1400" i="1" dirty="0">
                <a:solidFill>
                  <a:schemeClr val="accent1"/>
                </a:solidFill>
                <a:sym typeface="Wingdings" pitchFamily="2" charset="2"/>
              </a:rPr>
              <a:t>/</a:t>
            </a:r>
            <a:r>
              <a:rPr kumimoji="1" lang="ko-KR" altLang="en-US" sz="1400" i="1" dirty="0">
                <a:solidFill>
                  <a:schemeClr val="accent1"/>
                </a:solidFill>
                <a:sym typeface="Wingdings" pitchFamily="2" charset="2"/>
              </a:rPr>
              <a:t>표준화</a:t>
            </a:r>
            <a:r>
              <a:rPr kumimoji="1" lang="en-US" altLang="ko-KR" sz="1400" i="1" dirty="0">
                <a:solidFill>
                  <a:schemeClr val="accent1"/>
                </a:solidFill>
                <a:sym typeface="Wingdings" pitchFamily="2" charset="2"/>
              </a:rPr>
              <a:t>)</a:t>
            </a:r>
            <a:endParaRPr kumimoji="1" lang="en-US" altLang="ko-KR" sz="1400" i="1" dirty="0">
              <a:solidFill>
                <a:schemeClr val="accent1"/>
              </a:solidFill>
            </a:endParaRPr>
          </a:p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④ </a:t>
            </a:r>
            <a:r>
              <a:rPr kumimoji="1" lang="ko-KR" altLang="en-US" sz="1400" dirty="0"/>
              <a:t>학습용 데이터와 검증용 데이터는 별개여야 한다</a:t>
            </a:r>
            <a:r>
              <a:rPr kumimoji="1" lang="en-US" altLang="ko-KR" sz="1400" dirty="0"/>
              <a:t>. </a:t>
            </a:r>
            <a:r>
              <a:rPr kumimoji="1" lang="en-US" altLang="ko-KR" sz="1400" dirty="0">
                <a:sym typeface="Wingdings" pitchFamily="2" charset="2"/>
              </a:rPr>
              <a:t> </a:t>
            </a:r>
            <a:r>
              <a:rPr kumimoji="1" lang="ko-KR" altLang="en-US" sz="1400" i="1" dirty="0">
                <a:solidFill>
                  <a:schemeClr val="accent1"/>
                </a:solidFill>
                <a:sym typeface="Wingdings" pitchFamily="2" charset="2"/>
              </a:rPr>
              <a:t>데이터 분할 </a:t>
            </a:r>
            <a:endParaRPr kumimoji="1" lang="ko-KR" altLang="en-US" sz="1400" b="1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432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206D91-5C41-7277-CBE4-D546A8B502DC}"/>
              </a:ext>
            </a:extLst>
          </p:cNvPr>
          <p:cNvSpPr txBox="1"/>
          <p:nvPr/>
        </p:nvSpPr>
        <p:spPr>
          <a:xfrm>
            <a:off x="8975325" y="345053"/>
            <a:ext cx="292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01. Machine Learning Summary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75F16B-A0DB-DE62-0D0A-5777D527A837}"/>
              </a:ext>
            </a:extLst>
          </p:cNvPr>
          <p:cNvSpPr txBox="1"/>
          <p:nvPr/>
        </p:nvSpPr>
        <p:spPr>
          <a:xfrm>
            <a:off x="284084" y="967667"/>
            <a:ext cx="3968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600" b="1" dirty="0"/>
              <a:t>5. </a:t>
            </a:r>
            <a:r>
              <a:rPr kumimoji="1" lang="ko-KR" altLang="en-US" sz="1600" b="1" dirty="0"/>
              <a:t>모델링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2EDC9A-FE3C-891D-4EBA-C283EC6F4205}"/>
              </a:ext>
            </a:extLst>
          </p:cNvPr>
          <p:cNvSpPr/>
          <p:nvPr/>
        </p:nvSpPr>
        <p:spPr>
          <a:xfrm>
            <a:off x="656948" y="1513733"/>
            <a:ext cx="1526959" cy="44823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>
                <a:solidFill>
                  <a:schemeClr val="tx1"/>
                </a:solidFill>
              </a:rPr>
              <a:t>Model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10B42-5930-8A42-9643-D8BDAE33DB05}"/>
              </a:ext>
            </a:extLst>
          </p:cNvPr>
          <p:cNvSpPr txBox="1"/>
          <p:nvPr/>
        </p:nvSpPr>
        <p:spPr>
          <a:xfrm>
            <a:off x="2112887" y="1583961"/>
            <a:ext cx="630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dirty="0"/>
              <a:t>=</a:t>
            </a:r>
            <a:endParaRPr kumimoji="1"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00CE5B-4C2F-772C-5BCC-AAD5319E37F4}"/>
              </a:ext>
            </a:extLst>
          </p:cNvPr>
          <p:cNvSpPr/>
          <p:nvPr/>
        </p:nvSpPr>
        <p:spPr>
          <a:xfrm>
            <a:off x="2672181" y="1513732"/>
            <a:ext cx="1526959" cy="44823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>
                <a:solidFill>
                  <a:schemeClr val="tx1"/>
                </a:solidFill>
              </a:rPr>
              <a:t>Algorism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720E7D-696F-7263-8F13-36E6AB6B382C}"/>
              </a:ext>
            </a:extLst>
          </p:cNvPr>
          <p:cNvSpPr txBox="1"/>
          <p:nvPr/>
        </p:nvSpPr>
        <p:spPr>
          <a:xfrm>
            <a:off x="4182863" y="1585441"/>
            <a:ext cx="630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dirty="0"/>
              <a:t>+</a:t>
            </a:r>
            <a:endParaRPr kumimoji="1"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8F3EA1-880A-6D47-3D6C-ABD68A675C02}"/>
              </a:ext>
            </a:extLst>
          </p:cNvPr>
          <p:cNvSpPr/>
          <p:nvPr/>
        </p:nvSpPr>
        <p:spPr>
          <a:xfrm>
            <a:off x="4777669" y="1515212"/>
            <a:ext cx="1526959" cy="44823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>
                <a:solidFill>
                  <a:schemeClr val="tx1"/>
                </a:solidFill>
              </a:rPr>
              <a:t>Parameter</a:t>
            </a:r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5023A5-964B-3261-CF0D-34C446293F15}"/>
              </a:ext>
            </a:extLst>
          </p:cNvPr>
          <p:cNvSpPr txBox="1"/>
          <p:nvPr/>
        </p:nvSpPr>
        <p:spPr>
          <a:xfrm>
            <a:off x="2743201" y="2032194"/>
            <a:ext cx="18909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1300" dirty="0"/>
              <a:t>데이터와 문제에 맞게 </a:t>
            </a:r>
            <a:endParaRPr kumimoji="1" lang="en-US" altLang="ko-KR" sz="1300" dirty="0"/>
          </a:p>
          <a:p>
            <a:pPr algn="l"/>
            <a:r>
              <a:rPr kumimoji="1" lang="ko-KR" altLang="en-US" sz="1300" dirty="0"/>
              <a:t>사람이 선택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D22687-AF3F-9D48-DC38-4EEDAFADB982}"/>
              </a:ext>
            </a:extLst>
          </p:cNvPr>
          <p:cNvSpPr txBox="1"/>
          <p:nvPr/>
        </p:nvSpPr>
        <p:spPr>
          <a:xfrm>
            <a:off x="4901954" y="2032193"/>
            <a:ext cx="22978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1300" dirty="0"/>
              <a:t>데이터 패턴 학습을 통해</a:t>
            </a:r>
            <a:endParaRPr kumimoji="1" lang="en-US" altLang="ko-KR" sz="1300" dirty="0"/>
          </a:p>
          <a:p>
            <a:pPr algn="l"/>
            <a:r>
              <a:rPr kumimoji="1" lang="ko-KR" altLang="en-US" sz="1300" dirty="0"/>
              <a:t>모델이 자동으로 설정</a:t>
            </a:r>
            <a:r>
              <a:rPr kumimoji="1" lang="en-US" altLang="ko-KR" sz="1300" baseline="30000" dirty="0"/>
              <a:t>1)</a:t>
            </a:r>
            <a:r>
              <a:rPr kumimoji="1" lang="ko-KR" altLang="en-US" sz="1300" baseline="30000" dirty="0"/>
              <a:t> </a:t>
            </a:r>
          </a:p>
        </p:txBody>
      </p: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678BB7EE-AC3D-D8B3-6AFD-6BA3AF861C72}"/>
              </a:ext>
            </a:extLst>
          </p:cNvPr>
          <p:cNvCxnSpPr/>
          <p:nvPr/>
        </p:nvCxnSpPr>
        <p:spPr>
          <a:xfrm>
            <a:off x="372862" y="6143346"/>
            <a:ext cx="4669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37C247B-E00A-0BBD-9D80-094ECBE5FAFF}"/>
              </a:ext>
            </a:extLst>
          </p:cNvPr>
          <p:cNvSpPr txBox="1"/>
          <p:nvPr/>
        </p:nvSpPr>
        <p:spPr>
          <a:xfrm>
            <a:off x="248572" y="6212094"/>
            <a:ext cx="5548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100" dirty="0"/>
              <a:t>1) </a:t>
            </a:r>
            <a:r>
              <a:rPr kumimoji="1" lang="ko-KR" altLang="en-US" sz="1100" dirty="0"/>
              <a:t>단 사람이 직접 설정하는 파라미터도 존재하며</a:t>
            </a:r>
            <a:r>
              <a:rPr kumimoji="1" lang="en-US" altLang="ko-KR" sz="1100" dirty="0"/>
              <a:t>, </a:t>
            </a:r>
            <a:r>
              <a:rPr kumimoji="1" lang="ko-KR" altLang="en-US" sz="1100" dirty="0"/>
              <a:t>이를 </a:t>
            </a:r>
            <a:r>
              <a:rPr kumimoji="1" lang="en-US" altLang="ko-KR" sz="1100" dirty="0"/>
              <a:t>Hyper parameter</a:t>
            </a:r>
            <a:r>
              <a:rPr kumimoji="1" lang="ko-KR" altLang="en-US" sz="1100" dirty="0"/>
              <a:t>라 한다</a:t>
            </a:r>
            <a:r>
              <a:rPr kumimoji="1" lang="en-US" altLang="ko-KR" sz="1100" dirty="0"/>
              <a:t>. </a:t>
            </a:r>
            <a:endParaRPr kumimoji="1" lang="ko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ED4945-A9B2-9792-D785-3236016AE1F8}"/>
              </a:ext>
            </a:extLst>
          </p:cNvPr>
          <p:cNvSpPr txBox="1"/>
          <p:nvPr/>
        </p:nvSpPr>
        <p:spPr>
          <a:xfrm>
            <a:off x="7270559" y="1381773"/>
            <a:ext cx="4625266" cy="84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b="1" dirty="0"/>
              <a:t>모델학습 </a:t>
            </a:r>
            <a:r>
              <a:rPr kumimoji="1" lang="en-US" altLang="ko-KR" sz="1400" b="1" dirty="0"/>
              <a:t>: </a:t>
            </a:r>
            <a:br>
              <a:rPr kumimoji="1" lang="en-US" altLang="ko-KR" sz="1400" b="1" dirty="0"/>
            </a:br>
            <a:r>
              <a:rPr kumimoji="1" lang="ko-KR" altLang="en-US" sz="1400" dirty="0"/>
              <a:t>알고리즘이 데이터의 패턴을 반복적으로 파악하면서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최적의 파라미터들을 결정해 나가는 과정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3EE415-1710-BE6F-E375-01761DB2B8BF}"/>
              </a:ext>
            </a:extLst>
          </p:cNvPr>
          <p:cNvSpPr txBox="1"/>
          <p:nvPr/>
        </p:nvSpPr>
        <p:spPr>
          <a:xfrm>
            <a:off x="372862" y="3058356"/>
            <a:ext cx="3968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600" b="1" dirty="0"/>
              <a:t>6. </a:t>
            </a:r>
            <a:r>
              <a:rPr kumimoji="1" lang="ko-KR" altLang="en-US" sz="1600" b="1" dirty="0"/>
              <a:t>모델 평가와 예측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78407D6-6BB8-CE54-9A9A-8F740E4B9030}"/>
              </a:ext>
            </a:extLst>
          </p:cNvPr>
          <p:cNvSpPr/>
          <p:nvPr/>
        </p:nvSpPr>
        <p:spPr>
          <a:xfrm>
            <a:off x="874450" y="3829092"/>
            <a:ext cx="3275859" cy="134616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B09DBB-9E9D-F872-983C-12E06914F6AE}"/>
              </a:ext>
            </a:extLst>
          </p:cNvPr>
          <p:cNvSpPr txBox="1"/>
          <p:nvPr/>
        </p:nvSpPr>
        <p:spPr>
          <a:xfrm>
            <a:off x="1713392" y="3478202"/>
            <a:ext cx="156247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400" dirty="0"/>
              <a:t>&lt;</a:t>
            </a:r>
            <a:r>
              <a:rPr kumimoji="1" lang="ko-KR" altLang="en-US" sz="1400" dirty="0"/>
              <a:t>주어진 데이터</a:t>
            </a:r>
            <a:r>
              <a:rPr kumimoji="1" lang="en-US" altLang="ko-KR" sz="1400" dirty="0"/>
              <a:t>&gt;</a:t>
            </a:r>
            <a:endParaRPr kumimoji="1"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77BB16-59F7-F3DD-988F-7F8B62F29DC9}"/>
              </a:ext>
            </a:extLst>
          </p:cNvPr>
          <p:cNvSpPr txBox="1"/>
          <p:nvPr/>
        </p:nvSpPr>
        <p:spPr>
          <a:xfrm>
            <a:off x="1013538" y="4088718"/>
            <a:ext cx="1481089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b="1" i="1" dirty="0"/>
              <a:t>Train data set </a:t>
            </a:r>
            <a:endParaRPr kumimoji="1" lang="ko-KR" altLang="en-US" sz="1400" b="1" i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B1E21FF-BEF5-EC38-DEEC-46E09BF3D205}"/>
              </a:ext>
            </a:extLst>
          </p:cNvPr>
          <p:cNvSpPr/>
          <p:nvPr/>
        </p:nvSpPr>
        <p:spPr>
          <a:xfrm>
            <a:off x="2855655" y="4291107"/>
            <a:ext cx="1112664" cy="7722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CEC5E1-BD2E-8A5B-510C-508282F1D5F0}"/>
              </a:ext>
            </a:extLst>
          </p:cNvPr>
          <p:cNvSpPr txBox="1"/>
          <p:nvPr/>
        </p:nvSpPr>
        <p:spPr>
          <a:xfrm>
            <a:off x="2792023" y="4385240"/>
            <a:ext cx="1191819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400" b="1" i="1" dirty="0"/>
              <a:t>Validation</a:t>
            </a:r>
          </a:p>
          <a:p>
            <a:pPr algn="ctr">
              <a:lnSpc>
                <a:spcPct val="120000"/>
              </a:lnSpc>
            </a:pPr>
            <a:r>
              <a:rPr kumimoji="1" lang="en-US" altLang="ko-KR" sz="1400" b="1" i="1" dirty="0"/>
              <a:t>data set </a:t>
            </a:r>
            <a:endParaRPr kumimoji="1" lang="ko-KR" altLang="en-US" sz="1400" b="1" i="1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3332CDF-65AB-00C6-3332-F3BA54FF0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315" y="4923182"/>
            <a:ext cx="838200" cy="736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B98CF6D-B41C-7770-8F97-15DBA20D85D8}"/>
              </a:ext>
            </a:extLst>
          </p:cNvPr>
          <p:cNvSpPr txBox="1"/>
          <p:nvPr/>
        </p:nvSpPr>
        <p:spPr>
          <a:xfrm>
            <a:off x="5056572" y="4624835"/>
            <a:ext cx="156247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400" dirty="0"/>
              <a:t>&lt;Model&gt;</a:t>
            </a:r>
            <a:endParaRPr kumimoji="1" lang="ko-KR" altLang="en-US" sz="1400" dirty="0"/>
          </a:p>
        </p:txBody>
      </p:sp>
      <p:cxnSp>
        <p:nvCxnSpPr>
          <p:cNvPr id="24" name="꺾인 연결선[E] 23">
            <a:extLst>
              <a:ext uri="{FF2B5EF4-FFF2-40B4-BE49-F238E27FC236}">
                <a16:creationId xmlns:a16="http://schemas.microsoft.com/office/drawing/2014/main" id="{43913EC3-4698-C0AC-2D17-1A3E04F0BE3A}"/>
              </a:ext>
            </a:extLst>
          </p:cNvPr>
          <p:cNvCxnSpPr>
            <a:cxnSpLocks/>
          </p:cNvCxnSpPr>
          <p:nvPr/>
        </p:nvCxnSpPr>
        <p:spPr>
          <a:xfrm>
            <a:off x="1013538" y="4876078"/>
            <a:ext cx="4468777" cy="511135"/>
          </a:xfrm>
          <a:prstGeom prst="bentConnector3">
            <a:avLst>
              <a:gd name="adj1" fmla="val -1277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792FAC6-DFA8-A608-7390-BBFE4F00D05B}"/>
              </a:ext>
            </a:extLst>
          </p:cNvPr>
          <p:cNvSpPr txBox="1"/>
          <p:nvPr/>
        </p:nvSpPr>
        <p:spPr>
          <a:xfrm>
            <a:off x="4338578" y="5434317"/>
            <a:ext cx="114522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b="1" i="1" dirty="0">
                <a:solidFill>
                  <a:schemeClr val="accent1"/>
                </a:solidFill>
              </a:rPr>
              <a:t>모델학습</a:t>
            </a:r>
          </a:p>
        </p:txBody>
      </p:sp>
      <p:cxnSp>
        <p:nvCxnSpPr>
          <p:cNvPr id="32" name="꺾인 연결선[E] 31">
            <a:extLst>
              <a:ext uri="{FF2B5EF4-FFF2-40B4-BE49-F238E27FC236}">
                <a16:creationId xmlns:a16="http://schemas.microsoft.com/office/drawing/2014/main" id="{A1562D71-DE9B-1ECD-3C86-04C977AB32FC}"/>
              </a:ext>
            </a:extLst>
          </p:cNvPr>
          <p:cNvCxnSpPr>
            <a:stCxn id="22" idx="0"/>
            <a:endCxn id="19" idx="0"/>
          </p:cNvCxnSpPr>
          <p:nvPr/>
        </p:nvCxnSpPr>
        <p:spPr>
          <a:xfrm rot="16200000" flipV="1">
            <a:off x="4458033" y="3245061"/>
            <a:ext cx="333728" cy="2425820"/>
          </a:xfrm>
          <a:prstGeom prst="bentConnector3">
            <a:avLst>
              <a:gd name="adj1" fmla="val 16849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9E81A57-AADF-C13F-BCD2-F50FAD5FF738}"/>
              </a:ext>
            </a:extLst>
          </p:cNvPr>
          <p:cNvSpPr txBox="1"/>
          <p:nvPr/>
        </p:nvSpPr>
        <p:spPr>
          <a:xfrm>
            <a:off x="4337095" y="3766674"/>
            <a:ext cx="1145220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400" dirty="0">
                <a:solidFill>
                  <a:schemeClr val="accent1"/>
                </a:solidFill>
              </a:rPr>
              <a:t>★</a:t>
            </a:r>
            <a:r>
              <a:rPr kumimoji="1" lang="ko-KR" altLang="en-US" sz="1400" b="1" i="1" dirty="0">
                <a:solidFill>
                  <a:schemeClr val="accent1"/>
                </a:solidFill>
              </a:rPr>
              <a:t>검증</a:t>
            </a:r>
            <a:endParaRPr kumimoji="1" lang="en-US" altLang="ko-KR" sz="1400" b="1" i="1" dirty="0">
              <a:solidFill>
                <a:schemeClr val="accent1"/>
              </a:solidFill>
            </a:endParaRPr>
          </a:p>
          <a:p>
            <a:pPr algn="l">
              <a:lnSpc>
                <a:spcPct val="120000"/>
              </a:lnSpc>
            </a:pPr>
            <a:r>
              <a:rPr kumimoji="1" lang="en-US" altLang="ko-KR" sz="1400" b="1" dirty="0">
                <a:solidFill>
                  <a:schemeClr val="accent1"/>
                </a:solidFill>
              </a:rPr>
              <a:t>(</a:t>
            </a:r>
            <a:r>
              <a:rPr kumimoji="1" lang="ko-KR" altLang="en-US" sz="1400" b="1" dirty="0">
                <a:solidFill>
                  <a:schemeClr val="accent1"/>
                </a:solidFill>
              </a:rPr>
              <a:t>모의고사</a:t>
            </a:r>
            <a:r>
              <a:rPr kumimoji="1" lang="en-US" altLang="ko-KR" sz="1400" b="1" dirty="0">
                <a:solidFill>
                  <a:schemeClr val="accent1"/>
                </a:solidFill>
              </a:rPr>
              <a:t>)</a:t>
            </a:r>
            <a:endParaRPr kumimoji="1" lang="ko-KR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DA3371-D34E-58C0-1912-9C356738C525}"/>
              </a:ext>
            </a:extLst>
          </p:cNvPr>
          <p:cNvSpPr txBox="1"/>
          <p:nvPr/>
        </p:nvSpPr>
        <p:spPr>
          <a:xfrm>
            <a:off x="8685317" y="3469323"/>
            <a:ext cx="156247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400" dirty="0"/>
              <a:t>&lt;</a:t>
            </a:r>
            <a:r>
              <a:rPr kumimoji="1" lang="ko-KR" altLang="en-US" sz="1400" dirty="0"/>
              <a:t>미래의 데이터</a:t>
            </a:r>
            <a:r>
              <a:rPr kumimoji="1" lang="en-US" altLang="ko-KR" sz="1400" dirty="0"/>
              <a:t>&gt;</a:t>
            </a:r>
            <a:endParaRPr kumimoji="1" lang="ko-KR" alt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0033E8-F07E-2FFE-F179-3773AD00313E}"/>
              </a:ext>
            </a:extLst>
          </p:cNvPr>
          <p:cNvSpPr txBox="1"/>
          <p:nvPr/>
        </p:nvSpPr>
        <p:spPr>
          <a:xfrm>
            <a:off x="9308111" y="3757796"/>
            <a:ext cx="2254928" cy="275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100" dirty="0"/>
              <a:t>*또는 평가용 </a:t>
            </a:r>
            <a:r>
              <a:rPr kumimoji="1" lang="en-US" altLang="ko-KR" sz="1100" dirty="0"/>
              <a:t>test data set</a:t>
            </a:r>
            <a:endParaRPr kumimoji="1" lang="ko-KR" altLang="en-US" sz="11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42C6065-9A52-F577-F22D-B6FAA8ED4C93}"/>
              </a:ext>
            </a:extLst>
          </p:cNvPr>
          <p:cNvSpPr/>
          <p:nvPr/>
        </p:nvSpPr>
        <p:spPr>
          <a:xfrm>
            <a:off x="7111705" y="4192279"/>
            <a:ext cx="1573612" cy="85696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7" name="갈매기형 수장[C] 36">
            <a:extLst>
              <a:ext uri="{FF2B5EF4-FFF2-40B4-BE49-F238E27FC236}">
                <a16:creationId xmlns:a16="http://schemas.microsoft.com/office/drawing/2014/main" id="{74CDFA42-BDF1-8B18-CC95-5839AAE3CF72}"/>
              </a:ext>
            </a:extLst>
          </p:cNvPr>
          <p:cNvSpPr/>
          <p:nvPr/>
        </p:nvSpPr>
        <p:spPr>
          <a:xfrm>
            <a:off x="6361587" y="4412761"/>
            <a:ext cx="278908" cy="436891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38" name="갈매기형 수장[C] 37">
            <a:extLst>
              <a:ext uri="{FF2B5EF4-FFF2-40B4-BE49-F238E27FC236}">
                <a16:creationId xmlns:a16="http://schemas.microsoft.com/office/drawing/2014/main" id="{140547F1-626A-C04D-C827-6D24D9CF29B8}"/>
              </a:ext>
            </a:extLst>
          </p:cNvPr>
          <p:cNvSpPr/>
          <p:nvPr/>
        </p:nvSpPr>
        <p:spPr>
          <a:xfrm>
            <a:off x="6570558" y="4412761"/>
            <a:ext cx="278908" cy="436891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D321EF-64FC-3F23-B1E0-3CD0936ECF05}"/>
              </a:ext>
            </a:extLst>
          </p:cNvPr>
          <p:cNvSpPr txBox="1"/>
          <p:nvPr/>
        </p:nvSpPr>
        <p:spPr>
          <a:xfrm>
            <a:off x="7152395" y="4450362"/>
            <a:ext cx="1481089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400" b="1" i="1" dirty="0"/>
              <a:t>Test data</a:t>
            </a:r>
            <a:endParaRPr kumimoji="1" lang="ko-KR" altLang="en-US" sz="1400" b="1" i="1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1A22FDE3-071C-9D3E-5FE7-0E00255F0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008" y="4849080"/>
            <a:ext cx="838200" cy="7366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56F45DAF-6D9F-06B7-7E56-F0759CBDDBC8}"/>
              </a:ext>
            </a:extLst>
          </p:cNvPr>
          <p:cNvSpPr txBox="1"/>
          <p:nvPr/>
        </p:nvSpPr>
        <p:spPr>
          <a:xfrm>
            <a:off x="8823265" y="4550733"/>
            <a:ext cx="156247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400" dirty="0"/>
              <a:t>&lt;Final Model&gt;</a:t>
            </a:r>
            <a:endParaRPr kumimoji="1" lang="ko-KR" altLang="en-US" sz="1400" dirty="0"/>
          </a:p>
        </p:txBody>
      </p:sp>
      <p:cxnSp>
        <p:nvCxnSpPr>
          <p:cNvPr id="43" name="꺾인 연결선[E] 42">
            <a:extLst>
              <a:ext uri="{FF2B5EF4-FFF2-40B4-BE49-F238E27FC236}">
                <a16:creationId xmlns:a16="http://schemas.microsoft.com/office/drawing/2014/main" id="{A6673D2F-84A7-34EE-6B64-749B331304F8}"/>
              </a:ext>
            </a:extLst>
          </p:cNvPr>
          <p:cNvCxnSpPr>
            <a:stCxn id="36" idx="2"/>
            <a:endCxn id="40" idx="1"/>
          </p:cNvCxnSpPr>
          <p:nvPr/>
        </p:nvCxnSpPr>
        <p:spPr>
          <a:xfrm rot="16200000" flipH="1">
            <a:off x="8489691" y="4458062"/>
            <a:ext cx="168137" cy="135049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1275186-172C-2BB5-A778-3B1F7C138269}"/>
              </a:ext>
            </a:extLst>
          </p:cNvPr>
          <p:cNvSpPr txBox="1"/>
          <p:nvPr/>
        </p:nvSpPr>
        <p:spPr>
          <a:xfrm>
            <a:off x="8336132" y="5230946"/>
            <a:ext cx="964066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400" dirty="0">
                <a:solidFill>
                  <a:schemeClr val="accent1"/>
                </a:solidFill>
              </a:rPr>
              <a:t>★</a:t>
            </a:r>
            <a:r>
              <a:rPr kumimoji="1" lang="ko-KR" altLang="en-US" sz="1400" b="1" i="1" dirty="0">
                <a:solidFill>
                  <a:schemeClr val="accent1"/>
                </a:solidFill>
              </a:rPr>
              <a:t>예측</a:t>
            </a:r>
            <a:endParaRPr kumimoji="1" lang="en-US" altLang="ko-KR" sz="1400" b="1" i="1" dirty="0">
              <a:solidFill>
                <a:schemeClr val="accent1"/>
              </a:solidFill>
            </a:endParaRPr>
          </a:p>
          <a:p>
            <a:pPr algn="l">
              <a:lnSpc>
                <a:spcPct val="120000"/>
              </a:lnSpc>
            </a:pPr>
            <a:r>
              <a:rPr kumimoji="1" lang="en-US" altLang="ko-KR" sz="1400" b="1" i="1" dirty="0">
                <a:solidFill>
                  <a:schemeClr val="accent1"/>
                </a:solidFill>
              </a:rPr>
              <a:t>(</a:t>
            </a:r>
            <a:r>
              <a:rPr kumimoji="1" lang="ko-KR" altLang="en-US" sz="1400" b="1" i="1" dirty="0">
                <a:solidFill>
                  <a:schemeClr val="accent1"/>
                </a:solidFill>
              </a:rPr>
              <a:t>실전적용</a:t>
            </a:r>
            <a:r>
              <a:rPr kumimoji="1" lang="en-US" altLang="ko-KR" sz="1400" b="1" i="1" dirty="0">
                <a:solidFill>
                  <a:schemeClr val="accent1"/>
                </a:solidFill>
              </a:rPr>
              <a:t>)</a:t>
            </a:r>
            <a:endParaRPr kumimoji="1" lang="ko-KR" altLang="en-US" sz="1400" b="1" i="1" dirty="0">
              <a:solidFill>
                <a:schemeClr val="accent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78690CD-1D00-4924-BDC1-783E944BC8FA}"/>
              </a:ext>
            </a:extLst>
          </p:cNvPr>
          <p:cNvCxnSpPr>
            <a:stCxn id="40" idx="3"/>
          </p:cNvCxnSpPr>
          <p:nvPr/>
        </p:nvCxnSpPr>
        <p:spPr>
          <a:xfrm>
            <a:off x="10087208" y="5217380"/>
            <a:ext cx="3483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5810263-3F2D-AF89-8153-B41EAE408FB5}"/>
              </a:ext>
            </a:extLst>
          </p:cNvPr>
          <p:cNvSpPr txBox="1"/>
          <p:nvPr/>
        </p:nvSpPr>
        <p:spPr>
          <a:xfrm>
            <a:off x="10563217" y="5049242"/>
            <a:ext cx="710558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b="1" i="1" dirty="0">
                <a:solidFill>
                  <a:schemeClr val="accent1"/>
                </a:solidFill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1095876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5C1DC9-E845-4855-E898-7CB1766A6EBB}"/>
              </a:ext>
            </a:extLst>
          </p:cNvPr>
          <p:cNvSpPr txBox="1"/>
          <p:nvPr/>
        </p:nvSpPr>
        <p:spPr>
          <a:xfrm>
            <a:off x="8975325" y="345053"/>
            <a:ext cx="292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01. Machine Learning Summary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0812F-3BDA-7358-399A-8C1C4E941273}"/>
              </a:ext>
            </a:extLst>
          </p:cNvPr>
          <p:cNvSpPr txBox="1"/>
          <p:nvPr/>
        </p:nvSpPr>
        <p:spPr>
          <a:xfrm>
            <a:off x="506027" y="1154097"/>
            <a:ext cx="7954392" cy="2386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b="1" dirty="0"/>
              <a:t>[</a:t>
            </a:r>
            <a:r>
              <a:rPr kumimoji="1" lang="ko-KR" altLang="en-US" b="1" dirty="0"/>
              <a:t>실습</a:t>
            </a:r>
            <a:r>
              <a:rPr kumimoji="1" lang="en-US" altLang="ko-KR" b="1" dirty="0"/>
              <a:t>1] </a:t>
            </a:r>
            <a:r>
              <a:rPr kumimoji="1" lang="ko-KR" altLang="en-US" b="1" dirty="0"/>
              <a:t>회귀 </a:t>
            </a:r>
            <a:r>
              <a:rPr kumimoji="1" lang="en-US" altLang="ko-KR" b="1" dirty="0"/>
              <a:t>: </a:t>
            </a:r>
            <a:r>
              <a:rPr kumimoji="1" lang="ko-KR" altLang="en-US" b="1" dirty="0"/>
              <a:t>광고비 규모에 따른 매출을 예측하라</a:t>
            </a:r>
            <a:r>
              <a:rPr kumimoji="1" lang="en-US" altLang="ko-KR" b="1" dirty="0"/>
              <a:t>. </a:t>
            </a:r>
          </a:p>
          <a:p>
            <a:pPr algn="l">
              <a:lnSpc>
                <a:spcPct val="120000"/>
              </a:lnSpc>
            </a:pPr>
            <a:endParaRPr kumimoji="1" lang="en-US" altLang="ko-KR" b="1" dirty="0"/>
          </a:p>
          <a:p>
            <a:pPr algn="l">
              <a:lnSpc>
                <a:spcPct val="120000"/>
              </a:lnSpc>
            </a:pPr>
            <a:endParaRPr kumimoji="1" lang="en-US" altLang="ko-KR" b="1" dirty="0"/>
          </a:p>
          <a:p>
            <a:pPr algn="l">
              <a:lnSpc>
                <a:spcPct val="120000"/>
              </a:lnSpc>
            </a:pPr>
            <a:endParaRPr kumimoji="1" lang="en-US" altLang="ko-KR" b="1" dirty="0"/>
          </a:p>
          <a:p>
            <a:pPr algn="l">
              <a:lnSpc>
                <a:spcPct val="120000"/>
              </a:lnSpc>
            </a:pPr>
            <a:endParaRPr kumimoji="1" lang="en-US" altLang="ko-KR" b="1" dirty="0"/>
          </a:p>
          <a:p>
            <a:pPr algn="l">
              <a:lnSpc>
                <a:spcPct val="120000"/>
              </a:lnSpc>
            </a:pPr>
            <a:endParaRPr kumimoji="1" lang="en-US" altLang="ko-KR" b="1" dirty="0"/>
          </a:p>
          <a:p>
            <a:pPr algn="l">
              <a:lnSpc>
                <a:spcPct val="120000"/>
              </a:lnSpc>
            </a:pPr>
            <a:r>
              <a:rPr kumimoji="1" lang="en-US" altLang="ko-KR" b="1" dirty="0"/>
              <a:t>[</a:t>
            </a:r>
            <a:r>
              <a:rPr kumimoji="1" lang="ko-KR" altLang="en-US" b="1" dirty="0"/>
              <a:t>실습</a:t>
            </a:r>
            <a:r>
              <a:rPr kumimoji="1" lang="en-US" altLang="ko-KR" b="1" dirty="0"/>
              <a:t>2] </a:t>
            </a:r>
            <a:r>
              <a:rPr kumimoji="1" lang="ko-KR" altLang="en-US" b="1" dirty="0"/>
              <a:t>분류 </a:t>
            </a:r>
            <a:r>
              <a:rPr kumimoji="1" lang="en-US" altLang="ko-KR" b="1" dirty="0"/>
              <a:t>: </a:t>
            </a:r>
            <a:r>
              <a:rPr kumimoji="1" lang="ko-KR" altLang="en-US" b="1" dirty="0"/>
              <a:t>입학시험에 지원한 학생들의 합격여부를 예측하라</a:t>
            </a:r>
            <a:r>
              <a:rPr kumimoji="1" lang="en-US" altLang="ko-KR" b="1" dirty="0"/>
              <a:t>. </a:t>
            </a:r>
            <a:endParaRPr kumimoji="1"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0CD7C-E47E-B409-0FE0-AE65600C40D6}"/>
              </a:ext>
            </a:extLst>
          </p:cNvPr>
          <p:cNvSpPr txBox="1"/>
          <p:nvPr/>
        </p:nvSpPr>
        <p:spPr>
          <a:xfrm>
            <a:off x="1402672" y="1606858"/>
            <a:ext cx="4187301" cy="84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Data : </a:t>
            </a:r>
            <a:r>
              <a:rPr kumimoji="1" lang="en-US" altLang="ko-KR" sz="1400" dirty="0" err="1"/>
              <a:t>advertising.csv</a:t>
            </a:r>
            <a:endParaRPr kumimoji="1" lang="en-US" altLang="ko-KR" sz="14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Model : Linear Regression 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Metrics : RMSE, MAE, MAPE, R</a:t>
            </a:r>
            <a:r>
              <a:rPr kumimoji="1" lang="en-US" altLang="ko-KR" sz="1400" baseline="30000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C2380-0E08-DE03-FDB5-58A3A0DB6425}"/>
              </a:ext>
            </a:extLst>
          </p:cNvPr>
          <p:cNvSpPr txBox="1"/>
          <p:nvPr/>
        </p:nvSpPr>
        <p:spPr>
          <a:xfrm>
            <a:off x="1402671" y="3659076"/>
            <a:ext cx="4187301" cy="84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Data : </a:t>
            </a:r>
            <a:r>
              <a:rPr kumimoji="1" lang="en-US" altLang="ko-KR" sz="1400" dirty="0" err="1"/>
              <a:t>graduate.csv</a:t>
            </a:r>
            <a:endParaRPr kumimoji="1" lang="en-US" altLang="ko-KR" sz="14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Model : Logistic Regression 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Metrics : Accuracy, Precision, Recall, F1 score</a:t>
            </a:r>
            <a:endParaRPr kumimoji="1" lang="en-US" altLang="ko-KR" sz="1400" baseline="30000" dirty="0"/>
          </a:p>
        </p:txBody>
      </p:sp>
    </p:spTree>
    <p:extLst>
      <p:ext uri="{BB962C8B-B14F-4D97-AF65-F5344CB8AC3E}">
        <p14:creationId xmlns:p14="http://schemas.microsoft.com/office/powerpoint/2010/main" val="1420019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B80951-EA7C-F093-4EE0-F2EC96D462AB}"/>
              </a:ext>
            </a:extLst>
          </p:cNvPr>
          <p:cNvSpPr txBox="1"/>
          <p:nvPr/>
        </p:nvSpPr>
        <p:spPr>
          <a:xfrm>
            <a:off x="8975325" y="345053"/>
            <a:ext cx="292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01. Machine Learning Summary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617762-E5F5-28DB-AC42-B97BD6F31CE0}"/>
              </a:ext>
            </a:extLst>
          </p:cNvPr>
          <p:cNvSpPr txBox="1"/>
          <p:nvPr/>
        </p:nvSpPr>
        <p:spPr>
          <a:xfrm>
            <a:off x="2032986" y="3036163"/>
            <a:ext cx="7261934" cy="45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2200" b="1" dirty="0"/>
              <a:t>※ </a:t>
            </a:r>
            <a:r>
              <a:rPr kumimoji="1" lang="ko-KR" altLang="en-US" sz="2200" b="1" dirty="0"/>
              <a:t>참고</a:t>
            </a:r>
            <a:r>
              <a:rPr kumimoji="1" lang="en-US" altLang="ko-KR" sz="2200" b="1" dirty="0"/>
              <a:t>. Google </a:t>
            </a:r>
            <a:r>
              <a:rPr kumimoji="1" lang="en-US" altLang="ko-KR" sz="2200" b="1" dirty="0" err="1"/>
              <a:t>CoLab</a:t>
            </a:r>
            <a:r>
              <a:rPr kumimoji="1" lang="en-US" altLang="ko-KR" sz="2200" b="1" dirty="0"/>
              <a:t> </a:t>
            </a:r>
            <a:r>
              <a:rPr kumimoji="1" lang="ko-KR" altLang="en-US" sz="2200" b="1" dirty="0"/>
              <a:t>사용법</a:t>
            </a:r>
          </a:p>
        </p:txBody>
      </p:sp>
    </p:spTree>
    <p:extLst>
      <p:ext uri="{BB962C8B-B14F-4D97-AF65-F5344CB8AC3E}">
        <p14:creationId xmlns:p14="http://schemas.microsoft.com/office/powerpoint/2010/main" val="256606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2E4593E-5EDD-B8A5-2ECB-10910646810A}"/>
              </a:ext>
            </a:extLst>
          </p:cNvPr>
          <p:cNvSpPr txBox="1"/>
          <p:nvPr/>
        </p:nvSpPr>
        <p:spPr>
          <a:xfrm>
            <a:off x="8975325" y="345053"/>
            <a:ext cx="292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01. Machine Learning Summary</a:t>
            </a:r>
            <a:endParaRPr kumimoji="1"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7D5293-6C58-1CF8-67DF-B49DEDCFE2FD}"/>
              </a:ext>
            </a:extLst>
          </p:cNvPr>
          <p:cNvSpPr txBox="1"/>
          <p:nvPr/>
        </p:nvSpPr>
        <p:spPr>
          <a:xfrm>
            <a:off x="239697" y="878890"/>
            <a:ext cx="6676008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b="1" dirty="0"/>
              <a:t>※ </a:t>
            </a:r>
            <a:r>
              <a:rPr kumimoji="1" lang="ko-KR" altLang="en-US" sz="1400" b="1" dirty="0"/>
              <a:t>딥러닝 실습을 위한 </a:t>
            </a:r>
            <a:r>
              <a:rPr kumimoji="1" lang="en-US" altLang="ko-KR" sz="1400" b="1" dirty="0"/>
              <a:t>Google </a:t>
            </a:r>
            <a:r>
              <a:rPr kumimoji="1" lang="en-US" altLang="ko-KR" sz="1400" b="1" dirty="0" err="1"/>
              <a:t>CoLab</a:t>
            </a:r>
            <a:r>
              <a:rPr kumimoji="1" lang="en-US" altLang="ko-KR" sz="1400" b="1" dirty="0"/>
              <a:t> </a:t>
            </a:r>
            <a:r>
              <a:rPr kumimoji="1" lang="ko-KR" altLang="en-US" sz="1400" b="1" dirty="0"/>
              <a:t>환경설정 </a:t>
            </a:r>
            <a:r>
              <a:rPr kumimoji="1" lang="en-US" altLang="ko-KR" sz="1400" b="1" dirty="0"/>
              <a:t>(</a:t>
            </a:r>
            <a:r>
              <a:rPr kumimoji="1" lang="ko-KR" altLang="en-US" sz="1400" b="1" dirty="0"/>
              <a:t>구글계정 필요</a:t>
            </a:r>
            <a:r>
              <a:rPr kumimoji="1" lang="en-US" altLang="ko-KR" sz="1400" b="1" dirty="0"/>
              <a:t>) </a:t>
            </a:r>
            <a:endParaRPr kumimoji="1"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F721BA-D00A-F409-594A-FD309A81885C}"/>
              </a:ext>
            </a:extLst>
          </p:cNvPr>
          <p:cNvSpPr txBox="1"/>
          <p:nvPr/>
        </p:nvSpPr>
        <p:spPr>
          <a:xfrm>
            <a:off x="408373" y="1313895"/>
            <a:ext cx="8362765" cy="1344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dirty="0"/>
              <a:t>① </a:t>
            </a:r>
            <a:r>
              <a:rPr kumimoji="1" lang="ko-KR" altLang="en-US" sz="1400" dirty="0"/>
              <a:t>크롬 브라우저에 </a:t>
            </a:r>
            <a:r>
              <a:rPr kumimoji="1" lang="ko-KR" altLang="en-US" sz="1400" dirty="0" err="1"/>
              <a:t>로그인된</a:t>
            </a:r>
            <a:r>
              <a:rPr kumimoji="1" lang="ko-KR" altLang="en-US" sz="1400" dirty="0"/>
              <a:t> 상태에서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구글 드라이브</a:t>
            </a:r>
            <a:r>
              <a:rPr kumimoji="1" lang="en-US" altLang="ko-KR" sz="1400" dirty="0"/>
              <a:t>(</a:t>
            </a:r>
            <a:r>
              <a:rPr kumimoji="1" lang="en-US" altLang="ko-KR" sz="1400" dirty="0">
                <a:hlinkClick r:id="rId2"/>
              </a:rPr>
              <a:t>https://drive.google.com/</a:t>
            </a:r>
            <a:r>
              <a:rPr kumimoji="1" lang="en-US" altLang="ko-KR" sz="1400" dirty="0"/>
              <a:t>) </a:t>
            </a:r>
            <a:r>
              <a:rPr kumimoji="1" lang="ko-KR" altLang="en-US" sz="1400" dirty="0"/>
              <a:t>접속 </a:t>
            </a:r>
            <a:endParaRPr kumimoji="1" lang="en-US" altLang="ko-KR" sz="1400" dirty="0"/>
          </a:p>
          <a:p>
            <a:pPr algn="l">
              <a:lnSpc>
                <a:spcPct val="150000"/>
              </a:lnSpc>
            </a:pPr>
            <a:r>
              <a:rPr kumimoji="1" lang="en-US" altLang="ko-KR" sz="1400" dirty="0"/>
              <a:t>② “</a:t>
            </a:r>
            <a:r>
              <a:rPr kumimoji="1" lang="ko-KR" altLang="en-US" sz="1400" dirty="0"/>
              <a:t>내 드라이브</a:t>
            </a:r>
            <a:r>
              <a:rPr kumimoji="1" lang="en-US" altLang="ko-KR" sz="1400" dirty="0"/>
              <a:t>” </a:t>
            </a:r>
            <a:r>
              <a:rPr kumimoji="1" lang="en-US" altLang="ko-KR" sz="1400" dirty="0">
                <a:sym typeface="Wingdings" pitchFamily="2" charset="2"/>
              </a:rPr>
              <a:t> </a:t>
            </a:r>
            <a:r>
              <a:rPr kumimoji="1" lang="ko-KR" altLang="en-US" sz="1400" dirty="0"/>
              <a:t> 실습에 사용할 폴더 생성 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예</a:t>
            </a:r>
            <a:r>
              <a:rPr kumimoji="1" lang="en-US" altLang="ko-KR" sz="1400" dirty="0"/>
              <a:t>. </a:t>
            </a:r>
            <a:r>
              <a:rPr kumimoji="1" lang="en-US" altLang="ko-KR" sz="1400" dirty="0" err="1"/>
              <a:t>deeplearning_study</a:t>
            </a:r>
            <a:r>
              <a:rPr kumimoji="1" lang="en-US" altLang="ko-KR" sz="1400" dirty="0"/>
              <a:t>, </a:t>
            </a:r>
            <a:r>
              <a:rPr kumimoji="1" lang="en-US" altLang="ko-KR" sz="1400" dirty="0" err="1"/>
              <a:t>pytorch_study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등</a:t>
            </a:r>
            <a:r>
              <a:rPr kumimoji="1" lang="en-US" altLang="ko-KR" sz="1400" dirty="0"/>
              <a:t>) 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/>
              <a:t>③ ②</a:t>
            </a:r>
            <a:r>
              <a:rPr kumimoji="1" lang="ko-KR" altLang="en-US" sz="1400" dirty="0"/>
              <a:t>의 폴더에서 마우스 </a:t>
            </a:r>
            <a:r>
              <a:rPr kumimoji="1" lang="ko-KR" altLang="en-US" sz="1400" dirty="0" err="1"/>
              <a:t>우클릭</a:t>
            </a:r>
            <a:r>
              <a:rPr kumimoji="1" lang="ko-KR" altLang="en-US" sz="1400" dirty="0"/>
              <a:t> </a:t>
            </a:r>
            <a:r>
              <a:rPr kumimoji="1" lang="en-US" altLang="ko-KR" sz="1400" dirty="0">
                <a:sym typeface="Wingdings" pitchFamily="2" charset="2"/>
              </a:rPr>
              <a:t> Google </a:t>
            </a:r>
            <a:r>
              <a:rPr kumimoji="1" lang="en-US" altLang="ko-KR" sz="1400" dirty="0" err="1">
                <a:sym typeface="Wingdings" pitchFamily="2" charset="2"/>
              </a:rPr>
              <a:t>Colaboratory</a:t>
            </a:r>
            <a:r>
              <a:rPr kumimoji="1" lang="en-US" altLang="ko-KR" sz="1400" dirty="0">
                <a:sym typeface="Wingdings" pitchFamily="2" charset="2"/>
              </a:rPr>
              <a:t> </a:t>
            </a:r>
            <a:endParaRPr kumimoji="1" lang="en-US" altLang="ko-KR" sz="1400" dirty="0"/>
          </a:p>
          <a:p>
            <a:pPr>
              <a:lnSpc>
                <a:spcPct val="150000"/>
              </a:lnSpc>
            </a:pPr>
            <a:r>
              <a:rPr kumimoji="1" lang="en-US" altLang="ko-KR" sz="1400" dirty="0"/>
              <a:t>④ </a:t>
            </a:r>
            <a:r>
              <a:rPr kumimoji="1" lang="ko-KR" altLang="en-US" sz="1400" dirty="0"/>
              <a:t>주피터 노트북의 이름 변경</a:t>
            </a:r>
            <a:r>
              <a:rPr kumimoji="1" lang="en-US" altLang="ko-KR" sz="1400" dirty="0"/>
              <a:t>, Run time </a:t>
            </a:r>
            <a:r>
              <a:rPr kumimoji="1" lang="ko-KR" altLang="en-US" sz="1400" dirty="0"/>
              <a:t>연결 </a:t>
            </a:r>
            <a:r>
              <a:rPr kumimoji="1" lang="en-US" altLang="ko-KR" sz="1400" dirty="0">
                <a:sym typeface="Wingdings" pitchFamily="2" charset="2"/>
              </a:rPr>
              <a:t> Run Time</a:t>
            </a:r>
            <a:r>
              <a:rPr kumimoji="1" lang="ko-KR" altLang="en-US" sz="1400" dirty="0">
                <a:sym typeface="Wingdings" pitchFamily="2" charset="2"/>
              </a:rPr>
              <a:t>을 </a:t>
            </a:r>
            <a:r>
              <a:rPr kumimoji="1" lang="en-US" altLang="ko-KR" sz="1400" dirty="0">
                <a:sym typeface="Wingdings" pitchFamily="2" charset="2"/>
              </a:rPr>
              <a:t>GPU</a:t>
            </a:r>
            <a:r>
              <a:rPr kumimoji="1" lang="ko-KR" altLang="en-US" sz="1400" dirty="0">
                <a:sym typeface="Wingdings" pitchFamily="2" charset="2"/>
              </a:rPr>
              <a:t>로 변경</a:t>
            </a:r>
            <a:r>
              <a:rPr kumimoji="1" lang="en-US" altLang="ko-KR" sz="1400" dirty="0">
                <a:sym typeface="Wingdings" pitchFamily="2" charset="2"/>
              </a:rPr>
              <a:t>(</a:t>
            </a:r>
            <a:r>
              <a:rPr kumimoji="1" lang="ko-KR" altLang="en-US" sz="1400" dirty="0">
                <a:sym typeface="Wingdings" pitchFamily="2" charset="2"/>
              </a:rPr>
              <a:t>필요시</a:t>
            </a:r>
            <a:r>
              <a:rPr kumimoji="1" lang="en-US" altLang="ko-KR" sz="1400" dirty="0">
                <a:sym typeface="Wingdings" pitchFamily="2" charset="2"/>
              </a:rPr>
              <a:t>)</a:t>
            </a:r>
            <a:endParaRPr kumimoji="1" lang="en-US" altLang="ko-KR" sz="1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68CACCB-3F4F-B59C-6678-6219827AB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79" y="2974544"/>
            <a:ext cx="5463466" cy="34506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A15E95A-CAEB-9CB2-134B-268106E8E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810" y="2986600"/>
            <a:ext cx="5206014" cy="3128109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21BA07A3-066D-7F68-166B-926EE58E7BB9}"/>
              </a:ext>
            </a:extLst>
          </p:cNvPr>
          <p:cNvSpPr/>
          <p:nvPr/>
        </p:nvSpPr>
        <p:spPr>
          <a:xfrm>
            <a:off x="8174231" y="5388219"/>
            <a:ext cx="1118586" cy="43648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FC5D239-68C1-49F7-DDE9-0719D1CEEDF6}"/>
              </a:ext>
            </a:extLst>
          </p:cNvPr>
          <p:cNvSpPr/>
          <p:nvPr/>
        </p:nvSpPr>
        <p:spPr>
          <a:xfrm>
            <a:off x="10777238" y="3365590"/>
            <a:ext cx="1118586" cy="43648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BB8D5BF-80C3-CDA5-F0CA-080858F66689}"/>
              </a:ext>
            </a:extLst>
          </p:cNvPr>
          <p:cNvCxnSpPr>
            <a:stCxn id="18" idx="4"/>
            <a:endCxn id="17" idx="7"/>
          </p:cNvCxnSpPr>
          <p:nvPr/>
        </p:nvCxnSpPr>
        <p:spPr>
          <a:xfrm flipH="1">
            <a:off x="9129004" y="3802076"/>
            <a:ext cx="2207527" cy="1650065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A4EC2E4D-F600-8CBA-113D-B1F8C69315AB}"/>
              </a:ext>
            </a:extLst>
          </p:cNvPr>
          <p:cNvSpPr/>
          <p:nvPr/>
        </p:nvSpPr>
        <p:spPr>
          <a:xfrm>
            <a:off x="4214250" y="5322677"/>
            <a:ext cx="1957951" cy="31020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A70EE8-CB39-C66B-7C14-7969CDDE3D3F}"/>
              </a:ext>
            </a:extLst>
          </p:cNvPr>
          <p:cNvSpPr txBox="1"/>
          <p:nvPr/>
        </p:nvSpPr>
        <p:spPr>
          <a:xfrm>
            <a:off x="6294268" y="2595815"/>
            <a:ext cx="430567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100" i="1" dirty="0"/>
              <a:t>※ </a:t>
            </a:r>
            <a:r>
              <a:rPr kumimoji="1" lang="ko-KR" altLang="en-US" sz="1100" i="1" dirty="0" err="1"/>
              <a:t>머신러닝</a:t>
            </a:r>
            <a:r>
              <a:rPr kumimoji="1" lang="ko-KR" altLang="en-US" sz="1100" i="1" dirty="0"/>
              <a:t> 실습에서는 불필요</a:t>
            </a:r>
            <a:r>
              <a:rPr kumimoji="1" lang="en-US" altLang="ko-KR" sz="1100" i="1" dirty="0"/>
              <a:t>, </a:t>
            </a:r>
            <a:r>
              <a:rPr kumimoji="1" lang="ko-KR" altLang="en-US" sz="1100" i="1" dirty="0"/>
              <a:t>딥러닝 실습에서는 </a:t>
            </a:r>
            <a:r>
              <a:rPr kumimoji="1" lang="en-US" altLang="ko-KR" sz="1100" i="1" dirty="0"/>
              <a:t>GPU </a:t>
            </a:r>
            <a:r>
              <a:rPr kumimoji="1" lang="ko-KR" altLang="en-US" sz="1100" i="1" dirty="0"/>
              <a:t>필수 </a:t>
            </a:r>
          </a:p>
        </p:txBody>
      </p:sp>
    </p:spTree>
    <p:extLst>
      <p:ext uri="{BB962C8B-B14F-4D97-AF65-F5344CB8AC3E}">
        <p14:creationId xmlns:p14="http://schemas.microsoft.com/office/powerpoint/2010/main" val="4272789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0FF1E7-E35B-3084-DA83-183A80776C3B}"/>
              </a:ext>
            </a:extLst>
          </p:cNvPr>
          <p:cNvSpPr txBox="1"/>
          <p:nvPr/>
        </p:nvSpPr>
        <p:spPr>
          <a:xfrm>
            <a:off x="8975325" y="345053"/>
            <a:ext cx="292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01. Machine Learning Summary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FB0DB-C124-1B6D-5D4D-16D72B6A87AE}"/>
              </a:ext>
            </a:extLst>
          </p:cNvPr>
          <p:cNvSpPr txBox="1"/>
          <p:nvPr/>
        </p:nvSpPr>
        <p:spPr>
          <a:xfrm>
            <a:off x="319594" y="834500"/>
            <a:ext cx="5877018" cy="373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ko-KR" sz="1400" dirty="0"/>
              <a:t>⑤ </a:t>
            </a:r>
            <a:r>
              <a:rPr kumimoji="1" lang="en-US" altLang="ko-KR" sz="1400" dirty="0" err="1"/>
              <a:t>colab</a:t>
            </a:r>
            <a:r>
              <a:rPr kumimoji="1" lang="ko-KR" altLang="en-US" sz="1400" dirty="0"/>
              <a:t> 노트북과 </a:t>
            </a:r>
            <a:r>
              <a:rPr kumimoji="1" lang="en-US" altLang="ko-KR" sz="1400" dirty="0"/>
              <a:t>google drive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연결하고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작업공간을 지정</a:t>
            </a:r>
            <a:endParaRPr kumimoji="1"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FCBB0C-1820-EB3F-513A-9B0A01198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53" y="1294094"/>
            <a:ext cx="7772400" cy="1979371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24AE97C-89AC-0972-8FB2-A7E659365FDD}"/>
              </a:ext>
            </a:extLst>
          </p:cNvPr>
          <p:cNvCxnSpPr/>
          <p:nvPr/>
        </p:nvCxnSpPr>
        <p:spPr>
          <a:xfrm>
            <a:off x="4181383" y="2388093"/>
            <a:ext cx="46607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94BD259-ECA4-2A4A-3C08-DB6567D5C812}"/>
              </a:ext>
            </a:extLst>
          </p:cNvPr>
          <p:cNvSpPr txBox="1"/>
          <p:nvPr/>
        </p:nvSpPr>
        <p:spPr>
          <a:xfrm>
            <a:off x="8902623" y="2197669"/>
            <a:ext cx="3051159" cy="95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200" b="1" i="1" dirty="0">
                <a:solidFill>
                  <a:schemeClr val="accent1"/>
                </a:solidFill>
              </a:rPr>
              <a:t>구글드라이브와 연동한다</a:t>
            </a:r>
            <a:r>
              <a:rPr kumimoji="1" lang="en-US" altLang="ko-KR" sz="1200" b="1" i="1" dirty="0">
                <a:solidFill>
                  <a:schemeClr val="accent1"/>
                </a:solidFill>
              </a:rPr>
              <a:t>. </a:t>
            </a:r>
          </a:p>
          <a:p>
            <a:pPr algn="l">
              <a:lnSpc>
                <a:spcPct val="120000"/>
              </a:lnSpc>
            </a:pPr>
            <a:r>
              <a:rPr kumimoji="1" lang="en-US" altLang="ko-KR" sz="1200" i="1" dirty="0">
                <a:solidFill>
                  <a:schemeClr val="accent1"/>
                </a:solidFill>
              </a:rPr>
              <a:t>※ </a:t>
            </a:r>
            <a:r>
              <a:rPr kumimoji="1" lang="ko-KR" altLang="en-US" sz="1200" i="1" dirty="0">
                <a:solidFill>
                  <a:schemeClr val="accent1"/>
                </a:solidFill>
              </a:rPr>
              <a:t>실행하면 사용자의 승인을 요청하는 </a:t>
            </a:r>
            <a:br>
              <a:rPr kumimoji="1" lang="en-US" altLang="ko-KR" sz="1200" i="1" dirty="0">
                <a:solidFill>
                  <a:schemeClr val="accent1"/>
                </a:solidFill>
              </a:rPr>
            </a:br>
            <a:r>
              <a:rPr kumimoji="1" lang="en-US" altLang="ko-KR" sz="1200" i="1" dirty="0">
                <a:solidFill>
                  <a:schemeClr val="accent1"/>
                </a:solidFill>
              </a:rPr>
              <a:t>   </a:t>
            </a:r>
            <a:r>
              <a:rPr kumimoji="1" lang="ko-KR" altLang="en-US" sz="1200" i="1" dirty="0" err="1">
                <a:solidFill>
                  <a:schemeClr val="accent1"/>
                </a:solidFill>
              </a:rPr>
              <a:t>팝업창</a:t>
            </a:r>
            <a:r>
              <a:rPr kumimoji="1" lang="ko-KR" altLang="en-US" sz="1200" i="1" dirty="0">
                <a:solidFill>
                  <a:schemeClr val="accent1"/>
                </a:solidFill>
              </a:rPr>
              <a:t> 표시됨</a:t>
            </a:r>
            <a:endParaRPr kumimoji="1" lang="en-US" altLang="ko-KR" sz="1200" i="1" dirty="0">
              <a:solidFill>
                <a:schemeClr val="accent1"/>
              </a:solidFill>
            </a:endParaRPr>
          </a:p>
          <a:p>
            <a:pPr algn="l">
              <a:lnSpc>
                <a:spcPct val="120000"/>
              </a:lnSpc>
            </a:pPr>
            <a:r>
              <a:rPr kumimoji="1" lang="en-US" altLang="ko-KR" sz="1200" i="1" dirty="0">
                <a:solidFill>
                  <a:schemeClr val="accent1"/>
                </a:solidFill>
                <a:sym typeface="Wingdings" pitchFamily="2" charset="2"/>
              </a:rPr>
              <a:t>    </a:t>
            </a:r>
            <a:r>
              <a:rPr kumimoji="1" lang="ko-KR" altLang="en-US" sz="1200" i="1" dirty="0">
                <a:solidFill>
                  <a:schemeClr val="accent1"/>
                </a:solidFill>
                <a:sym typeface="Wingdings" pitchFamily="2" charset="2"/>
              </a:rPr>
              <a:t>구글 드라이브 연동 승인 </a:t>
            </a:r>
            <a:endParaRPr kumimoji="1" lang="en-US" altLang="ko-KR" sz="1200" i="1" dirty="0">
              <a:solidFill>
                <a:schemeClr val="accent1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6617A79-6754-4258-A372-0F9A45B43DB4}"/>
              </a:ext>
            </a:extLst>
          </p:cNvPr>
          <p:cNvCxnSpPr>
            <a:cxnSpLocks/>
          </p:cNvCxnSpPr>
          <p:nvPr/>
        </p:nvCxnSpPr>
        <p:spPr>
          <a:xfrm>
            <a:off x="4181383" y="2689934"/>
            <a:ext cx="770678" cy="915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56C50AE-F4C3-2FA7-AD1C-2DFD26EC4EE0}"/>
              </a:ext>
            </a:extLst>
          </p:cNvPr>
          <p:cNvSpPr txBox="1"/>
          <p:nvPr/>
        </p:nvSpPr>
        <p:spPr>
          <a:xfrm>
            <a:off x="4952061" y="3505764"/>
            <a:ext cx="3153252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200" b="1" i="1" dirty="0">
                <a:solidFill>
                  <a:schemeClr val="accent1"/>
                </a:solidFill>
              </a:rPr>
              <a:t>지정된 폴더를 기본 작업공간으로 사용한다</a:t>
            </a:r>
            <a:r>
              <a:rPr kumimoji="1" lang="en-US" altLang="ko-KR" sz="1200" b="1" i="1" dirty="0">
                <a:solidFill>
                  <a:schemeClr val="accent1"/>
                </a:solidFill>
              </a:rPr>
              <a:t>. </a:t>
            </a:r>
            <a:endParaRPr kumimoji="1" lang="ko-KR" altLang="en-US" sz="1200" b="1" i="1" dirty="0">
              <a:solidFill>
                <a:schemeClr val="accent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5F44B0-108F-57E4-2B38-2C2B1F901AEC}"/>
              </a:ext>
            </a:extLst>
          </p:cNvPr>
          <p:cNvSpPr/>
          <p:nvPr/>
        </p:nvSpPr>
        <p:spPr>
          <a:xfrm>
            <a:off x="4564999" y="3851596"/>
            <a:ext cx="3540314" cy="14922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20000"/>
              </a:lnSpc>
              <a:buFont typeface="Wingdings" pitchFamily="2" charset="2"/>
              <a:buChar char="ü"/>
            </a:pPr>
            <a:r>
              <a:rPr kumimoji="1" lang="ko-KR" altLang="en-US" sz="1200" dirty="0">
                <a:solidFill>
                  <a:schemeClr val="tx1"/>
                </a:solidFill>
              </a:rPr>
              <a:t>구글 드라이브 </a:t>
            </a:r>
            <a:r>
              <a:rPr kumimoji="1" lang="en-US" altLang="ko-KR" sz="1200" dirty="0" err="1">
                <a:solidFill>
                  <a:schemeClr val="tx1"/>
                </a:solidFill>
              </a:rPr>
              <a:t>deeplearning_study</a:t>
            </a:r>
            <a:r>
              <a:rPr kumimoji="1" lang="ko-KR" altLang="en-US" sz="1200" dirty="0">
                <a:solidFill>
                  <a:schemeClr val="tx1"/>
                </a:solidFill>
              </a:rPr>
              <a:t> 폴더에 </a:t>
            </a:r>
            <a:br>
              <a:rPr kumimoji="1" lang="en-US" altLang="ko-KR" sz="1200" dirty="0">
                <a:solidFill>
                  <a:schemeClr val="tx1"/>
                </a:solidFill>
              </a:rPr>
            </a:br>
            <a:r>
              <a:rPr kumimoji="1" lang="ko-KR" altLang="en-US" sz="1200" dirty="0">
                <a:solidFill>
                  <a:schemeClr val="tx1"/>
                </a:solidFill>
              </a:rPr>
              <a:t>저장된 </a:t>
            </a:r>
            <a:r>
              <a:rPr kumimoji="1" lang="en-US" altLang="ko-KR" sz="1200" dirty="0" err="1">
                <a:solidFill>
                  <a:schemeClr val="tx1"/>
                </a:solidFill>
              </a:rPr>
              <a:t>train.csv</a:t>
            </a:r>
            <a:r>
              <a:rPr kumimoji="1" lang="en-US" altLang="ko-KR" sz="1200" dirty="0">
                <a:solidFill>
                  <a:schemeClr val="tx1"/>
                </a:solidFill>
              </a:rPr>
              <a:t> </a:t>
            </a:r>
            <a:r>
              <a:rPr kumimoji="1" lang="ko-KR" altLang="en-US" sz="1200" dirty="0">
                <a:solidFill>
                  <a:schemeClr val="tx1"/>
                </a:solidFill>
              </a:rPr>
              <a:t>파일 불러오기 </a:t>
            </a:r>
            <a:br>
              <a:rPr kumimoji="1" lang="en-US" altLang="ko-KR" sz="1200" dirty="0">
                <a:solidFill>
                  <a:schemeClr val="tx1"/>
                </a:solidFill>
              </a:rPr>
            </a:br>
            <a:r>
              <a:rPr kumimoji="1" lang="en-US" altLang="ko-KR" sz="1200" dirty="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kumimoji="1" lang="en-US" altLang="ko-KR" sz="1200" dirty="0" err="1">
                <a:solidFill>
                  <a:schemeClr val="tx1"/>
                </a:solidFill>
              </a:rPr>
              <a:t>df</a:t>
            </a:r>
            <a:r>
              <a:rPr kumimoji="1" lang="en-US" altLang="ko-KR" sz="1200" dirty="0">
                <a:solidFill>
                  <a:schemeClr val="tx1"/>
                </a:solidFill>
              </a:rPr>
              <a:t> = </a:t>
            </a:r>
            <a:r>
              <a:rPr kumimoji="1" lang="en-US" altLang="ko-KR" sz="1200" dirty="0" err="1">
                <a:solidFill>
                  <a:schemeClr val="tx1"/>
                </a:solidFill>
              </a:rPr>
              <a:t>pd.read_csv</a:t>
            </a:r>
            <a:r>
              <a:rPr kumimoji="1" lang="en-US" altLang="ko-KR" sz="1200" dirty="0">
                <a:solidFill>
                  <a:schemeClr val="tx1"/>
                </a:solidFill>
              </a:rPr>
              <a:t>(“</a:t>
            </a:r>
            <a:r>
              <a:rPr kumimoji="1" lang="en" altLang="ko-KR" sz="1200" dirty="0" err="1">
                <a:solidFill>
                  <a:schemeClr val="tx1"/>
                </a:solidFill>
              </a:rPr>
              <a:t>train.csv</a:t>
            </a:r>
            <a:r>
              <a:rPr kumimoji="1" lang="en" altLang="ko-KR" sz="1200" dirty="0">
                <a:solidFill>
                  <a:schemeClr val="tx1"/>
                </a:solidFill>
              </a:rPr>
              <a:t>”)</a:t>
            </a:r>
            <a:br>
              <a:rPr kumimoji="1" lang="en" altLang="ko-KR" sz="1200" dirty="0">
                <a:solidFill>
                  <a:schemeClr val="tx1"/>
                </a:solidFill>
              </a:rPr>
            </a:br>
            <a:endParaRPr kumimoji="1" lang="en-US" altLang="ko-KR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20000"/>
              </a:lnSpc>
              <a:buFont typeface="Wingdings" pitchFamily="2" charset="2"/>
              <a:buChar char="ü"/>
            </a:pPr>
            <a:r>
              <a:rPr kumimoji="1" lang="ko-KR" altLang="en-US" sz="1200" dirty="0">
                <a:solidFill>
                  <a:schemeClr val="tx1"/>
                </a:solidFill>
              </a:rPr>
              <a:t>또한 </a:t>
            </a:r>
            <a:r>
              <a:rPr kumimoji="1" lang="en-US" altLang="ko-KR" sz="1200" dirty="0" err="1">
                <a:solidFill>
                  <a:schemeClr val="tx1"/>
                </a:solidFill>
              </a:rPr>
              <a:t>Crtl</a:t>
            </a:r>
            <a:r>
              <a:rPr kumimoji="1" lang="en-US" altLang="ko-KR" sz="1200" dirty="0">
                <a:solidFill>
                  <a:schemeClr val="tx1"/>
                </a:solidFill>
              </a:rPr>
              <a:t> + S</a:t>
            </a:r>
            <a:r>
              <a:rPr kumimoji="1" lang="ko-KR" altLang="en-US" sz="1200" dirty="0" err="1">
                <a:solidFill>
                  <a:schemeClr val="tx1"/>
                </a:solidFill>
              </a:rPr>
              <a:t>를</a:t>
            </a:r>
            <a:r>
              <a:rPr kumimoji="1" lang="ko-KR" altLang="en-US" sz="1200" dirty="0">
                <a:solidFill>
                  <a:schemeClr val="tx1"/>
                </a:solidFill>
              </a:rPr>
              <a:t> 누르면 현재 노트북이 </a:t>
            </a:r>
            <a:r>
              <a:rPr kumimoji="1" lang="en-US" altLang="ko-KR" sz="1200" dirty="0" err="1">
                <a:solidFill>
                  <a:schemeClr val="tx1"/>
                </a:solidFill>
              </a:rPr>
              <a:t>deeplearning_study</a:t>
            </a:r>
            <a:r>
              <a:rPr kumimoji="1" lang="en-US" altLang="ko-KR" sz="1200" dirty="0">
                <a:solidFill>
                  <a:schemeClr val="tx1"/>
                </a:solidFill>
              </a:rPr>
              <a:t> </a:t>
            </a:r>
            <a:r>
              <a:rPr kumimoji="1" lang="ko-KR" altLang="en-US" sz="1200" dirty="0">
                <a:solidFill>
                  <a:schemeClr val="tx1"/>
                </a:solidFill>
              </a:rPr>
              <a:t>폴더에 저장됨 </a:t>
            </a:r>
          </a:p>
        </p:txBody>
      </p:sp>
    </p:spTree>
    <p:extLst>
      <p:ext uri="{BB962C8B-B14F-4D97-AF65-F5344CB8AC3E}">
        <p14:creationId xmlns:p14="http://schemas.microsoft.com/office/powerpoint/2010/main" val="2211115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lnSpc>
            <a:spcPct val="120000"/>
          </a:lnSpc>
          <a:buFont typeface="Arial" panose="020B0604020202020204" pitchFamily="34" charset="0"/>
          <a:buChar char="•"/>
          <a:defRPr kumimoji="1"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656</Words>
  <Application>Microsoft Macintosh PowerPoint</Application>
  <PresentationFormat>와이드스크린</PresentationFormat>
  <Paragraphs>114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Young-Boo Choi</dc:creator>
  <cp:lastModifiedBy>Young-Boo Choi</cp:lastModifiedBy>
  <cp:revision>92</cp:revision>
  <dcterms:created xsi:type="dcterms:W3CDTF">2025-12-09T14:37:52Z</dcterms:created>
  <dcterms:modified xsi:type="dcterms:W3CDTF">2026-03-18T04:25:43Z</dcterms:modified>
</cp:coreProperties>
</file>