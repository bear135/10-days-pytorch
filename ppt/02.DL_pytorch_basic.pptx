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2" r:id="rId5"/>
    <p:sldId id="263" r:id="rId6"/>
    <p:sldId id="264" r:id="rId7"/>
    <p:sldId id="261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790"/>
  </p:normalViewPr>
  <p:slideViewPr>
    <p:cSldViewPr snapToGrid="0">
      <p:cViewPr varScale="1">
        <p:scale>
          <a:sx n="144" d="100"/>
          <a:sy n="144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42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EC386611-DA1D-5984-7915-A39655EA00D8}"/>
              </a:ext>
            </a:extLst>
          </p:cNvPr>
          <p:cNvCxnSpPr/>
          <p:nvPr userDrawn="1"/>
        </p:nvCxnSpPr>
        <p:spPr>
          <a:xfrm>
            <a:off x="268913" y="694436"/>
            <a:ext cx="1163937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ACC33B-932B-13A7-800E-CA47F31C7A77}"/>
              </a:ext>
            </a:extLst>
          </p:cNvPr>
          <p:cNvSpPr txBox="1"/>
          <p:nvPr userDrawn="1"/>
        </p:nvSpPr>
        <p:spPr>
          <a:xfrm>
            <a:off x="10864676" y="6291470"/>
            <a:ext cx="1043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77F96B8-C915-EB4F-8C3F-29DAE644A8B2}" type="slidenum">
              <a:rPr kumimoji="1" lang="ko-KR" altLang="en-US" sz="1200" smtClean="0"/>
              <a:pPr algn="r"/>
              <a:t>‹#›</a:t>
            </a:fld>
            <a:endParaRPr kumimoji="1"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BEBB57-E58D-1126-CFFA-065DCF37E58D}"/>
              </a:ext>
            </a:extLst>
          </p:cNvPr>
          <p:cNvSpPr txBox="1"/>
          <p:nvPr userDrawn="1"/>
        </p:nvSpPr>
        <p:spPr>
          <a:xfrm>
            <a:off x="188007" y="323716"/>
            <a:ext cx="3507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200" dirty="0"/>
              <a:t>Deep Learning with </a:t>
            </a:r>
            <a:r>
              <a:rPr kumimoji="1" lang="en-US" altLang="ko-KR" sz="1200" dirty="0" err="1"/>
              <a:t>Pytorch</a:t>
            </a:r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9155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EA1C0A-EAB4-70F3-F80B-C43D9EFEB2B8}"/>
              </a:ext>
            </a:extLst>
          </p:cNvPr>
          <p:cNvSpPr txBox="1"/>
          <p:nvPr/>
        </p:nvSpPr>
        <p:spPr>
          <a:xfrm>
            <a:off x="10317190" y="336429"/>
            <a:ext cx="1535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1-1. </a:t>
            </a:r>
            <a:r>
              <a:rPr kumimoji="1" lang="ko-KR" altLang="en-US" sz="1200" dirty="0"/>
              <a:t>과정소개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688FDB-FB25-6391-F405-76C2A3284180}"/>
              </a:ext>
            </a:extLst>
          </p:cNvPr>
          <p:cNvSpPr/>
          <p:nvPr/>
        </p:nvSpPr>
        <p:spPr>
          <a:xfrm>
            <a:off x="232913" y="232913"/>
            <a:ext cx="11740551" cy="62886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18510-5A9B-9E78-9DDB-ABEB9CCBD434}"/>
              </a:ext>
            </a:extLst>
          </p:cNvPr>
          <p:cNvSpPr txBox="1"/>
          <p:nvPr/>
        </p:nvSpPr>
        <p:spPr>
          <a:xfrm>
            <a:off x="778135" y="1215503"/>
            <a:ext cx="103689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3300" b="1" dirty="0"/>
              <a:t>Deep Learning with </a:t>
            </a:r>
            <a:r>
              <a:rPr kumimoji="1" lang="en-US" altLang="ko-KR" sz="3300" b="1" dirty="0" err="1"/>
              <a:t>Pytorch</a:t>
            </a:r>
            <a:endParaRPr kumimoji="1" lang="en-US" altLang="ko-KR" sz="33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4B1708-9840-AFBF-CFD2-887619A75B54}"/>
              </a:ext>
            </a:extLst>
          </p:cNvPr>
          <p:cNvSpPr txBox="1"/>
          <p:nvPr/>
        </p:nvSpPr>
        <p:spPr>
          <a:xfrm>
            <a:off x="4063040" y="2612254"/>
            <a:ext cx="4876773" cy="3005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600" b="1" dirty="0">
                <a:latin typeface="+mn-ea"/>
              </a:rPr>
              <a:t>02. </a:t>
            </a:r>
            <a:r>
              <a:rPr kumimoji="1" lang="en-US" altLang="ko-KR" sz="1600" b="1" dirty="0" err="1">
                <a:latin typeface="+mn-ea"/>
              </a:rPr>
              <a:t>Pytorch</a:t>
            </a:r>
            <a:r>
              <a:rPr kumimoji="1" lang="en-US" altLang="ko-KR" sz="1600" b="1" dirty="0">
                <a:latin typeface="+mn-ea"/>
              </a:rPr>
              <a:t> Basic</a:t>
            </a:r>
          </a:p>
          <a:p>
            <a:pPr marL="285750" indent="-146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 err="1">
                <a:latin typeface="+mn-ea"/>
              </a:rPr>
              <a:t>머신러닝</a:t>
            </a:r>
            <a:r>
              <a:rPr kumimoji="1" lang="ko-KR" altLang="en-US" sz="1400" dirty="0">
                <a:latin typeface="+mn-ea"/>
              </a:rPr>
              <a:t> </a:t>
            </a:r>
            <a:r>
              <a:rPr kumimoji="1" lang="en-US" altLang="ko-KR" sz="1400" dirty="0">
                <a:latin typeface="+mn-ea"/>
              </a:rPr>
              <a:t>vs. </a:t>
            </a:r>
            <a:r>
              <a:rPr kumimoji="1" lang="ko-KR" altLang="en-US" sz="1400" dirty="0" err="1">
                <a:latin typeface="+mn-ea"/>
              </a:rPr>
              <a:t>파이토치</a:t>
            </a:r>
            <a:r>
              <a:rPr kumimoji="1" lang="ko-KR" altLang="en-US" sz="1400" dirty="0">
                <a:latin typeface="+mn-ea"/>
              </a:rPr>
              <a:t> 딥러닝 코드구조</a:t>
            </a:r>
            <a:endParaRPr kumimoji="1" lang="en-US" altLang="ko-KR" sz="1400" dirty="0">
              <a:latin typeface="+mn-ea"/>
            </a:endParaRPr>
          </a:p>
          <a:p>
            <a:pPr marL="139700">
              <a:lnSpc>
                <a:spcPct val="150000"/>
              </a:lnSpc>
            </a:pPr>
            <a:r>
              <a:rPr kumimoji="1" lang="en-US" altLang="ko-KR" sz="1400" dirty="0">
                <a:latin typeface="+mn-ea"/>
              </a:rPr>
              <a:t>[</a:t>
            </a:r>
            <a:r>
              <a:rPr kumimoji="1" lang="ko-KR" altLang="en-US" sz="1400" dirty="0">
                <a:latin typeface="+mn-ea"/>
              </a:rPr>
              <a:t>실습</a:t>
            </a:r>
            <a:r>
              <a:rPr kumimoji="1" lang="en-US" altLang="ko-KR" sz="1400" dirty="0">
                <a:latin typeface="+mn-ea"/>
              </a:rPr>
              <a:t>1] </a:t>
            </a:r>
            <a:r>
              <a:rPr kumimoji="1" lang="ko-KR" altLang="en-US" sz="1400" dirty="0">
                <a:latin typeface="+mn-ea"/>
              </a:rPr>
              <a:t>광고비에 따른 매출예측 </a:t>
            </a:r>
            <a:r>
              <a:rPr kumimoji="1" lang="en-US" altLang="ko-KR" sz="1400" dirty="0">
                <a:latin typeface="+mn-ea"/>
              </a:rPr>
              <a:t>~ </a:t>
            </a:r>
            <a:r>
              <a:rPr kumimoji="1" lang="en-US" altLang="ko-KR" sz="1400" dirty="0" err="1">
                <a:latin typeface="+mn-ea"/>
              </a:rPr>
              <a:t>Pytorch</a:t>
            </a:r>
            <a:r>
              <a:rPr kumimoji="1" lang="en-US" altLang="ko-KR" sz="1400" dirty="0">
                <a:latin typeface="+mn-ea"/>
              </a:rPr>
              <a:t> </a:t>
            </a:r>
            <a:r>
              <a:rPr kumimoji="1" lang="ko-KR" altLang="en-US" sz="1400" dirty="0">
                <a:latin typeface="+mn-ea"/>
              </a:rPr>
              <a:t>버전</a:t>
            </a:r>
            <a:br>
              <a:rPr kumimoji="1" lang="en-US" altLang="ko-KR" sz="1400" dirty="0">
                <a:latin typeface="+mn-ea"/>
              </a:rPr>
            </a:br>
            <a:endParaRPr kumimoji="1" lang="en-US" altLang="ko-KR" sz="1400" dirty="0">
              <a:latin typeface="+mn-ea"/>
            </a:endParaRPr>
          </a:p>
          <a:p>
            <a:pPr marL="285750" indent="-146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latin typeface="+mn-ea"/>
              </a:rPr>
              <a:t>참고</a:t>
            </a:r>
            <a:r>
              <a:rPr kumimoji="1" lang="en-US" altLang="ko-KR" sz="1400" dirty="0">
                <a:latin typeface="+mn-ea"/>
              </a:rPr>
              <a:t>. </a:t>
            </a:r>
            <a:r>
              <a:rPr kumimoji="1" lang="en-US" altLang="ko-KR" sz="1400" dirty="0" err="1">
                <a:latin typeface="+mn-ea"/>
              </a:rPr>
              <a:t>Keras</a:t>
            </a:r>
            <a:r>
              <a:rPr kumimoji="1" lang="en-US" altLang="ko-KR" sz="1400" dirty="0">
                <a:latin typeface="+mn-ea"/>
              </a:rPr>
              <a:t> vs. </a:t>
            </a:r>
            <a:r>
              <a:rPr kumimoji="1" lang="en-US" altLang="ko-KR" sz="1400" dirty="0" err="1">
                <a:latin typeface="+mn-ea"/>
              </a:rPr>
              <a:t>Pytorch</a:t>
            </a:r>
            <a:r>
              <a:rPr kumimoji="1" lang="en-US" altLang="ko-KR" sz="1400" dirty="0">
                <a:latin typeface="+mn-ea"/>
              </a:rPr>
              <a:t> </a:t>
            </a:r>
          </a:p>
          <a:p>
            <a:pPr marL="285750" indent="-146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latin typeface="+mn-ea"/>
              </a:rPr>
              <a:t>Tensor </a:t>
            </a:r>
          </a:p>
          <a:p>
            <a:pPr marL="285750" indent="-146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latin typeface="+mn-ea"/>
              </a:rPr>
              <a:t>Data Loader </a:t>
            </a:r>
          </a:p>
          <a:p>
            <a:pPr marL="285750" indent="-146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latin typeface="+mn-ea"/>
              </a:rPr>
              <a:t>Device </a:t>
            </a:r>
          </a:p>
          <a:p>
            <a:pPr marL="285750" indent="-1460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latin typeface="+mn-ea"/>
              </a:rPr>
              <a:t>Weight update</a:t>
            </a:r>
            <a:endParaRPr kumimoji="1"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5266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188F7C-1E4A-D388-5E43-3ED3D5EC4F06}"/>
              </a:ext>
            </a:extLst>
          </p:cNvPr>
          <p:cNvSpPr txBox="1"/>
          <p:nvPr/>
        </p:nvSpPr>
        <p:spPr>
          <a:xfrm>
            <a:off x="8975325" y="345053"/>
            <a:ext cx="292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3A4692-8AF7-387D-6CD9-802A5B83FC3B}"/>
              </a:ext>
            </a:extLst>
          </p:cNvPr>
          <p:cNvSpPr txBox="1"/>
          <p:nvPr/>
        </p:nvSpPr>
        <p:spPr>
          <a:xfrm>
            <a:off x="284084" y="870011"/>
            <a:ext cx="3968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600" b="1" dirty="0"/>
              <a:t>1. </a:t>
            </a:r>
            <a:r>
              <a:rPr kumimoji="1" lang="ko-KR" altLang="en-US" sz="1600" b="1" dirty="0" err="1"/>
              <a:t>머신러닝</a:t>
            </a:r>
            <a:r>
              <a:rPr kumimoji="1" lang="ko-KR" altLang="en-US" sz="1600" b="1" dirty="0"/>
              <a:t> </a:t>
            </a:r>
            <a:r>
              <a:rPr kumimoji="1" lang="en-US" altLang="ko-KR" sz="1600" b="1" dirty="0"/>
              <a:t>vs. </a:t>
            </a:r>
            <a:r>
              <a:rPr kumimoji="1" lang="ko-KR" altLang="en-US" sz="1600" b="1" dirty="0" err="1"/>
              <a:t>파이토치</a:t>
            </a:r>
            <a:r>
              <a:rPr kumimoji="1" lang="ko-KR" altLang="en-US" sz="1600" b="1" dirty="0"/>
              <a:t> 코드 구조 </a:t>
            </a:r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507BB803-59F5-4434-6684-58A9672EA66C}"/>
              </a:ext>
            </a:extLst>
          </p:cNvPr>
          <p:cNvGrpSpPr/>
          <p:nvPr/>
        </p:nvGrpSpPr>
        <p:grpSpPr>
          <a:xfrm>
            <a:off x="639192" y="2528348"/>
            <a:ext cx="10778971" cy="2631056"/>
            <a:chOff x="470517" y="1320983"/>
            <a:chExt cx="10778971" cy="2631056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F0FBF99-731B-2AD2-D41E-F6B85BD0B637}"/>
                </a:ext>
              </a:extLst>
            </p:cNvPr>
            <p:cNvSpPr/>
            <p:nvPr/>
          </p:nvSpPr>
          <p:spPr>
            <a:xfrm>
              <a:off x="470517" y="1802167"/>
              <a:ext cx="1509203" cy="621437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b="1" dirty="0">
                  <a:solidFill>
                    <a:schemeClr val="tx1"/>
                  </a:solidFill>
                </a:rPr>
                <a:t>Machine</a:t>
              </a:r>
            </a:p>
            <a:p>
              <a:pPr algn="ctr"/>
              <a:r>
                <a:rPr kumimoji="1" lang="en-US" altLang="ko-KR" sz="1400" b="1" dirty="0">
                  <a:solidFill>
                    <a:schemeClr val="tx1"/>
                  </a:solidFill>
                </a:rPr>
                <a:t>Learning</a:t>
              </a:r>
              <a:endParaRPr kumimoji="1"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A097251-1D04-5F58-3DB2-8233FD23F41B}"/>
                </a:ext>
              </a:extLst>
            </p:cNvPr>
            <p:cNvSpPr/>
            <p:nvPr/>
          </p:nvSpPr>
          <p:spPr>
            <a:xfrm>
              <a:off x="497150" y="2733121"/>
              <a:ext cx="1509203" cy="1039887"/>
            </a:xfrm>
            <a:prstGeom prst="rect">
              <a:avLst/>
            </a:prstGeom>
            <a:solidFill>
              <a:schemeClr val="bg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1400" b="1" dirty="0" err="1">
                  <a:solidFill>
                    <a:schemeClr val="tx1"/>
                  </a:solidFill>
                </a:rPr>
                <a:t>Pytorch</a:t>
              </a:r>
              <a:endParaRPr kumimoji="1" lang="en-US" altLang="ko-KR" sz="1400" b="1" dirty="0">
                <a:solidFill>
                  <a:schemeClr val="tx1"/>
                </a:solidFill>
              </a:endParaRPr>
            </a:p>
            <a:p>
              <a:pPr algn="ctr"/>
              <a:r>
                <a:rPr kumimoji="1" lang="en-US" altLang="ko-KR" sz="1400" b="1" dirty="0">
                  <a:solidFill>
                    <a:schemeClr val="tx1"/>
                  </a:solidFill>
                </a:rPr>
                <a:t>Deep Learning</a:t>
              </a:r>
              <a:endParaRPr kumimoji="1" lang="ko-KR" altLang="en-US" sz="1400" b="1" dirty="0">
                <a:solidFill>
                  <a:schemeClr val="tx1"/>
                </a:solidFill>
              </a:endParaRP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10B86E94-9DCB-4EA9-4050-455BC05325C2}"/>
                </a:ext>
              </a:extLst>
            </p:cNvPr>
            <p:cNvGrpSpPr/>
            <p:nvPr/>
          </p:nvGrpSpPr>
          <p:grpSpPr>
            <a:xfrm>
              <a:off x="2281560" y="1370289"/>
              <a:ext cx="4145874" cy="325345"/>
              <a:chOff x="2281560" y="1370289"/>
              <a:chExt cx="3639844" cy="325345"/>
            </a:xfrm>
          </p:grpSpPr>
          <p:cxnSp>
            <p:nvCxnSpPr>
              <p:cNvPr id="18" name="직선 연결선[R] 17">
                <a:extLst>
                  <a:ext uri="{FF2B5EF4-FFF2-40B4-BE49-F238E27FC236}">
                    <a16:creationId xmlns:a16="http://schemas.microsoft.com/office/drawing/2014/main" id="{8856A233-98C3-800A-2E42-9ECA8FB92B07}"/>
                  </a:ext>
                </a:extLst>
              </p:cNvPr>
              <p:cNvCxnSpPr/>
              <p:nvPr/>
            </p:nvCxnSpPr>
            <p:spPr>
              <a:xfrm>
                <a:off x="2281560" y="1695634"/>
                <a:ext cx="363984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5D09B7F-981A-7772-9CD3-0A7A88DBD6E2}"/>
                  </a:ext>
                </a:extLst>
              </p:cNvPr>
              <p:cNvSpPr txBox="1"/>
              <p:nvPr/>
            </p:nvSpPr>
            <p:spPr>
              <a:xfrm>
                <a:off x="3080551" y="1370289"/>
                <a:ext cx="1944209" cy="325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kumimoji="1" lang="ko-KR" altLang="en-US" sz="1400" dirty="0"/>
                  <a:t>데이터 </a:t>
                </a:r>
                <a:r>
                  <a:rPr kumimoji="1" lang="ko-KR" altLang="en-US" sz="1400" dirty="0" err="1"/>
                  <a:t>전처리</a:t>
                </a:r>
                <a:endParaRPr kumimoji="1" lang="ko-KR" altLang="en-US" sz="1400" dirty="0"/>
              </a:p>
            </p:txBody>
          </p:sp>
        </p:grpSp>
        <p:cxnSp>
          <p:nvCxnSpPr>
            <p:cNvPr id="36" name="직선 연결선[R] 35">
              <a:extLst>
                <a:ext uri="{FF2B5EF4-FFF2-40B4-BE49-F238E27FC236}">
                  <a16:creationId xmlns:a16="http://schemas.microsoft.com/office/drawing/2014/main" id="{75C5BA26-B5AA-E40B-1D4C-4BE3A86EAE00}"/>
                </a:ext>
              </a:extLst>
            </p:cNvPr>
            <p:cNvCxnSpPr>
              <a:cxnSpLocks/>
            </p:cNvCxnSpPr>
            <p:nvPr/>
          </p:nvCxnSpPr>
          <p:spPr>
            <a:xfrm>
              <a:off x="470517" y="2583401"/>
              <a:ext cx="107774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3C27BBB-9979-9CA4-381C-659A3BC87067}"/>
                </a:ext>
              </a:extLst>
            </p:cNvPr>
            <p:cNvSpPr/>
            <p:nvPr/>
          </p:nvSpPr>
          <p:spPr>
            <a:xfrm>
              <a:off x="2389574" y="1811044"/>
              <a:ext cx="2111405" cy="1543512"/>
            </a:xfrm>
            <a:prstGeom prst="rect">
              <a:avLst/>
            </a:prstGeom>
            <a:solidFill>
              <a:schemeClr val="bg1"/>
            </a:solidFill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4150" indent="-1841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1300" dirty="0" err="1">
                  <a:solidFill>
                    <a:schemeClr val="tx1"/>
                  </a:solidFill>
                </a:rPr>
                <a:t>결측치</a:t>
              </a:r>
              <a:r>
                <a:rPr kumimoji="1" lang="ko-KR" altLang="en-US" sz="1300" dirty="0">
                  <a:solidFill>
                    <a:schemeClr val="tx1"/>
                  </a:solidFill>
                </a:rPr>
                <a:t> 처리</a:t>
              </a:r>
              <a:endParaRPr kumimoji="1" lang="en-US" altLang="ko-KR" sz="1300" dirty="0">
                <a:solidFill>
                  <a:schemeClr val="tx1"/>
                </a:solidFill>
              </a:endParaRPr>
            </a:p>
            <a:p>
              <a:pPr marL="184150" indent="-1841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1300" dirty="0">
                  <a:solidFill>
                    <a:schemeClr val="tx1"/>
                  </a:solidFill>
                </a:rPr>
                <a:t>범주형 변수</a:t>
              </a:r>
              <a:r>
                <a:rPr kumimoji="1" lang="en-US" altLang="ko-KR" sz="1300" dirty="0">
                  <a:solidFill>
                    <a:schemeClr val="tx1"/>
                  </a:solidFill>
                </a:rPr>
                <a:t> Encoding</a:t>
              </a:r>
            </a:p>
            <a:p>
              <a:pPr marL="184150" indent="-1841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1300" dirty="0">
                  <a:solidFill>
                    <a:schemeClr val="tx1"/>
                  </a:solidFill>
                </a:rPr>
                <a:t>검증데이터 분할 </a:t>
              </a:r>
              <a:endParaRPr kumimoji="1" lang="en-US" altLang="ko-KR" sz="1300" dirty="0">
                <a:solidFill>
                  <a:schemeClr val="tx1"/>
                </a:solidFill>
              </a:endParaRPr>
            </a:p>
            <a:p>
              <a:pPr marL="184150" indent="-1841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1300" dirty="0">
                  <a:solidFill>
                    <a:schemeClr val="tx1"/>
                  </a:solidFill>
                </a:rPr>
                <a:t>수치형 변수 </a:t>
              </a:r>
              <a:r>
                <a:rPr kumimoji="1" lang="en-US" altLang="ko-KR" sz="1300" dirty="0">
                  <a:solidFill>
                    <a:schemeClr val="tx1"/>
                  </a:solidFill>
                </a:rPr>
                <a:t>Scaling</a:t>
              </a:r>
              <a:endParaRPr kumimoji="1" lang="ko-KR" altLang="en-US" sz="1300" dirty="0">
                <a:solidFill>
                  <a:schemeClr val="tx1"/>
                </a:solidFill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D2F6CBD8-27A7-79A0-DCE1-D9E241C9114B}"/>
                </a:ext>
              </a:extLst>
            </p:cNvPr>
            <p:cNvSpPr/>
            <p:nvPr/>
          </p:nvSpPr>
          <p:spPr>
            <a:xfrm>
              <a:off x="4866446" y="2708290"/>
              <a:ext cx="1738542" cy="646266"/>
            </a:xfrm>
            <a:prstGeom prst="rect">
              <a:avLst/>
            </a:prstGeom>
            <a:solidFill>
              <a:schemeClr val="bg2"/>
            </a:solidFill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4150" indent="-1841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1300" dirty="0">
                  <a:solidFill>
                    <a:schemeClr val="tx1"/>
                  </a:solidFill>
                </a:rPr>
                <a:t>Tensor </a:t>
              </a:r>
              <a:r>
                <a:rPr kumimoji="1" lang="ko-KR" altLang="en-US" sz="1300" dirty="0">
                  <a:solidFill>
                    <a:schemeClr val="tx1"/>
                  </a:solidFill>
                </a:rPr>
                <a:t>변환</a:t>
              </a:r>
              <a:endParaRPr kumimoji="1" lang="en-US" altLang="ko-KR" sz="1300" dirty="0">
                <a:solidFill>
                  <a:schemeClr val="tx1"/>
                </a:solidFill>
              </a:endParaRPr>
            </a:p>
            <a:p>
              <a:pPr marL="184150" indent="-1841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1300" dirty="0">
                  <a:solidFill>
                    <a:schemeClr val="tx1"/>
                  </a:solidFill>
                </a:rPr>
                <a:t>Data Loader</a:t>
              </a:r>
              <a:r>
                <a:rPr kumimoji="1" lang="ko-KR" altLang="en-US" sz="1300" dirty="0">
                  <a:solidFill>
                    <a:schemeClr val="tx1"/>
                  </a:solidFill>
                </a:rPr>
                <a:t> 구성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E13F9F8F-AB26-F0B1-7390-3D40DDC2592B}"/>
                </a:ext>
              </a:extLst>
            </p:cNvPr>
            <p:cNvSpPr/>
            <p:nvPr/>
          </p:nvSpPr>
          <p:spPr>
            <a:xfrm>
              <a:off x="7023722" y="1811044"/>
              <a:ext cx="2522743" cy="1543512"/>
            </a:xfrm>
            <a:prstGeom prst="rect">
              <a:avLst/>
            </a:prstGeom>
            <a:solidFill>
              <a:schemeClr val="bg1"/>
            </a:solidFill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4150" indent="-1841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1300" dirty="0">
                  <a:solidFill>
                    <a:schemeClr val="tx1"/>
                  </a:solidFill>
                </a:rPr>
                <a:t>모델 정의</a:t>
              </a:r>
              <a:endParaRPr kumimoji="1" lang="en-US" altLang="ko-KR" sz="1300" dirty="0">
                <a:solidFill>
                  <a:schemeClr val="tx1"/>
                </a:solidFill>
              </a:endParaRPr>
            </a:p>
            <a:p>
              <a:pPr marL="184150" indent="-1841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1300" dirty="0">
                  <a:solidFill>
                    <a:schemeClr val="tx1"/>
                  </a:solidFill>
                </a:rPr>
                <a:t>모델 학습</a:t>
              </a:r>
              <a:endParaRPr kumimoji="1" lang="en-US" altLang="ko-KR" sz="1300" dirty="0">
                <a:solidFill>
                  <a:schemeClr val="tx1"/>
                </a:solidFill>
              </a:endParaRPr>
            </a:p>
            <a:p>
              <a:pPr marL="184150" indent="-1841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1300" dirty="0">
                  <a:solidFill>
                    <a:schemeClr val="tx1"/>
                  </a:solidFill>
                </a:rPr>
                <a:t>예측 및 평가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837E69C-37C3-E0FD-18F4-948E3D3E8911}"/>
                </a:ext>
              </a:extLst>
            </p:cNvPr>
            <p:cNvSpPr/>
            <p:nvPr/>
          </p:nvSpPr>
          <p:spPr>
            <a:xfrm>
              <a:off x="8658695" y="2782734"/>
              <a:ext cx="1738542" cy="646266"/>
            </a:xfrm>
            <a:prstGeom prst="rect">
              <a:avLst/>
            </a:prstGeom>
            <a:solidFill>
              <a:schemeClr val="bg2"/>
            </a:solidFill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4150" indent="-1841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1300" dirty="0">
                  <a:solidFill>
                    <a:schemeClr val="tx1"/>
                  </a:solidFill>
                </a:rPr>
                <a:t>손실함수 정의</a:t>
              </a:r>
              <a:endParaRPr kumimoji="1" lang="en-US" altLang="ko-KR" sz="1300" dirty="0">
                <a:solidFill>
                  <a:schemeClr val="tx1"/>
                </a:solidFill>
              </a:endParaRPr>
            </a:p>
            <a:p>
              <a:pPr marL="184150" indent="-1841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1300" dirty="0">
                  <a:solidFill>
                    <a:schemeClr val="tx1"/>
                  </a:solidFill>
                </a:rPr>
                <a:t>Optimizer</a:t>
              </a:r>
              <a:r>
                <a:rPr kumimoji="1" lang="ko-KR" altLang="en-US" sz="1300" dirty="0">
                  <a:solidFill>
                    <a:schemeClr val="tx1"/>
                  </a:solidFill>
                </a:rPr>
                <a:t> 정의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80B096B5-F8C5-0158-AE08-56CD0ED35550}"/>
                </a:ext>
              </a:extLst>
            </p:cNvPr>
            <p:cNvSpPr/>
            <p:nvPr/>
          </p:nvSpPr>
          <p:spPr>
            <a:xfrm>
              <a:off x="2389573" y="3503445"/>
              <a:ext cx="8753383" cy="269563"/>
            </a:xfrm>
            <a:prstGeom prst="rect">
              <a:avLst/>
            </a:prstGeom>
            <a:solidFill>
              <a:schemeClr val="bg2"/>
            </a:solidFill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4150" indent="-1841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en-US" altLang="ko-KR" sz="1300" dirty="0">
                  <a:solidFill>
                    <a:schemeClr val="tx1"/>
                  </a:solidFill>
                </a:rPr>
                <a:t>Device </a:t>
              </a:r>
              <a:r>
                <a:rPr kumimoji="1" lang="ko-KR" altLang="en-US" sz="1300" dirty="0">
                  <a:solidFill>
                    <a:schemeClr val="tx1"/>
                  </a:solidFill>
                </a:rPr>
                <a:t>할당</a:t>
              </a:r>
              <a:endParaRPr kumimoji="1" lang="en-US" altLang="ko-KR" sz="1300" dirty="0">
                <a:solidFill>
                  <a:schemeClr val="tx1"/>
                </a:solidFill>
              </a:endParaRPr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344F5792-4948-F877-5659-CB7C23CFDDD4}"/>
                </a:ext>
              </a:extLst>
            </p:cNvPr>
            <p:cNvGrpSpPr/>
            <p:nvPr/>
          </p:nvGrpSpPr>
          <p:grpSpPr>
            <a:xfrm>
              <a:off x="6766264" y="1370289"/>
              <a:ext cx="4145874" cy="325345"/>
              <a:chOff x="2281560" y="1370289"/>
              <a:chExt cx="3639844" cy="325345"/>
            </a:xfrm>
          </p:grpSpPr>
          <p:cxnSp>
            <p:nvCxnSpPr>
              <p:cNvPr id="53" name="직선 연결선[R] 52">
                <a:extLst>
                  <a:ext uri="{FF2B5EF4-FFF2-40B4-BE49-F238E27FC236}">
                    <a16:creationId xmlns:a16="http://schemas.microsoft.com/office/drawing/2014/main" id="{54AB1300-0AD3-74F0-44DE-804FCF82D4C1}"/>
                  </a:ext>
                </a:extLst>
              </p:cNvPr>
              <p:cNvCxnSpPr/>
              <p:nvPr/>
            </p:nvCxnSpPr>
            <p:spPr>
              <a:xfrm>
                <a:off x="2281560" y="1695634"/>
                <a:ext cx="363984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778B421-32D1-9668-E749-3BDB3DAE8575}"/>
                  </a:ext>
                </a:extLst>
              </p:cNvPr>
              <p:cNvSpPr txBox="1"/>
              <p:nvPr/>
            </p:nvSpPr>
            <p:spPr>
              <a:xfrm>
                <a:off x="3080551" y="1370289"/>
                <a:ext cx="1944209" cy="325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kumimoji="1" lang="ko-KR" altLang="en-US" sz="1400" dirty="0"/>
                  <a:t>모델링</a:t>
                </a: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7DCAEF92-629C-C699-A337-B9F71EF83564}"/>
                </a:ext>
              </a:extLst>
            </p:cNvPr>
            <p:cNvGrpSpPr/>
            <p:nvPr/>
          </p:nvGrpSpPr>
          <p:grpSpPr>
            <a:xfrm>
              <a:off x="470517" y="1320983"/>
              <a:ext cx="1509203" cy="583878"/>
              <a:chOff x="2281560" y="1370289"/>
              <a:chExt cx="3639844" cy="583878"/>
            </a:xfrm>
          </p:grpSpPr>
          <p:cxnSp>
            <p:nvCxnSpPr>
              <p:cNvPr id="57" name="직선 연결선[R] 56">
                <a:extLst>
                  <a:ext uri="{FF2B5EF4-FFF2-40B4-BE49-F238E27FC236}">
                    <a16:creationId xmlns:a16="http://schemas.microsoft.com/office/drawing/2014/main" id="{B5E87DE8-819B-6BFC-605B-22F66823DE20}"/>
                  </a:ext>
                </a:extLst>
              </p:cNvPr>
              <p:cNvCxnSpPr/>
              <p:nvPr/>
            </p:nvCxnSpPr>
            <p:spPr>
              <a:xfrm>
                <a:off x="2281560" y="1695634"/>
                <a:ext cx="363984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7D619D6-868F-3E05-A062-3C1FEA4ABAC3}"/>
                  </a:ext>
                </a:extLst>
              </p:cNvPr>
              <p:cNvSpPr txBox="1"/>
              <p:nvPr/>
            </p:nvSpPr>
            <p:spPr>
              <a:xfrm>
                <a:off x="3080549" y="1370289"/>
                <a:ext cx="1944211" cy="583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kumimoji="1" lang="ko-KR" altLang="en-US" sz="1400" dirty="0"/>
                  <a:t>구분</a:t>
                </a:r>
              </a:p>
            </p:txBody>
          </p:sp>
        </p:grpSp>
        <p:cxnSp>
          <p:nvCxnSpPr>
            <p:cNvPr id="60" name="직선 연결선[R] 59">
              <a:extLst>
                <a:ext uri="{FF2B5EF4-FFF2-40B4-BE49-F238E27FC236}">
                  <a16:creationId xmlns:a16="http://schemas.microsoft.com/office/drawing/2014/main" id="{8BD30774-2EA1-ADB3-1382-4D4710AC50CC}"/>
                </a:ext>
              </a:extLst>
            </p:cNvPr>
            <p:cNvCxnSpPr>
              <a:cxnSpLocks/>
            </p:cNvCxnSpPr>
            <p:nvPr/>
          </p:nvCxnSpPr>
          <p:spPr>
            <a:xfrm>
              <a:off x="471997" y="3952039"/>
              <a:ext cx="107774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B0E91E10-4899-721C-9BBF-1181FB696450}"/>
                </a:ext>
              </a:extLst>
            </p:cNvPr>
            <p:cNvCxnSpPr/>
            <p:nvPr/>
          </p:nvCxnSpPr>
          <p:spPr>
            <a:xfrm>
              <a:off x="4500979" y="2112885"/>
              <a:ext cx="252274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DC1239C2-2DA9-EC71-DE1E-F309FC7D217D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>
              <a:off x="4500979" y="3031423"/>
              <a:ext cx="36546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9768AFAB-438A-5924-36B8-31A85B1AA67D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>
              <a:off x="6604988" y="3031423"/>
              <a:ext cx="41873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64630105-CF6A-7951-09C2-8ED5464138B9}"/>
              </a:ext>
            </a:extLst>
          </p:cNvPr>
          <p:cNvSpPr txBox="1"/>
          <p:nvPr/>
        </p:nvSpPr>
        <p:spPr>
          <a:xfrm>
            <a:off x="554116" y="1262863"/>
            <a:ext cx="10463072" cy="110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0513" indent="-290513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기본적인 구조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흐름은 </a:t>
            </a:r>
            <a:r>
              <a:rPr kumimoji="1" lang="ko-KR" altLang="en-US" sz="1400" dirty="0" err="1"/>
              <a:t>머신러닝과</a:t>
            </a:r>
            <a:r>
              <a:rPr kumimoji="1" lang="ko-KR" altLang="en-US" sz="1400" dirty="0"/>
              <a:t> 비슷하나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입력 데이터를 </a:t>
            </a:r>
            <a:r>
              <a:rPr kumimoji="1" lang="en-US" altLang="ko-KR" sz="1400" dirty="0" err="1"/>
              <a:t>Numpy</a:t>
            </a:r>
            <a:r>
              <a:rPr kumimoji="1" lang="en-US" altLang="ko-KR" sz="1400" dirty="0"/>
              <a:t> array</a:t>
            </a:r>
            <a:r>
              <a:rPr kumimoji="1" lang="ko-KR" altLang="en-US" sz="1400" dirty="0"/>
              <a:t>가 아닌 </a:t>
            </a:r>
            <a:r>
              <a:rPr kumimoji="1" lang="en-US" altLang="ko-KR" sz="1400" dirty="0"/>
              <a:t>Tensor</a:t>
            </a:r>
            <a:r>
              <a:rPr kumimoji="1" lang="ko-KR" altLang="en-US" sz="1400" dirty="0"/>
              <a:t>로 변환하고</a:t>
            </a:r>
            <a:r>
              <a:rPr kumimoji="1" lang="en-US" altLang="ko-KR" sz="1400" dirty="0"/>
              <a:t>, </a:t>
            </a:r>
            <a:br>
              <a:rPr kumimoji="1" lang="en-US" altLang="ko-KR" sz="1400" dirty="0"/>
            </a:br>
            <a:r>
              <a:rPr kumimoji="1" lang="ko-KR" altLang="en-US" sz="1400" dirty="0"/>
              <a:t>대량의 데이터를 효율적으로 학습하기 위해 </a:t>
            </a:r>
            <a:r>
              <a:rPr kumimoji="1" lang="en-US" altLang="ko-KR" sz="1400" dirty="0"/>
              <a:t>Mini Batch</a:t>
            </a:r>
            <a:r>
              <a:rPr kumimoji="1" lang="ko-KR" altLang="en-US" sz="1400" dirty="0" err="1"/>
              <a:t>를</a:t>
            </a:r>
            <a:r>
              <a:rPr kumimoji="1" lang="ko-KR" altLang="en-US" sz="1400" dirty="0"/>
              <a:t> 사용하는 데이터 공급기를 구성하는 것이 일반적 </a:t>
            </a:r>
            <a:endParaRPr kumimoji="1" lang="en-US" altLang="ko-KR" sz="1400" dirty="0"/>
          </a:p>
          <a:p>
            <a:pPr marL="290513" indent="-290513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모델링 단계에서는 신경망의 깊이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손실함수</a:t>
            </a:r>
            <a:r>
              <a:rPr kumimoji="1" lang="en-US" altLang="ko-KR" sz="1400" dirty="0"/>
              <a:t>, Optimizer </a:t>
            </a:r>
            <a:r>
              <a:rPr kumimoji="1" lang="ko-KR" altLang="en-US" sz="1400" dirty="0"/>
              <a:t>등 각종 함수와 파라미터들을 사용자가 직접 설정할 수 있다</a:t>
            </a:r>
            <a:r>
              <a:rPr kumimoji="1" lang="en-US" altLang="ko-KR" sz="1400" dirty="0"/>
              <a:t>. </a:t>
            </a:r>
          </a:p>
          <a:p>
            <a:pPr marL="290513" indent="-290513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또한 빠른 학습을 위해 </a:t>
            </a:r>
            <a:r>
              <a:rPr kumimoji="1" lang="en-US" altLang="ko-KR" sz="1400" dirty="0"/>
              <a:t>GPU </a:t>
            </a:r>
            <a:r>
              <a:rPr kumimoji="1" lang="ko-KR" altLang="en-US" sz="1400" dirty="0"/>
              <a:t>사용여부를 지정할 수 있다</a:t>
            </a:r>
            <a:r>
              <a:rPr kumimoji="1" lang="en-US" altLang="ko-KR" sz="1400" dirty="0"/>
              <a:t>. </a:t>
            </a:r>
            <a:endParaRPr kumimoji="1" lang="ko-KR" altLang="en-US" sz="14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83908B5-2664-5ADF-E68C-2F9AB32F47A4}"/>
              </a:ext>
            </a:extLst>
          </p:cNvPr>
          <p:cNvSpPr txBox="1"/>
          <p:nvPr/>
        </p:nvSpPr>
        <p:spPr>
          <a:xfrm>
            <a:off x="554116" y="5672831"/>
            <a:ext cx="9743981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※ [</a:t>
            </a:r>
            <a:r>
              <a:rPr kumimoji="1" lang="ko-KR" altLang="en-US" sz="1400" i="1" dirty="0"/>
              <a:t>실습</a:t>
            </a:r>
            <a:r>
              <a:rPr kumimoji="1" lang="en-US" altLang="ko-KR" sz="1400" i="1" dirty="0"/>
              <a:t>] </a:t>
            </a:r>
            <a:r>
              <a:rPr kumimoji="1" lang="ko-KR" altLang="en-US" sz="1400" i="1" dirty="0"/>
              <a:t>앞서 </a:t>
            </a:r>
            <a:r>
              <a:rPr kumimoji="1" lang="ko-KR" altLang="en-US" sz="1400" i="1" dirty="0" err="1"/>
              <a:t>머신러닝에서</a:t>
            </a:r>
            <a:r>
              <a:rPr kumimoji="1" lang="ko-KR" altLang="en-US" sz="1400" i="1" dirty="0"/>
              <a:t> 진행했던 </a:t>
            </a:r>
            <a:r>
              <a:rPr kumimoji="1" lang="en-US" altLang="ko-KR" sz="1400" i="1" dirty="0"/>
              <a:t>“</a:t>
            </a:r>
            <a:r>
              <a:rPr kumimoji="1" lang="ko-KR" altLang="en-US" sz="1400" i="1" dirty="0"/>
              <a:t>광고비에 따른 매출액 예측</a:t>
            </a:r>
            <a:r>
              <a:rPr kumimoji="1" lang="en-US" altLang="ko-KR" sz="1400" i="1" dirty="0"/>
              <a:t>” </a:t>
            </a:r>
            <a:r>
              <a:rPr kumimoji="1" lang="ko-KR" altLang="en-US" sz="1400" i="1" dirty="0"/>
              <a:t>문제를 </a:t>
            </a:r>
            <a:r>
              <a:rPr kumimoji="1" lang="ko-KR" altLang="en-US" sz="1400" i="1" dirty="0" err="1"/>
              <a:t>파이토치</a:t>
            </a:r>
            <a:r>
              <a:rPr kumimoji="1" lang="ko-KR" altLang="en-US" sz="1400" i="1" dirty="0"/>
              <a:t> 딥러닝 모델로 개발하기 </a:t>
            </a:r>
          </a:p>
        </p:txBody>
      </p:sp>
    </p:spTree>
    <p:extLst>
      <p:ext uri="{BB962C8B-B14F-4D97-AF65-F5344CB8AC3E}">
        <p14:creationId xmlns:p14="http://schemas.microsoft.com/office/powerpoint/2010/main" val="335016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11C220-3FB8-9A70-BED9-DE5B1DB6C438}"/>
              </a:ext>
            </a:extLst>
          </p:cNvPr>
          <p:cNvSpPr txBox="1"/>
          <p:nvPr/>
        </p:nvSpPr>
        <p:spPr>
          <a:xfrm>
            <a:off x="8975325" y="345053"/>
            <a:ext cx="292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055B81E-8FDA-2690-DC75-029FE9C6F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568" y="1584418"/>
            <a:ext cx="6743700" cy="2641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4A7E35-87DC-53D6-2AD5-5FEC90FED5D6}"/>
              </a:ext>
            </a:extLst>
          </p:cNvPr>
          <p:cNvSpPr txBox="1"/>
          <p:nvPr/>
        </p:nvSpPr>
        <p:spPr>
          <a:xfrm>
            <a:off x="292963" y="816746"/>
            <a:ext cx="4065973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※ </a:t>
            </a:r>
            <a:r>
              <a:rPr kumimoji="1" lang="ko-KR" altLang="en-US" sz="1400" dirty="0"/>
              <a:t>주요 코드 변경 부분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7A8E9C-7E4D-11D0-D077-654DD06B2B0D}"/>
              </a:ext>
            </a:extLst>
          </p:cNvPr>
          <p:cNvSpPr txBox="1"/>
          <p:nvPr/>
        </p:nvSpPr>
        <p:spPr>
          <a:xfrm>
            <a:off x="523782" y="1218338"/>
            <a:ext cx="3355760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① </a:t>
            </a:r>
            <a:r>
              <a:rPr kumimoji="1" lang="ko-KR" altLang="en-US" sz="1400" dirty="0" err="1"/>
              <a:t>파이토치</a:t>
            </a:r>
            <a:r>
              <a:rPr kumimoji="1" lang="ko-KR" altLang="en-US" sz="1400" dirty="0"/>
              <a:t> 라이브러리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디바이스 할당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210F810-192F-FF9D-0D65-33E420879204}"/>
              </a:ext>
            </a:extLst>
          </p:cNvPr>
          <p:cNvCxnSpPr/>
          <p:nvPr/>
        </p:nvCxnSpPr>
        <p:spPr>
          <a:xfrm>
            <a:off x="3258105" y="2254929"/>
            <a:ext cx="42257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A6EC5F7-00E6-45AF-6708-FDBEBB3C6962}"/>
              </a:ext>
            </a:extLst>
          </p:cNvPr>
          <p:cNvSpPr txBox="1"/>
          <p:nvPr/>
        </p:nvSpPr>
        <p:spPr>
          <a:xfrm>
            <a:off x="7483876" y="2047866"/>
            <a:ext cx="2663301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400" i="1" dirty="0"/>
              <a:t>신경망 구성을 위한 패키지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EFBA2F5-5BC1-BA9F-2097-40CEFBBA1F23}"/>
              </a:ext>
            </a:extLst>
          </p:cNvPr>
          <p:cNvCxnSpPr>
            <a:cxnSpLocks/>
          </p:cNvCxnSpPr>
          <p:nvPr/>
        </p:nvCxnSpPr>
        <p:spPr>
          <a:xfrm>
            <a:off x="3738979" y="2478351"/>
            <a:ext cx="37448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BB85C16-61DA-0383-BAE9-23F431B539A6}"/>
              </a:ext>
            </a:extLst>
          </p:cNvPr>
          <p:cNvSpPr txBox="1"/>
          <p:nvPr/>
        </p:nvSpPr>
        <p:spPr>
          <a:xfrm>
            <a:off x="7467599" y="2324555"/>
            <a:ext cx="2663301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Optimizer </a:t>
            </a:r>
            <a:endParaRPr kumimoji="1" lang="ko-KR" altLang="en-US" sz="1400" i="1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7AB6B69-754E-9CD1-7ACD-73970315D515}"/>
              </a:ext>
            </a:extLst>
          </p:cNvPr>
          <p:cNvCxnSpPr>
            <a:cxnSpLocks/>
          </p:cNvCxnSpPr>
          <p:nvPr/>
        </p:nvCxnSpPr>
        <p:spPr>
          <a:xfrm>
            <a:off x="6249880" y="2737286"/>
            <a:ext cx="12265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9304019-625F-A031-C744-29F9D431EB93}"/>
              </a:ext>
            </a:extLst>
          </p:cNvPr>
          <p:cNvSpPr txBox="1"/>
          <p:nvPr/>
        </p:nvSpPr>
        <p:spPr>
          <a:xfrm>
            <a:off x="7460201" y="2583490"/>
            <a:ext cx="3744897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400" i="1" dirty="0" err="1"/>
              <a:t>텐서</a:t>
            </a:r>
            <a:r>
              <a:rPr kumimoji="1" lang="ko-KR" altLang="en-US" sz="1400" i="1" dirty="0"/>
              <a:t> 변환</a:t>
            </a:r>
            <a:r>
              <a:rPr kumimoji="1" lang="en-US" altLang="ko-KR" sz="1400" i="1" dirty="0"/>
              <a:t>, </a:t>
            </a:r>
            <a:r>
              <a:rPr kumimoji="1" lang="ko-KR" altLang="en-US" sz="1400" i="1" dirty="0"/>
              <a:t>미니배치 데이터 공급기 구성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4CE54DE-D40E-826C-F1D9-64968F19DEE0}"/>
              </a:ext>
            </a:extLst>
          </p:cNvPr>
          <p:cNvCxnSpPr>
            <a:cxnSpLocks/>
          </p:cNvCxnSpPr>
          <p:nvPr/>
        </p:nvCxnSpPr>
        <p:spPr>
          <a:xfrm>
            <a:off x="4048217" y="3527394"/>
            <a:ext cx="349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527FBD4-6D09-2B2F-6237-F66E80A159DC}"/>
              </a:ext>
            </a:extLst>
          </p:cNvPr>
          <p:cNvSpPr txBox="1"/>
          <p:nvPr/>
        </p:nvSpPr>
        <p:spPr>
          <a:xfrm>
            <a:off x="7522343" y="3373598"/>
            <a:ext cx="4298089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GPU </a:t>
            </a:r>
            <a:r>
              <a:rPr kumimoji="1" lang="ko-KR" altLang="en-US" sz="1400" i="1" dirty="0"/>
              <a:t>사용이 가능하면 </a:t>
            </a:r>
            <a:r>
              <a:rPr kumimoji="1" lang="en-US" altLang="ko-KR" sz="1400" i="1" dirty="0"/>
              <a:t>device = ‘</a:t>
            </a:r>
            <a:r>
              <a:rPr kumimoji="1" lang="en-US" altLang="ko-KR" sz="1400" i="1" dirty="0" err="1"/>
              <a:t>cuda</a:t>
            </a:r>
            <a:r>
              <a:rPr kumimoji="1" lang="en-US" altLang="ko-KR" sz="1400" i="1" dirty="0"/>
              <a:t>’</a:t>
            </a:r>
            <a:r>
              <a:rPr kumimoji="1" lang="ko-KR" altLang="en-US" sz="1400" i="1" dirty="0"/>
              <a:t>로 설정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2A744D-A8F1-309F-7D28-C67F43B0B37B}"/>
              </a:ext>
            </a:extLst>
          </p:cNvPr>
          <p:cNvSpPr txBox="1"/>
          <p:nvPr/>
        </p:nvSpPr>
        <p:spPr>
          <a:xfrm>
            <a:off x="7506067" y="3774574"/>
            <a:ext cx="4298089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GPU </a:t>
            </a:r>
            <a:r>
              <a:rPr kumimoji="1" lang="ko-KR" altLang="en-US" sz="1400" i="1" dirty="0"/>
              <a:t>사용 가능 여부에 따라 자동 선택 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E2965348-94E5-3E9D-5FD6-F4835040F342}"/>
              </a:ext>
            </a:extLst>
          </p:cNvPr>
          <p:cNvCxnSpPr>
            <a:cxnSpLocks/>
          </p:cNvCxnSpPr>
          <p:nvPr/>
        </p:nvCxnSpPr>
        <p:spPr>
          <a:xfrm>
            <a:off x="4048217" y="3972757"/>
            <a:ext cx="34904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263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5EDB538-9A26-24C9-C10D-6F54100A8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67" y="1275104"/>
            <a:ext cx="7772400" cy="37573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CBCE55-4DEA-F70F-F8FD-4F8797E5A5C0}"/>
              </a:ext>
            </a:extLst>
          </p:cNvPr>
          <p:cNvSpPr txBox="1"/>
          <p:nvPr/>
        </p:nvSpPr>
        <p:spPr>
          <a:xfrm>
            <a:off x="479394" y="863232"/>
            <a:ext cx="3355760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② </a:t>
            </a:r>
            <a:r>
              <a:rPr kumimoji="1" lang="ko-KR" altLang="en-US" sz="1400" dirty="0"/>
              <a:t>모델 입력을 위한 데이터 </a:t>
            </a:r>
            <a:r>
              <a:rPr kumimoji="1" lang="ko-KR" altLang="en-US" sz="1400" dirty="0" err="1"/>
              <a:t>전처리</a:t>
            </a:r>
            <a:endParaRPr kumimoji="1" lang="ko-KR" altLang="en-US" sz="1400" dirty="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619E116A-DCEC-2408-BB89-35269EF5688B}"/>
              </a:ext>
            </a:extLst>
          </p:cNvPr>
          <p:cNvCxnSpPr>
            <a:cxnSpLocks/>
          </p:cNvCxnSpPr>
          <p:nvPr/>
        </p:nvCxnSpPr>
        <p:spPr>
          <a:xfrm>
            <a:off x="7146525" y="2311158"/>
            <a:ext cx="12265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CE0C3CB-85BF-707F-C9A5-452F23FC2C90}"/>
              </a:ext>
            </a:extLst>
          </p:cNvPr>
          <p:cNvSpPr txBox="1"/>
          <p:nvPr/>
        </p:nvSpPr>
        <p:spPr>
          <a:xfrm>
            <a:off x="8383481" y="2157362"/>
            <a:ext cx="2722486" cy="58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X</a:t>
            </a:r>
            <a:r>
              <a:rPr kumimoji="1" lang="ko-KR" altLang="en-US" sz="1400" i="1" dirty="0"/>
              <a:t>는 </a:t>
            </a:r>
            <a:r>
              <a:rPr kumimoji="1" lang="ko-KR" altLang="en-US" sz="1400" i="1" dirty="0" err="1"/>
              <a:t>텐서</a:t>
            </a:r>
            <a:r>
              <a:rPr kumimoji="1" lang="ko-KR" altLang="en-US" sz="1400" i="1" dirty="0"/>
              <a:t> 벡터</a:t>
            </a:r>
            <a:r>
              <a:rPr kumimoji="1" lang="en-US" altLang="ko-KR" sz="1400" i="1" dirty="0"/>
              <a:t>(</a:t>
            </a:r>
            <a:r>
              <a:rPr kumimoji="1" lang="ko-KR" altLang="en-US" sz="1400" i="1" dirty="0"/>
              <a:t>행렬</a:t>
            </a:r>
            <a:r>
              <a:rPr kumimoji="1" lang="en-US" altLang="ko-KR" sz="1400" i="1" dirty="0"/>
              <a:t>)</a:t>
            </a:r>
            <a:r>
              <a:rPr kumimoji="1" lang="ko-KR" altLang="en-US" sz="1400" i="1" dirty="0"/>
              <a:t>로</a:t>
            </a:r>
            <a:r>
              <a:rPr kumimoji="1" lang="en-US" altLang="ko-KR" sz="1400" i="1" dirty="0"/>
              <a:t>, </a:t>
            </a:r>
          </a:p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y</a:t>
            </a:r>
            <a:r>
              <a:rPr kumimoji="1" lang="ko-KR" altLang="en-US" sz="1400" i="1" dirty="0"/>
              <a:t>는 </a:t>
            </a:r>
            <a:r>
              <a:rPr kumimoji="1" lang="ko-KR" altLang="en-US" sz="1400" i="1" dirty="0" err="1"/>
              <a:t>텐서</a:t>
            </a:r>
            <a:r>
              <a:rPr kumimoji="1" lang="ko-KR" altLang="en-US" sz="1400" i="1" dirty="0"/>
              <a:t> 열 벡터로 변환 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8FC3773-2DE3-829C-ECA9-1B3A66654996}"/>
              </a:ext>
            </a:extLst>
          </p:cNvPr>
          <p:cNvCxnSpPr>
            <a:cxnSpLocks/>
          </p:cNvCxnSpPr>
          <p:nvPr/>
        </p:nvCxnSpPr>
        <p:spPr>
          <a:xfrm>
            <a:off x="7146525" y="4407768"/>
            <a:ext cx="12265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E8A6132-A289-3D9F-0A9C-FEF345C65C50}"/>
              </a:ext>
            </a:extLst>
          </p:cNvPr>
          <p:cNvSpPr txBox="1"/>
          <p:nvPr/>
        </p:nvSpPr>
        <p:spPr>
          <a:xfrm>
            <a:off x="8383481" y="4253972"/>
            <a:ext cx="2722486" cy="58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400" i="1" dirty="0"/>
              <a:t>학습 데이터를 </a:t>
            </a:r>
            <a:r>
              <a:rPr kumimoji="1" lang="en-US" altLang="ko-KR" sz="1400" i="1" dirty="0"/>
              <a:t>32 mini batch</a:t>
            </a:r>
            <a:r>
              <a:rPr kumimoji="1" lang="ko-KR" altLang="en-US" sz="1400" i="1" dirty="0"/>
              <a:t>로 </a:t>
            </a:r>
            <a:endParaRPr kumimoji="1" lang="en-US" altLang="ko-KR" sz="1400" i="1" dirty="0"/>
          </a:p>
          <a:p>
            <a:pPr algn="l">
              <a:lnSpc>
                <a:spcPct val="120000"/>
              </a:lnSpc>
            </a:pPr>
            <a:r>
              <a:rPr kumimoji="1" lang="ko-KR" altLang="en-US" sz="1400" i="1" dirty="0"/>
              <a:t>공급하도록 설정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6E32B1-4A06-3558-2F72-7A7C792AAE2C}"/>
              </a:ext>
            </a:extLst>
          </p:cNvPr>
          <p:cNvSpPr txBox="1"/>
          <p:nvPr/>
        </p:nvSpPr>
        <p:spPr>
          <a:xfrm>
            <a:off x="8975325" y="345053"/>
            <a:ext cx="292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74513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90CD33-3280-3859-ADBC-A83A0A2C7970}"/>
              </a:ext>
            </a:extLst>
          </p:cNvPr>
          <p:cNvSpPr txBox="1"/>
          <p:nvPr/>
        </p:nvSpPr>
        <p:spPr>
          <a:xfrm>
            <a:off x="8975325" y="345053"/>
            <a:ext cx="292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29FC50-884F-6D36-815F-94F939859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23" y="1327932"/>
            <a:ext cx="7772400" cy="25331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6F80B9-1A9F-4287-68DB-2D843512D2FA}"/>
              </a:ext>
            </a:extLst>
          </p:cNvPr>
          <p:cNvSpPr txBox="1"/>
          <p:nvPr/>
        </p:nvSpPr>
        <p:spPr>
          <a:xfrm>
            <a:off x="479394" y="863232"/>
            <a:ext cx="4731798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③ </a:t>
            </a:r>
            <a:r>
              <a:rPr kumimoji="1" lang="ko-KR" altLang="en-US" sz="1400" dirty="0"/>
              <a:t>모델 정의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손실함수 및 </a:t>
            </a:r>
            <a:r>
              <a:rPr kumimoji="1" lang="en-US" altLang="ko-KR" sz="1400" dirty="0"/>
              <a:t>optimizer </a:t>
            </a:r>
            <a:r>
              <a:rPr kumimoji="1" lang="ko-KR" altLang="en-US" sz="1400" dirty="0"/>
              <a:t>설정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9E4AB7E-340B-FAAF-CFBB-DC514F3EA67F}"/>
              </a:ext>
            </a:extLst>
          </p:cNvPr>
          <p:cNvCxnSpPr>
            <a:cxnSpLocks/>
          </p:cNvCxnSpPr>
          <p:nvPr/>
        </p:nvCxnSpPr>
        <p:spPr>
          <a:xfrm>
            <a:off x="7146525" y="2311158"/>
            <a:ext cx="12265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50F8079-BC7A-96F1-02B9-7F30EE443708}"/>
              </a:ext>
            </a:extLst>
          </p:cNvPr>
          <p:cNvSpPr txBox="1"/>
          <p:nvPr/>
        </p:nvSpPr>
        <p:spPr>
          <a:xfrm>
            <a:off x="8383481" y="2157362"/>
            <a:ext cx="2722486" cy="84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400" i="1" dirty="0"/>
              <a:t>신경망의 개수</a:t>
            </a:r>
            <a:r>
              <a:rPr kumimoji="1" lang="en-US" altLang="ko-KR" sz="1400" i="1" dirty="0"/>
              <a:t>, </a:t>
            </a:r>
            <a:r>
              <a:rPr kumimoji="1" lang="ko-KR" altLang="en-US" sz="1400" i="1" dirty="0"/>
              <a:t>각 신경망에 사용할 모델</a:t>
            </a:r>
            <a:r>
              <a:rPr kumimoji="1" lang="en-US" altLang="ko-KR" sz="1400" i="1" dirty="0"/>
              <a:t>, </a:t>
            </a:r>
            <a:r>
              <a:rPr kumimoji="1" lang="ko-KR" altLang="en-US" sz="1400" i="1" dirty="0"/>
              <a:t>입력 데이터의 차원 설정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9BCE927-3F6C-A9D2-3B0F-9C237C9B1DB3}"/>
              </a:ext>
            </a:extLst>
          </p:cNvPr>
          <p:cNvCxnSpPr>
            <a:cxnSpLocks/>
          </p:cNvCxnSpPr>
          <p:nvPr/>
        </p:nvCxnSpPr>
        <p:spPr>
          <a:xfrm>
            <a:off x="7146525" y="3518521"/>
            <a:ext cx="12265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9FB42D0-CD27-0394-37CA-9CBDF39CD96F}"/>
              </a:ext>
            </a:extLst>
          </p:cNvPr>
          <p:cNvSpPr txBox="1"/>
          <p:nvPr/>
        </p:nvSpPr>
        <p:spPr>
          <a:xfrm>
            <a:off x="8383481" y="3364725"/>
            <a:ext cx="2722486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400" i="1" dirty="0"/>
              <a:t>손실함수</a:t>
            </a:r>
            <a:r>
              <a:rPr kumimoji="1" lang="en-US" altLang="ko-KR" sz="1400" i="1" dirty="0"/>
              <a:t>, optimizer, </a:t>
            </a:r>
            <a:r>
              <a:rPr kumimoji="1" lang="ko-KR" altLang="en-US" sz="1400" i="1" dirty="0" err="1"/>
              <a:t>학습률</a:t>
            </a:r>
            <a:r>
              <a:rPr kumimoji="1" lang="ko-KR" altLang="en-US" sz="14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74428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376ABD-96C6-6B6F-4526-310D256EA4E3}"/>
              </a:ext>
            </a:extLst>
          </p:cNvPr>
          <p:cNvSpPr txBox="1"/>
          <p:nvPr/>
        </p:nvSpPr>
        <p:spPr>
          <a:xfrm>
            <a:off x="8975325" y="345053"/>
            <a:ext cx="292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3E941-79F9-7869-437F-D3D88738DD41}"/>
              </a:ext>
            </a:extLst>
          </p:cNvPr>
          <p:cNvSpPr txBox="1"/>
          <p:nvPr/>
        </p:nvSpPr>
        <p:spPr>
          <a:xfrm>
            <a:off x="479394" y="863232"/>
            <a:ext cx="4731798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④</a:t>
            </a:r>
            <a:r>
              <a:rPr kumimoji="1" lang="ko-KR" altLang="en-US" sz="1400" dirty="0"/>
              <a:t> 학습방법 정의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E74623-AA8E-31DF-6859-7E3F01DA5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05" y="1251751"/>
            <a:ext cx="5516396" cy="5428695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E8B15E9B-DCE0-EA15-A4DB-D0C1FBA3DBEC}"/>
              </a:ext>
            </a:extLst>
          </p:cNvPr>
          <p:cNvCxnSpPr>
            <a:cxnSpLocks/>
          </p:cNvCxnSpPr>
          <p:nvPr/>
        </p:nvCxnSpPr>
        <p:spPr>
          <a:xfrm>
            <a:off x="5663955" y="2692898"/>
            <a:ext cx="12265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817B94E-A797-E8BB-9C2F-72D004D39969}"/>
              </a:ext>
            </a:extLst>
          </p:cNvPr>
          <p:cNvSpPr txBox="1"/>
          <p:nvPr/>
        </p:nvSpPr>
        <p:spPr>
          <a:xfrm>
            <a:off x="6900910" y="2539102"/>
            <a:ext cx="4560162" cy="1359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400" i="1" dirty="0" err="1"/>
              <a:t>머신러닝</a:t>
            </a:r>
            <a:r>
              <a:rPr kumimoji="1" lang="en-US" altLang="ko-KR" sz="1400" i="1" dirty="0"/>
              <a:t>, </a:t>
            </a:r>
            <a:r>
              <a:rPr kumimoji="1" lang="en-US" altLang="ko-KR" sz="1400" i="1" dirty="0" err="1"/>
              <a:t>Keras</a:t>
            </a:r>
            <a:r>
              <a:rPr kumimoji="1" lang="en-US" altLang="ko-KR" sz="1400" i="1" dirty="0"/>
              <a:t> </a:t>
            </a:r>
            <a:r>
              <a:rPr kumimoji="1" lang="ko-KR" altLang="en-US" sz="1400" i="1" dirty="0" err="1"/>
              <a:t>딥러닝과</a:t>
            </a:r>
            <a:r>
              <a:rPr kumimoji="1" lang="ko-KR" altLang="en-US" sz="1400" i="1" dirty="0"/>
              <a:t> 달리 </a:t>
            </a:r>
            <a:endParaRPr kumimoji="1" lang="en-US" altLang="ko-KR" sz="1400" i="1" dirty="0"/>
          </a:p>
          <a:p>
            <a:pPr algn="l">
              <a:lnSpc>
                <a:spcPct val="120000"/>
              </a:lnSpc>
            </a:pPr>
            <a:r>
              <a:rPr kumimoji="1" lang="ko-KR" altLang="en-US" sz="1400" i="1" dirty="0"/>
              <a:t>학습방법을 함수로써 직접 구성한다</a:t>
            </a:r>
            <a:r>
              <a:rPr kumimoji="1" lang="en-US" altLang="ko-KR" sz="1400" i="1" dirty="0"/>
              <a:t>. </a:t>
            </a:r>
          </a:p>
          <a:p>
            <a:pPr algn="l">
              <a:lnSpc>
                <a:spcPct val="120000"/>
              </a:lnSpc>
            </a:pPr>
            <a:endParaRPr kumimoji="1" lang="en-US" altLang="ko-KR" sz="1400" i="1" dirty="0"/>
          </a:p>
          <a:p>
            <a:pPr algn="l">
              <a:lnSpc>
                <a:spcPct val="120000"/>
              </a:lnSpc>
            </a:pPr>
            <a:r>
              <a:rPr kumimoji="1" lang="ko-KR" altLang="en-US" sz="1400" i="1" dirty="0"/>
              <a:t>신경망의 </a:t>
            </a:r>
            <a:r>
              <a:rPr kumimoji="1" lang="ko-KR" altLang="en-US" sz="1400" i="1" dirty="0" err="1"/>
              <a:t>순전파</a:t>
            </a:r>
            <a:r>
              <a:rPr kumimoji="1" lang="en-US" altLang="ko-KR" sz="1400" i="1" dirty="0"/>
              <a:t>, </a:t>
            </a:r>
            <a:r>
              <a:rPr kumimoji="1" lang="ko-KR" altLang="en-US" sz="1400" i="1" dirty="0" err="1"/>
              <a:t>역전파</a:t>
            </a:r>
            <a:r>
              <a:rPr kumimoji="1" lang="en-US" altLang="ko-KR" sz="1400" i="1" dirty="0"/>
              <a:t>, </a:t>
            </a:r>
            <a:r>
              <a:rPr kumimoji="1" lang="ko-KR" altLang="en-US" sz="1400" i="1" dirty="0"/>
              <a:t>가중치 업데이트 등을 </a:t>
            </a:r>
            <a:endParaRPr kumimoji="1" lang="en-US" altLang="ko-KR" sz="1400" i="1" dirty="0"/>
          </a:p>
          <a:p>
            <a:pPr algn="l">
              <a:lnSpc>
                <a:spcPct val="120000"/>
              </a:lnSpc>
            </a:pPr>
            <a:r>
              <a:rPr kumimoji="1" lang="ko-KR" altLang="en-US" sz="1400" i="1" dirty="0"/>
              <a:t>모두 사용자가 지정할 수 있다</a:t>
            </a:r>
            <a:r>
              <a:rPr kumimoji="1" lang="en-US" altLang="ko-KR" sz="1400" i="1" dirty="0"/>
              <a:t>. </a:t>
            </a:r>
            <a:endParaRPr kumimoji="1" lang="ko-KR" alt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739801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1D45F7-3F7D-0807-8B1E-82E45F002A75}"/>
              </a:ext>
            </a:extLst>
          </p:cNvPr>
          <p:cNvSpPr txBox="1"/>
          <p:nvPr/>
        </p:nvSpPr>
        <p:spPr>
          <a:xfrm>
            <a:off x="8975325" y="345053"/>
            <a:ext cx="2920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65744B-C7B0-F295-A93D-7BFB96E5A334}"/>
              </a:ext>
            </a:extLst>
          </p:cNvPr>
          <p:cNvSpPr txBox="1"/>
          <p:nvPr/>
        </p:nvSpPr>
        <p:spPr>
          <a:xfrm>
            <a:off x="266330" y="870012"/>
            <a:ext cx="5829670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b="1" dirty="0"/>
              <a:t>※ </a:t>
            </a:r>
            <a:r>
              <a:rPr kumimoji="1" lang="en-US" altLang="ko-KR" sz="1400" b="1" dirty="0" err="1"/>
              <a:t>Keras</a:t>
            </a:r>
            <a:r>
              <a:rPr kumimoji="1" lang="en-US" altLang="ko-KR" sz="1400" b="1" dirty="0"/>
              <a:t> vs. </a:t>
            </a:r>
            <a:r>
              <a:rPr kumimoji="1" lang="en-US" altLang="ko-KR" sz="1400" b="1" dirty="0" err="1"/>
              <a:t>Pytorch</a:t>
            </a:r>
            <a:r>
              <a:rPr kumimoji="1" lang="en-US" altLang="ko-KR" sz="1400" b="1" dirty="0"/>
              <a:t> </a:t>
            </a:r>
            <a:endParaRPr kumimoji="1" lang="ko-KR" altLang="en-US" sz="1400"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FF87B91-4998-92CD-C8B1-F9F0CD1E2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961954"/>
              </p:ext>
            </p:extLst>
          </p:nvPr>
        </p:nvGraphicFramePr>
        <p:xfrm>
          <a:off x="266329" y="1341103"/>
          <a:ext cx="11532094" cy="4247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6047">
                  <a:extLst>
                    <a:ext uri="{9D8B030D-6E8A-4147-A177-3AD203B41FA5}">
                      <a16:colId xmlns:a16="http://schemas.microsoft.com/office/drawing/2014/main" val="3628518901"/>
                    </a:ext>
                  </a:extLst>
                </a:gridCol>
                <a:gridCol w="5766047">
                  <a:extLst>
                    <a:ext uri="{9D8B030D-6E8A-4147-A177-3AD203B41FA5}">
                      <a16:colId xmlns:a16="http://schemas.microsoft.com/office/drawing/2014/main" val="16799806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err="1">
                          <a:solidFill>
                            <a:schemeClr val="tx1"/>
                          </a:solidFill>
                        </a:rPr>
                        <a:t>Keras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err="1">
                          <a:solidFill>
                            <a:schemeClr val="tx1"/>
                          </a:solidFill>
                        </a:rPr>
                        <a:t>Pytorch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441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565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코드가 짧고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직관적임 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optimizer,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손실함수를 내부에서 처리 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fit()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함수로 간편하게 모델 학습 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device(</a:t>
                      </a:r>
                      <a:r>
                        <a:rPr lang="en-US" altLang="ko-KR" sz="1400" b="1" dirty="0" err="1">
                          <a:solidFill>
                            <a:schemeClr val="tx1"/>
                          </a:solidFill>
                        </a:rPr>
                        <a:t>cpu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altLang="ko-KR" sz="1400" b="1" dirty="0" err="1">
                          <a:solidFill>
                            <a:schemeClr val="tx1"/>
                          </a:solidFill>
                        </a:rPr>
                        <a:t>gpu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자동 감지 </a:t>
                      </a:r>
                      <a:br>
                        <a:rPr lang="en-US" altLang="ko-KR" sz="14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b="1" dirty="0">
                          <a:solidFill>
                            <a:schemeClr val="accent1"/>
                          </a:solidFill>
                          <a:sym typeface="Wingdings" pitchFamily="2" charset="2"/>
                        </a:rPr>
                        <a:t> </a:t>
                      </a:r>
                      <a:r>
                        <a:rPr lang="ko-KR" altLang="en-US" sz="1400" b="1" dirty="0">
                          <a:solidFill>
                            <a:schemeClr val="accent1"/>
                          </a:solidFill>
                          <a:sym typeface="Wingdings" pitchFamily="2" charset="2"/>
                        </a:rPr>
                        <a:t>쉬운 접근과 활용에 중점 </a:t>
                      </a:r>
                      <a:endParaRPr lang="ko-KR" altLang="en-US" sz="14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상대적으로 어렵고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코드도 길다 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device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를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 직접 할당해 주어야 한다 </a:t>
                      </a:r>
                      <a:endParaRPr lang="en-US" altLang="ko-KR" sz="1400" b="1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Wingdings" pitchFamily="2" charset="2"/>
                        <a:buChar char="ü"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거의 모든 부분을 사용자가 자유롭게 변경 가능하다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 </a:t>
                      </a:r>
                      <a:br>
                        <a:rPr lang="en-US" altLang="ko-KR" sz="14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b="1" dirty="0">
                          <a:solidFill>
                            <a:schemeClr val="accent1"/>
                          </a:solidFill>
                          <a:sym typeface="Wingdings" pitchFamily="2" charset="2"/>
                        </a:rPr>
                        <a:t> </a:t>
                      </a:r>
                      <a:r>
                        <a:rPr lang="ko-KR" altLang="en-US" sz="1400" b="1" dirty="0">
                          <a:solidFill>
                            <a:schemeClr val="accent1"/>
                          </a:solidFill>
                          <a:sym typeface="Wingdings" pitchFamily="2" charset="2"/>
                        </a:rPr>
                        <a:t>전문가를 위한 </a:t>
                      </a:r>
                      <a:r>
                        <a:rPr lang="en-US" altLang="ko-KR" sz="1400" b="1" dirty="0">
                          <a:solidFill>
                            <a:schemeClr val="accent1"/>
                          </a:solidFill>
                          <a:sym typeface="Wingdings" pitchFamily="2" charset="2"/>
                        </a:rPr>
                        <a:t>customizing </a:t>
                      </a:r>
                      <a:r>
                        <a:rPr lang="ko-KR" altLang="en-US" sz="1400" b="1" dirty="0">
                          <a:solidFill>
                            <a:schemeClr val="accent1"/>
                          </a:solidFill>
                          <a:sym typeface="Wingdings" pitchFamily="2" charset="2"/>
                        </a:rPr>
                        <a:t>자유도가 강점</a:t>
                      </a:r>
                      <a:endParaRPr lang="ko-KR" altLang="en-US" sz="14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651966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9F32211C-872A-EE69-950A-F05393512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43" y="1831275"/>
            <a:ext cx="5578906" cy="170203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0FEEBBD-43C8-E426-3E08-791035B16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065" y="1831275"/>
            <a:ext cx="5501455" cy="153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300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0F3E39-9D63-5C12-5AC3-F9731BA58A58}"/>
              </a:ext>
            </a:extLst>
          </p:cNvPr>
          <p:cNvSpPr txBox="1"/>
          <p:nvPr/>
        </p:nvSpPr>
        <p:spPr>
          <a:xfrm>
            <a:off x="9863091" y="345053"/>
            <a:ext cx="203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B66487-DECD-52B3-0F4B-130D01101684}"/>
              </a:ext>
            </a:extLst>
          </p:cNvPr>
          <p:cNvSpPr/>
          <p:nvPr/>
        </p:nvSpPr>
        <p:spPr>
          <a:xfrm>
            <a:off x="266330" y="825623"/>
            <a:ext cx="3373515" cy="3906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Tensor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란</a:t>
            </a:r>
            <a:r>
              <a:rPr kumimoji="1" lang="en-US" altLang="ko-KR" sz="1600" b="1" dirty="0">
                <a:solidFill>
                  <a:schemeClr val="tx1"/>
                </a:solidFill>
              </a:rPr>
              <a:t>?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62082A-7A90-EF1C-62E6-C191A729F6BE}"/>
              </a:ext>
            </a:extLst>
          </p:cNvPr>
          <p:cNvSpPr txBox="1"/>
          <p:nvPr/>
        </p:nvSpPr>
        <p:spPr>
          <a:xfrm>
            <a:off x="266330" y="1322773"/>
            <a:ext cx="10582183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 err="1"/>
              <a:t>Tensorflow</a:t>
            </a:r>
            <a:r>
              <a:rPr kumimoji="1" lang="en-US" altLang="ko-KR" sz="1400" dirty="0"/>
              <a:t>, </a:t>
            </a:r>
            <a:r>
              <a:rPr kumimoji="1" lang="en-US" altLang="ko-KR" sz="1400" dirty="0" err="1"/>
              <a:t>Pytorch</a:t>
            </a:r>
            <a:r>
              <a:rPr kumimoji="1" lang="ko-KR" altLang="en-US" sz="1400" dirty="0"/>
              <a:t> 등에서 데이터의 효율적 처리를 위해 설계된 자료구조 </a:t>
            </a:r>
            <a:endParaRPr kumimoji="1" lang="en-US" altLang="ko-KR" sz="1400" dirty="0"/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 err="1"/>
              <a:t>Numpy</a:t>
            </a:r>
            <a:r>
              <a:rPr kumimoji="1" lang="ko-KR" altLang="en-US" sz="1400" dirty="0"/>
              <a:t>와 유사하게 </a:t>
            </a:r>
            <a:r>
              <a:rPr kumimoji="1" lang="en-US" altLang="ko-KR" sz="1400" dirty="0"/>
              <a:t>‘</a:t>
            </a:r>
            <a:r>
              <a:rPr kumimoji="1" lang="ko-KR" altLang="en-US" sz="1400" dirty="0"/>
              <a:t>행렬</a:t>
            </a:r>
            <a:r>
              <a:rPr kumimoji="1" lang="en-US" altLang="ko-KR" sz="1400" dirty="0"/>
              <a:t>’</a:t>
            </a:r>
            <a:r>
              <a:rPr kumimoji="1" lang="ko-KR" altLang="en-US" sz="1400" dirty="0"/>
              <a:t>을 기본으로 하나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여기에 </a:t>
            </a:r>
            <a:r>
              <a:rPr kumimoji="1" lang="en-US" altLang="ko-KR" sz="1400" dirty="0"/>
              <a:t>GPU</a:t>
            </a:r>
            <a:r>
              <a:rPr kumimoji="1" lang="ko-KR" altLang="en-US" sz="1400" dirty="0"/>
              <a:t>지원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연산과정 기억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자동 미분 등 </a:t>
            </a:r>
            <a:r>
              <a:rPr kumimoji="1" lang="ko-KR" altLang="en-US" sz="1400" dirty="0" err="1"/>
              <a:t>딥러닝을</a:t>
            </a:r>
            <a:r>
              <a:rPr kumimoji="1" lang="ko-KR" altLang="en-US" sz="1400" dirty="0"/>
              <a:t> 위한 기능들이 추가됨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B1A195-1BBF-DAEB-F8D9-E5A0B2B6FB7B}"/>
              </a:ext>
            </a:extLst>
          </p:cNvPr>
          <p:cNvSpPr txBox="1"/>
          <p:nvPr/>
        </p:nvSpPr>
        <p:spPr>
          <a:xfrm>
            <a:off x="372860" y="2276022"/>
            <a:ext cx="2077375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400" b="1" u="sng" dirty="0"/>
              <a:t>차원과 </a:t>
            </a:r>
            <a:r>
              <a:rPr kumimoji="1" lang="ko-KR" altLang="en-US" sz="1400" b="1" u="sng" dirty="0" err="1"/>
              <a:t>텐서</a:t>
            </a:r>
            <a:endParaRPr kumimoji="1" lang="ko-KR" altLang="en-US" sz="1400" b="1" u="sng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23FB55D-503F-A3C7-C84A-620D7F1C1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95" y="2809100"/>
            <a:ext cx="501543" cy="4928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B32018-4A05-8021-9F6D-AD5FE896C59A}"/>
              </a:ext>
            </a:extLst>
          </p:cNvPr>
          <p:cNvSpPr txBox="1"/>
          <p:nvPr/>
        </p:nvSpPr>
        <p:spPr>
          <a:xfrm>
            <a:off x="864838" y="2879676"/>
            <a:ext cx="2597453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200" dirty="0"/>
              <a:t>0 way (scalar) : </a:t>
            </a:r>
            <a:r>
              <a:rPr kumimoji="1" lang="ko-KR" altLang="en-US" sz="1200" dirty="0"/>
              <a:t>단일수치</a:t>
            </a:r>
            <a:r>
              <a:rPr kumimoji="1" lang="en-US" altLang="ko-KR" sz="1200" dirty="0"/>
              <a:t>, </a:t>
            </a:r>
            <a:r>
              <a:rPr kumimoji="1" lang="ko-KR" altLang="en-US" sz="1200" dirty="0" err="1"/>
              <a:t>실수값</a:t>
            </a:r>
            <a:endParaRPr kumimoji="1" lang="ko-KR" altLang="en-US" sz="1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49DE5A0-7844-2691-9445-698D6FCD1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95" y="4493966"/>
            <a:ext cx="985792" cy="49289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B01F198-760F-C0C2-032A-D882FE543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695" y="2647422"/>
            <a:ext cx="627281" cy="6217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0F791E3-391F-558F-5A91-3B64E3FA0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74" y="2654103"/>
            <a:ext cx="600835" cy="5961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2D485C-61DE-6A60-9E28-0EEF15D345B0}"/>
              </a:ext>
            </a:extLst>
          </p:cNvPr>
          <p:cNvSpPr txBox="1"/>
          <p:nvPr/>
        </p:nvSpPr>
        <p:spPr>
          <a:xfrm>
            <a:off x="1349087" y="4552835"/>
            <a:ext cx="2141503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200" dirty="0"/>
              <a:t>1 way (vector) : 1</a:t>
            </a:r>
            <a:r>
              <a:rPr kumimoji="1" lang="ko-KR" altLang="en-US" sz="1200" dirty="0"/>
              <a:t>차원 배열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8383E6-552F-4CC7-BA75-270BDC85C8FF}"/>
              </a:ext>
            </a:extLst>
          </p:cNvPr>
          <p:cNvSpPr txBox="1"/>
          <p:nvPr/>
        </p:nvSpPr>
        <p:spPr>
          <a:xfrm>
            <a:off x="5474280" y="2840093"/>
            <a:ext cx="2293673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200" dirty="0"/>
              <a:t>2 way (matrix) : 2</a:t>
            </a:r>
            <a:r>
              <a:rPr kumimoji="1" lang="ko-KR" altLang="en-US" sz="1200" dirty="0"/>
              <a:t>차원 행렬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054707-EFC8-A3A4-A8AE-D6293F695245}"/>
              </a:ext>
            </a:extLst>
          </p:cNvPr>
          <p:cNvSpPr txBox="1"/>
          <p:nvPr/>
        </p:nvSpPr>
        <p:spPr>
          <a:xfrm>
            <a:off x="9552373" y="2727321"/>
            <a:ext cx="2157274" cy="292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200" dirty="0"/>
              <a:t>3 way (3D) : 3</a:t>
            </a:r>
            <a:r>
              <a:rPr kumimoji="1" lang="ko-KR" altLang="en-US" sz="1200" dirty="0"/>
              <a:t>차원 배열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77CDB55-E284-CFA3-36E6-2232A2100D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95" y="3347978"/>
            <a:ext cx="4306359" cy="92533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84E2C9C-F4CB-AE1F-A91A-D6EF34C1A2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295" y="5045731"/>
            <a:ext cx="4306359" cy="92533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CA0799C8-5D8E-8003-F2F7-E6DE3EDEAC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4124" y="3337508"/>
            <a:ext cx="3914868" cy="161771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A72925C-72D0-C989-C978-6541E4E6C7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7723" y="3331915"/>
            <a:ext cx="3030599" cy="16177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B7D56B0-5FD7-F68F-8C4F-817BD69745CA}"/>
              </a:ext>
            </a:extLst>
          </p:cNvPr>
          <p:cNvSpPr txBox="1"/>
          <p:nvPr/>
        </p:nvSpPr>
        <p:spPr>
          <a:xfrm>
            <a:off x="4939781" y="5293219"/>
            <a:ext cx="6888924" cy="54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300" dirty="0"/>
              <a:t>※ n</a:t>
            </a:r>
            <a:r>
              <a:rPr kumimoji="1" lang="ko-KR" altLang="en-US" sz="1300" dirty="0"/>
              <a:t>차원의 </a:t>
            </a:r>
            <a:r>
              <a:rPr kumimoji="1" lang="ko-KR" altLang="en-US" sz="1300" dirty="0" err="1"/>
              <a:t>텐서는</a:t>
            </a:r>
            <a:r>
              <a:rPr kumimoji="1" lang="ko-KR" altLang="en-US" sz="1300" dirty="0"/>
              <a:t> </a:t>
            </a:r>
            <a:r>
              <a:rPr kumimoji="1" lang="en-US" altLang="ko-KR" sz="1300" dirty="0"/>
              <a:t>n-1</a:t>
            </a:r>
            <a:r>
              <a:rPr kumimoji="1" lang="ko-KR" altLang="en-US" sz="1300" dirty="0"/>
              <a:t>차원 </a:t>
            </a:r>
            <a:r>
              <a:rPr kumimoji="1" lang="ko-KR" altLang="en-US" sz="1300" dirty="0" err="1"/>
              <a:t>텐서</a:t>
            </a:r>
            <a:r>
              <a:rPr kumimoji="1" lang="ko-KR" altLang="en-US" sz="1300" dirty="0"/>
              <a:t> 여러 개가 모인 구조</a:t>
            </a:r>
            <a:r>
              <a:rPr kumimoji="1" lang="en-US" altLang="ko-KR" sz="1300" dirty="0"/>
              <a:t>. </a:t>
            </a:r>
          </a:p>
          <a:p>
            <a:pPr algn="l">
              <a:lnSpc>
                <a:spcPct val="120000"/>
              </a:lnSpc>
            </a:pPr>
            <a:r>
              <a:rPr kumimoji="1" lang="en-US" altLang="ko-KR" sz="1300" dirty="0"/>
              <a:t>   </a:t>
            </a:r>
            <a:r>
              <a:rPr kumimoji="1" lang="ko-KR" altLang="en-US" sz="1300" dirty="0"/>
              <a:t>예</a:t>
            </a:r>
            <a:r>
              <a:rPr kumimoji="1" lang="en-US" altLang="ko-KR" sz="1300" dirty="0"/>
              <a:t>) </a:t>
            </a:r>
            <a:r>
              <a:rPr kumimoji="1" lang="ko-KR" altLang="en-US" sz="1300" dirty="0"/>
              <a:t>흑백 이미지 </a:t>
            </a:r>
            <a:r>
              <a:rPr kumimoji="1" lang="en-US" altLang="ko-KR" sz="1300" dirty="0"/>
              <a:t>(2</a:t>
            </a:r>
            <a:r>
              <a:rPr kumimoji="1" lang="ko-KR" altLang="en-US" sz="1300" dirty="0"/>
              <a:t>차원</a:t>
            </a:r>
            <a:r>
              <a:rPr kumimoji="1" lang="en-US" altLang="ko-KR" sz="1300" dirty="0"/>
              <a:t>) </a:t>
            </a:r>
            <a:r>
              <a:rPr kumimoji="1" lang="en-US" altLang="ko-KR" sz="1300" dirty="0">
                <a:sym typeface="Wingdings" pitchFamily="2" charset="2"/>
              </a:rPr>
              <a:t> </a:t>
            </a:r>
            <a:r>
              <a:rPr kumimoji="1" lang="ko-KR" altLang="en-US" sz="1300" dirty="0">
                <a:sym typeface="Wingdings" pitchFamily="2" charset="2"/>
              </a:rPr>
              <a:t>컬러 이미지 </a:t>
            </a:r>
            <a:r>
              <a:rPr kumimoji="1" lang="en-US" altLang="ko-KR" sz="1300" dirty="0">
                <a:sym typeface="Wingdings" pitchFamily="2" charset="2"/>
              </a:rPr>
              <a:t>(RGB~3</a:t>
            </a:r>
            <a:r>
              <a:rPr kumimoji="1" lang="ko-KR" altLang="en-US" sz="1300" dirty="0">
                <a:sym typeface="Wingdings" pitchFamily="2" charset="2"/>
              </a:rPr>
              <a:t>차원</a:t>
            </a:r>
            <a:r>
              <a:rPr kumimoji="1" lang="en-US" altLang="ko-KR" sz="1300" dirty="0">
                <a:sym typeface="Wingdings" pitchFamily="2" charset="2"/>
              </a:rPr>
              <a:t>)  </a:t>
            </a:r>
            <a:r>
              <a:rPr kumimoji="1" lang="ko-KR" altLang="en-US" sz="1300" dirty="0">
                <a:sym typeface="Wingdings" pitchFamily="2" charset="2"/>
              </a:rPr>
              <a:t>다수의 컬러 이미지 </a:t>
            </a:r>
            <a:r>
              <a:rPr kumimoji="1" lang="en-US" altLang="ko-KR" sz="1300" dirty="0">
                <a:sym typeface="Wingdings" pitchFamily="2" charset="2"/>
              </a:rPr>
              <a:t>(4</a:t>
            </a:r>
            <a:r>
              <a:rPr kumimoji="1" lang="ko-KR" altLang="en-US" sz="1300" dirty="0">
                <a:sym typeface="Wingdings" pitchFamily="2" charset="2"/>
              </a:rPr>
              <a:t>차원</a:t>
            </a:r>
            <a:r>
              <a:rPr kumimoji="1" lang="en-US" altLang="ko-KR" sz="1300" dirty="0">
                <a:sym typeface="Wingdings" pitchFamily="2" charset="2"/>
              </a:rPr>
              <a:t>)</a:t>
            </a:r>
            <a:r>
              <a:rPr kumimoji="1" lang="ko-KR" altLang="en-US" sz="1300" dirty="0"/>
              <a:t> </a:t>
            </a:r>
            <a:r>
              <a:rPr kumimoji="1" lang="en-US" altLang="ko-KR" sz="1300" dirty="0"/>
              <a:t> </a:t>
            </a:r>
            <a:endParaRPr kumimoji="1"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938317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A13E7C-075E-FC16-C6EE-CB9E0546B705}"/>
              </a:ext>
            </a:extLst>
          </p:cNvPr>
          <p:cNvSpPr txBox="1"/>
          <p:nvPr/>
        </p:nvSpPr>
        <p:spPr>
          <a:xfrm>
            <a:off x="9863091" y="345053"/>
            <a:ext cx="203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327A5A-094C-FAD7-7C23-154104DAE292}"/>
              </a:ext>
            </a:extLst>
          </p:cNvPr>
          <p:cNvSpPr/>
          <p:nvPr/>
        </p:nvSpPr>
        <p:spPr>
          <a:xfrm>
            <a:off x="266330" y="825623"/>
            <a:ext cx="3373515" cy="3906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Tensor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연산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7E6AA4-D918-066E-2637-1F137159A28A}"/>
              </a:ext>
            </a:extLst>
          </p:cNvPr>
          <p:cNvSpPr txBox="1"/>
          <p:nvPr/>
        </p:nvSpPr>
        <p:spPr>
          <a:xfrm>
            <a:off x="399496" y="3169333"/>
            <a:ext cx="3160451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① </a:t>
            </a:r>
            <a:r>
              <a:rPr kumimoji="1" lang="ko-KR" altLang="en-US" sz="1400" dirty="0"/>
              <a:t>사칙 연산</a:t>
            </a:r>
            <a:br>
              <a:rPr kumimoji="1" lang="en-US" altLang="ko-KR" sz="1400" dirty="0"/>
            </a:br>
            <a:r>
              <a:rPr kumimoji="1" lang="en-US" altLang="ko-KR" sz="1400" dirty="0"/>
              <a:t>    - </a:t>
            </a:r>
            <a:r>
              <a:rPr kumimoji="1" lang="ko-KR" altLang="en-US" sz="1400" dirty="0" err="1"/>
              <a:t>텐서</a:t>
            </a:r>
            <a:r>
              <a:rPr kumimoji="1" lang="ko-KR" altLang="en-US" sz="1400" dirty="0"/>
              <a:t> </a:t>
            </a:r>
            <a:r>
              <a:rPr kumimoji="1" lang="ko-KR" altLang="en-US" sz="1400" dirty="0" err="1"/>
              <a:t>행렬간의</a:t>
            </a:r>
            <a:r>
              <a:rPr kumimoji="1" lang="ko-KR" altLang="en-US" sz="1400" dirty="0"/>
              <a:t> 사칙연산 가능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5F5FB7D-E33E-41E0-00D1-C8E9CF6A2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922" y="1674749"/>
            <a:ext cx="4190260" cy="48886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D46318-4B07-7543-F721-61A2028E9E9E}"/>
              </a:ext>
            </a:extLst>
          </p:cNvPr>
          <p:cNvSpPr txBox="1"/>
          <p:nvPr/>
        </p:nvSpPr>
        <p:spPr>
          <a:xfrm>
            <a:off x="6402280" y="1299009"/>
            <a:ext cx="3160451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②</a:t>
            </a:r>
            <a:r>
              <a:rPr kumimoji="1" lang="ko-KR" altLang="en-US" sz="1400" dirty="0"/>
              <a:t> 집계함수</a:t>
            </a: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C56553BE-9F0F-CA28-1DCE-83653C94FE1C}"/>
              </a:ext>
            </a:extLst>
          </p:cNvPr>
          <p:cNvCxnSpPr>
            <a:cxnSpLocks/>
          </p:cNvCxnSpPr>
          <p:nvPr/>
        </p:nvCxnSpPr>
        <p:spPr>
          <a:xfrm flipV="1">
            <a:off x="6096000" y="1299009"/>
            <a:ext cx="0" cy="5264377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BE4EBFE-79E1-4765-D757-24CBA2CF71F9}"/>
              </a:ext>
            </a:extLst>
          </p:cNvPr>
          <p:cNvSpPr/>
          <p:nvPr/>
        </p:nvSpPr>
        <p:spPr>
          <a:xfrm>
            <a:off x="8531438" y="4758433"/>
            <a:ext cx="1544715" cy="44096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7958444-3D41-E594-159B-8DC3935738F1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10076153" y="4978915"/>
            <a:ext cx="71909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D00FA0B-C2CD-D7F2-36B2-BFC74265A05C}"/>
              </a:ext>
            </a:extLst>
          </p:cNvPr>
          <p:cNvSpPr txBox="1"/>
          <p:nvPr/>
        </p:nvSpPr>
        <p:spPr>
          <a:xfrm>
            <a:off x="10599933" y="4660310"/>
            <a:ext cx="1633684" cy="58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dim=0 : </a:t>
            </a:r>
            <a:r>
              <a:rPr kumimoji="1" lang="ko-KR" altLang="en-US" sz="1400" i="1" dirty="0"/>
              <a:t>행 방향</a:t>
            </a:r>
            <a:endParaRPr kumimoji="1" lang="en-US" altLang="ko-KR" sz="1400" i="1" dirty="0"/>
          </a:p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dim=1 : </a:t>
            </a:r>
            <a:r>
              <a:rPr kumimoji="1" lang="ko-KR" altLang="en-US" sz="1400" i="1" dirty="0"/>
              <a:t>열 방향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9B746C3-F54E-91E6-FBED-6F500EAA4625}"/>
              </a:ext>
            </a:extLst>
          </p:cNvPr>
          <p:cNvSpPr/>
          <p:nvPr/>
        </p:nvSpPr>
        <p:spPr>
          <a:xfrm>
            <a:off x="7155402" y="2318553"/>
            <a:ext cx="2032987" cy="255971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0461E4CB-BAA6-9DF5-611E-F78A8F95E330}"/>
              </a:ext>
            </a:extLst>
          </p:cNvPr>
          <p:cNvCxnSpPr>
            <a:cxnSpLocks/>
          </p:cNvCxnSpPr>
          <p:nvPr/>
        </p:nvCxnSpPr>
        <p:spPr>
          <a:xfrm>
            <a:off x="9207620" y="2450258"/>
            <a:ext cx="153435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BDF925B-A3E3-1CBA-703D-9C4DEB1A5C1E}"/>
              </a:ext>
            </a:extLst>
          </p:cNvPr>
          <p:cNvSpPr txBox="1"/>
          <p:nvPr/>
        </p:nvSpPr>
        <p:spPr>
          <a:xfrm>
            <a:off x="10611583" y="2140725"/>
            <a:ext cx="1633684" cy="58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int64 : </a:t>
            </a:r>
            <a:r>
              <a:rPr kumimoji="1" lang="ko-KR" altLang="en-US" sz="1400" i="1" dirty="0"/>
              <a:t>정수형</a:t>
            </a:r>
            <a:endParaRPr kumimoji="1" lang="en-US" altLang="ko-KR" sz="1400" i="1" dirty="0"/>
          </a:p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float32:</a:t>
            </a:r>
            <a:r>
              <a:rPr kumimoji="1" lang="ko-KR" altLang="en-US" sz="1400" i="1" dirty="0"/>
              <a:t>실수형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7F5045A2-0000-6870-C968-DF3B1F089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96" y="3840904"/>
            <a:ext cx="4758568" cy="2701479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C7A42F73-3614-2852-38EF-48BD23B45F8B}"/>
              </a:ext>
            </a:extLst>
          </p:cNvPr>
          <p:cNvSpPr/>
          <p:nvPr/>
        </p:nvSpPr>
        <p:spPr>
          <a:xfrm>
            <a:off x="266331" y="1316765"/>
            <a:ext cx="5610686" cy="1700331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kumimoji="1" lang="en-US" altLang="ko-KR" sz="1400" dirty="0">
                <a:solidFill>
                  <a:schemeClr val="tx1"/>
                </a:solidFill>
              </a:rPr>
              <a:t>① </a:t>
            </a:r>
            <a:r>
              <a:rPr kumimoji="1" lang="ko-KR" altLang="en-US" sz="1400" dirty="0">
                <a:solidFill>
                  <a:schemeClr val="tx1"/>
                </a:solidFill>
              </a:rPr>
              <a:t>사칙연산 </a:t>
            </a:r>
            <a:r>
              <a:rPr kumimoji="1" lang="en-US" altLang="ko-KR" sz="1400" dirty="0">
                <a:solidFill>
                  <a:schemeClr val="tx1"/>
                </a:solidFill>
              </a:rPr>
              <a:t>: </a:t>
            </a:r>
            <a:r>
              <a:rPr kumimoji="1" lang="ko-KR" altLang="en-US" sz="1400" dirty="0">
                <a:solidFill>
                  <a:schemeClr val="tx1"/>
                </a:solidFill>
              </a:rPr>
              <a:t>가중치와 </a:t>
            </a:r>
            <a:r>
              <a:rPr kumimoji="1" lang="en-US" altLang="ko-KR" sz="1400" dirty="0">
                <a:solidFill>
                  <a:schemeClr val="tx1"/>
                </a:solidFill>
              </a:rPr>
              <a:t>bios, </a:t>
            </a:r>
            <a:r>
              <a:rPr kumimoji="1" lang="ko-KR" altLang="en-US" sz="1400" dirty="0">
                <a:solidFill>
                  <a:schemeClr val="tx1"/>
                </a:solidFill>
              </a:rPr>
              <a:t>즉 </a:t>
            </a:r>
            <a:r>
              <a:rPr kumimoji="1" lang="en-US" altLang="ko-KR" sz="1400" dirty="0">
                <a:solidFill>
                  <a:schemeClr val="tx1"/>
                </a:solidFill>
              </a:rPr>
              <a:t>y = </a:t>
            </a:r>
            <a:r>
              <a:rPr kumimoji="1" lang="en-US" altLang="ko-KR" sz="1400" dirty="0" err="1">
                <a:solidFill>
                  <a:schemeClr val="tx1"/>
                </a:solidFill>
              </a:rPr>
              <a:t>Wx+b</a:t>
            </a:r>
            <a:r>
              <a:rPr kumimoji="1" lang="ko-KR" altLang="en-US" sz="1400" dirty="0" err="1">
                <a:solidFill>
                  <a:schemeClr val="tx1"/>
                </a:solidFill>
              </a:rPr>
              <a:t>를</a:t>
            </a:r>
            <a:r>
              <a:rPr kumimoji="1" lang="ko-KR" altLang="en-US" sz="1400" dirty="0">
                <a:solidFill>
                  <a:schemeClr val="tx1"/>
                </a:solidFill>
              </a:rPr>
              <a:t> 계산하기 위함 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en-US" altLang="ko-KR" sz="1400" dirty="0">
                <a:solidFill>
                  <a:schemeClr val="tx1"/>
                </a:solidFill>
              </a:rPr>
              <a:t>② </a:t>
            </a:r>
            <a:r>
              <a:rPr kumimoji="1" lang="ko-KR" altLang="en-US" sz="1400" dirty="0">
                <a:solidFill>
                  <a:schemeClr val="tx1"/>
                </a:solidFill>
              </a:rPr>
              <a:t>집계함수 </a:t>
            </a:r>
            <a:r>
              <a:rPr kumimoji="1" lang="en-US" altLang="ko-KR" sz="1400" dirty="0">
                <a:solidFill>
                  <a:schemeClr val="tx1"/>
                </a:solidFill>
              </a:rPr>
              <a:t>: </a:t>
            </a:r>
            <a:r>
              <a:rPr kumimoji="1" lang="ko-KR" altLang="en-US" sz="1400" dirty="0">
                <a:solidFill>
                  <a:schemeClr val="tx1"/>
                </a:solidFill>
              </a:rPr>
              <a:t>손실</a:t>
            </a:r>
            <a:r>
              <a:rPr kumimoji="1" lang="en-US" altLang="ko-KR" sz="1400" dirty="0">
                <a:solidFill>
                  <a:schemeClr val="tx1"/>
                </a:solidFill>
              </a:rPr>
              <a:t>(loss)</a:t>
            </a:r>
            <a:r>
              <a:rPr kumimoji="1" lang="ko-KR" altLang="en-US" sz="1400" dirty="0">
                <a:solidFill>
                  <a:schemeClr val="tx1"/>
                </a:solidFill>
              </a:rPr>
              <a:t>의 계산 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en-US" altLang="ko-KR" sz="1400" dirty="0">
                <a:solidFill>
                  <a:schemeClr val="tx1"/>
                </a:solidFill>
              </a:rPr>
              <a:t>③ </a:t>
            </a:r>
            <a:r>
              <a:rPr kumimoji="1" lang="ko-KR" altLang="en-US" sz="1400" dirty="0">
                <a:solidFill>
                  <a:schemeClr val="tx1"/>
                </a:solidFill>
              </a:rPr>
              <a:t>차원변경 </a:t>
            </a:r>
            <a:r>
              <a:rPr kumimoji="1" lang="en-US" altLang="ko-KR" sz="1400" dirty="0">
                <a:solidFill>
                  <a:schemeClr val="tx1"/>
                </a:solidFill>
              </a:rPr>
              <a:t>: </a:t>
            </a:r>
            <a:r>
              <a:rPr kumimoji="1" lang="ko-KR" altLang="en-US" sz="1400" dirty="0">
                <a:solidFill>
                  <a:schemeClr val="tx1"/>
                </a:solidFill>
              </a:rPr>
              <a:t>모델 입</a:t>
            </a:r>
            <a:r>
              <a:rPr kumimoji="1" lang="en-US" altLang="ko-KR" sz="1400" dirty="0">
                <a:solidFill>
                  <a:schemeClr val="tx1"/>
                </a:solidFill>
              </a:rPr>
              <a:t>/</a:t>
            </a:r>
            <a:r>
              <a:rPr kumimoji="1" lang="ko-KR" altLang="en-US" sz="1400" dirty="0">
                <a:solidFill>
                  <a:schemeClr val="tx1"/>
                </a:solidFill>
              </a:rPr>
              <a:t>출력을 위한 데이터 차원 조작 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en-US" altLang="ko-KR" sz="1400" dirty="0">
                <a:solidFill>
                  <a:schemeClr val="tx1"/>
                </a:solidFill>
              </a:rPr>
              <a:t>④ </a:t>
            </a:r>
            <a:r>
              <a:rPr kumimoji="1" lang="ko-KR" altLang="en-US" sz="1400" dirty="0">
                <a:solidFill>
                  <a:schemeClr val="tx1"/>
                </a:solidFill>
              </a:rPr>
              <a:t>연결</a:t>
            </a:r>
            <a:r>
              <a:rPr kumimoji="1" lang="en-US" altLang="ko-KR" sz="1400" dirty="0">
                <a:solidFill>
                  <a:schemeClr val="tx1"/>
                </a:solidFill>
              </a:rPr>
              <a:t>&amp;</a:t>
            </a:r>
            <a:r>
              <a:rPr kumimoji="1" lang="ko-KR" altLang="en-US" sz="1400" dirty="0">
                <a:solidFill>
                  <a:schemeClr val="tx1"/>
                </a:solidFill>
              </a:rPr>
              <a:t>분리 </a:t>
            </a:r>
            <a:r>
              <a:rPr kumimoji="1" lang="en-US" altLang="ko-KR" sz="1400" dirty="0">
                <a:solidFill>
                  <a:schemeClr val="tx1"/>
                </a:solidFill>
              </a:rPr>
              <a:t>: </a:t>
            </a:r>
            <a:r>
              <a:rPr kumimoji="1" lang="ko-KR" altLang="en-US" sz="1400" dirty="0">
                <a:solidFill>
                  <a:schemeClr val="tx1"/>
                </a:solidFill>
              </a:rPr>
              <a:t>데이터 전 처리</a:t>
            </a:r>
            <a:r>
              <a:rPr kumimoji="1" lang="en-US" altLang="ko-KR" sz="1400" dirty="0">
                <a:solidFill>
                  <a:schemeClr val="tx1"/>
                </a:solidFill>
              </a:rPr>
              <a:t>, batch </a:t>
            </a:r>
            <a:r>
              <a:rPr kumimoji="1" lang="ko-KR" altLang="en-US" sz="1400" dirty="0">
                <a:solidFill>
                  <a:schemeClr val="tx1"/>
                </a:solidFill>
              </a:rPr>
              <a:t>생성 등 </a:t>
            </a:r>
            <a:endParaRPr kumimoji="1" lang="en-US" altLang="ko-KR" sz="1400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</a:pPr>
            <a:r>
              <a:rPr kumimoji="1" lang="en-US" altLang="ko-KR" sz="1400" dirty="0">
                <a:solidFill>
                  <a:schemeClr val="tx1"/>
                </a:solidFill>
              </a:rPr>
              <a:t>⑤ </a:t>
            </a:r>
            <a:r>
              <a:rPr kumimoji="1" lang="ko-KR" altLang="en-US" sz="1400" dirty="0" err="1">
                <a:solidFill>
                  <a:schemeClr val="tx1"/>
                </a:solidFill>
              </a:rPr>
              <a:t>점곱</a:t>
            </a:r>
            <a:r>
              <a:rPr kumimoji="1" lang="en-US" altLang="ko-KR" sz="1400" dirty="0">
                <a:solidFill>
                  <a:schemeClr val="tx1"/>
                </a:solidFill>
              </a:rPr>
              <a:t>, </a:t>
            </a:r>
            <a:r>
              <a:rPr kumimoji="1" lang="ko-KR" altLang="en-US" sz="1400" dirty="0" err="1">
                <a:solidFill>
                  <a:schemeClr val="tx1"/>
                </a:solidFill>
              </a:rPr>
              <a:t>행렬곱</a:t>
            </a:r>
            <a:r>
              <a:rPr kumimoji="1" lang="ko-KR" altLang="en-US" sz="1400" dirty="0">
                <a:solidFill>
                  <a:schemeClr val="tx1"/>
                </a:solidFill>
              </a:rPr>
              <a:t> </a:t>
            </a:r>
            <a:r>
              <a:rPr kumimoji="1" lang="en-US" altLang="ko-KR" sz="1400" dirty="0">
                <a:solidFill>
                  <a:schemeClr val="tx1"/>
                </a:solidFill>
              </a:rPr>
              <a:t>: </a:t>
            </a:r>
            <a:r>
              <a:rPr kumimoji="1" lang="ko-KR" altLang="en-US" sz="1400" dirty="0">
                <a:solidFill>
                  <a:schemeClr val="tx1"/>
                </a:solidFill>
              </a:rPr>
              <a:t>신경망 연산을 위한 행렬계산 </a:t>
            </a:r>
          </a:p>
        </p:txBody>
      </p:sp>
    </p:spTree>
    <p:extLst>
      <p:ext uri="{BB962C8B-B14F-4D97-AF65-F5344CB8AC3E}">
        <p14:creationId xmlns:p14="http://schemas.microsoft.com/office/powerpoint/2010/main" val="3908621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DE6E96-63A8-07F4-7A4D-1141273C4996}"/>
              </a:ext>
            </a:extLst>
          </p:cNvPr>
          <p:cNvSpPr txBox="1"/>
          <p:nvPr/>
        </p:nvSpPr>
        <p:spPr>
          <a:xfrm>
            <a:off x="9863091" y="345053"/>
            <a:ext cx="203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14CFDB-BFB7-8514-52A9-7EC06B956D9C}"/>
              </a:ext>
            </a:extLst>
          </p:cNvPr>
          <p:cNvSpPr txBox="1"/>
          <p:nvPr/>
        </p:nvSpPr>
        <p:spPr>
          <a:xfrm>
            <a:off x="6402280" y="943904"/>
            <a:ext cx="3160451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④ </a:t>
            </a:r>
            <a:r>
              <a:rPr kumimoji="1" lang="ko-KR" altLang="en-US" sz="1400" dirty="0"/>
              <a:t>연결과 분리 </a:t>
            </a:r>
            <a:br>
              <a:rPr kumimoji="1" lang="en-US" altLang="ko-KR" sz="1400" dirty="0"/>
            </a:br>
            <a:r>
              <a:rPr kumimoji="1" lang="en-US" altLang="ko-KR" sz="1400" dirty="0"/>
              <a:t>    - cat(</a:t>
            </a:r>
            <a:r>
              <a:rPr kumimoji="1" lang="ko-KR" altLang="en-US" sz="1400" dirty="0"/>
              <a:t>연결</a:t>
            </a:r>
            <a:r>
              <a:rPr kumimoji="1" lang="en-US" altLang="ko-KR" sz="1400" dirty="0"/>
              <a:t>), split(</a:t>
            </a:r>
            <a:r>
              <a:rPr kumimoji="1" lang="ko-KR" altLang="en-US" sz="1400" dirty="0"/>
              <a:t>분리</a:t>
            </a:r>
            <a:r>
              <a:rPr kumimoji="1" lang="en-US" altLang="ko-KR" sz="1400" dirty="0"/>
              <a:t>) </a:t>
            </a:r>
            <a:endParaRPr kumimoji="1" lang="ko-KR" altLang="en-US" sz="1400" dirty="0"/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21E76EAA-610D-234A-B3FA-191AABB5BE45}"/>
              </a:ext>
            </a:extLst>
          </p:cNvPr>
          <p:cNvCxnSpPr>
            <a:cxnSpLocks/>
          </p:cNvCxnSpPr>
          <p:nvPr/>
        </p:nvCxnSpPr>
        <p:spPr>
          <a:xfrm flipV="1">
            <a:off x="6096000" y="908392"/>
            <a:ext cx="0" cy="574986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E8FED2B7-1D38-35E1-E718-565462138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18" y="1949959"/>
            <a:ext cx="4344339" cy="30659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277E93-21DF-EC9E-9F6F-361D4440086F}"/>
              </a:ext>
            </a:extLst>
          </p:cNvPr>
          <p:cNvSpPr txBox="1"/>
          <p:nvPr/>
        </p:nvSpPr>
        <p:spPr>
          <a:xfrm>
            <a:off x="294443" y="926148"/>
            <a:ext cx="5591448" cy="84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③</a:t>
            </a:r>
            <a:r>
              <a:rPr kumimoji="1" lang="ko-KR" altLang="en-US" sz="1400" dirty="0"/>
              <a:t> 차원변경</a:t>
            </a:r>
            <a:br>
              <a:rPr kumimoji="1" lang="en-US" altLang="ko-KR" sz="1400" dirty="0"/>
            </a:br>
            <a:r>
              <a:rPr kumimoji="1" lang="en-US" altLang="ko-KR" sz="1400" dirty="0"/>
              <a:t>    - </a:t>
            </a:r>
            <a:r>
              <a:rPr kumimoji="1" lang="ko-KR" altLang="en-US" sz="1400" dirty="0"/>
              <a:t>모델입력을 위해 데이터 차원을 변경해야 할 때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자주 사용됨 </a:t>
            </a:r>
            <a:br>
              <a:rPr kumimoji="1" lang="en-US" altLang="ko-KR" sz="1400" dirty="0"/>
            </a:br>
            <a:r>
              <a:rPr kumimoji="1" lang="en-US" altLang="ko-KR" sz="1400" dirty="0"/>
              <a:t>    - </a:t>
            </a:r>
            <a:r>
              <a:rPr kumimoji="1" lang="ko-KR" altLang="en-US" sz="1400" dirty="0"/>
              <a:t>예</a:t>
            </a:r>
            <a:r>
              <a:rPr kumimoji="1" lang="en-US" altLang="ko-KR" sz="1400" dirty="0"/>
              <a:t>. </a:t>
            </a:r>
            <a:r>
              <a:rPr kumimoji="1" lang="ko-KR" altLang="en-US" sz="1400" dirty="0"/>
              <a:t>흑백 이미지</a:t>
            </a:r>
            <a:r>
              <a:rPr kumimoji="1" lang="en-US" altLang="ko-KR" sz="1400" dirty="0"/>
              <a:t>(2</a:t>
            </a:r>
            <a:r>
              <a:rPr kumimoji="1" lang="ko-KR" altLang="en-US" sz="1400" dirty="0"/>
              <a:t>차원</a:t>
            </a:r>
            <a:r>
              <a:rPr kumimoji="1" lang="en-US" altLang="ko-KR" sz="1400" dirty="0"/>
              <a:t>) </a:t>
            </a:r>
            <a:r>
              <a:rPr kumimoji="1" lang="en-US" altLang="ko-KR" sz="1400" dirty="0">
                <a:sym typeface="Wingdings" pitchFamily="2" charset="2"/>
              </a:rPr>
              <a:t> 3</a:t>
            </a:r>
            <a:r>
              <a:rPr kumimoji="1" lang="ko-KR" altLang="en-US" sz="1400" dirty="0">
                <a:sym typeface="Wingdings" pitchFamily="2" charset="2"/>
              </a:rPr>
              <a:t>차원 </a:t>
            </a:r>
            <a:r>
              <a:rPr kumimoji="1" lang="ko-KR" altLang="en-US" sz="1400" dirty="0" err="1">
                <a:sym typeface="Wingdings" pitchFamily="2" charset="2"/>
              </a:rPr>
              <a:t>입력값</a:t>
            </a:r>
            <a:r>
              <a:rPr kumimoji="1" lang="ko-KR" altLang="en-US" sz="1400" dirty="0">
                <a:sym typeface="Wingdings" pitchFamily="2" charset="2"/>
              </a:rPr>
              <a:t> </a:t>
            </a:r>
            <a:endParaRPr kumimoji="1" lang="ko-KR" altLang="en-US" sz="14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A84209-E230-5BFC-9933-75C804724CE8}"/>
              </a:ext>
            </a:extLst>
          </p:cNvPr>
          <p:cNvSpPr/>
          <p:nvPr/>
        </p:nvSpPr>
        <p:spPr>
          <a:xfrm>
            <a:off x="630312" y="4083558"/>
            <a:ext cx="1544715" cy="37303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CC3CA01-6F9B-4664-98FC-33DBE9E6A0F7}"/>
              </a:ext>
            </a:extLst>
          </p:cNvPr>
          <p:cNvCxnSpPr>
            <a:cxnSpLocks/>
          </p:cNvCxnSpPr>
          <p:nvPr/>
        </p:nvCxnSpPr>
        <p:spPr>
          <a:xfrm>
            <a:off x="958788" y="4465470"/>
            <a:ext cx="0" cy="108307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F087AE3-D599-4722-C6E6-E21112B4C20F}"/>
              </a:ext>
            </a:extLst>
          </p:cNvPr>
          <p:cNvSpPr txBox="1"/>
          <p:nvPr/>
        </p:nvSpPr>
        <p:spPr>
          <a:xfrm>
            <a:off x="744243" y="5557423"/>
            <a:ext cx="4344335" cy="58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view(</a:t>
            </a:r>
            <a:r>
              <a:rPr kumimoji="1" lang="ko-KR" altLang="en-US" sz="1400" i="1" dirty="0"/>
              <a:t>가로</a:t>
            </a:r>
            <a:r>
              <a:rPr kumimoji="1" lang="en-US" altLang="ko-KR" sz="1400" i="1" dirty="0"/>
              <a:t>,</a:t>
            </a:r>
            <a:r>
              <a:rPr kumimoji="1" lang="ko-KR" altLang="en-US" sz="1400" i="1" dirty="0"/>
              <a:t>세로</a:t>
            </a:r>
            <a:r>
              <a:rPr kumimoji="1" lang="en-US" altLang="ko-KR" sz="1400" i="1" dirty="0"/>
              <a:t>) </a:t>
            </a:r>
            <a:br>
              <a:rPr kumimoji="1" lang="en-US" altLang="ko-KR" sz="1400" i="1" dirty="0"/>
            </a:br>
            <a:r>
              <a:rPr kumimoji="1" lang="en-US" altLang="ko-KR" sz="1400" i="1" dirty="0"/>
              <a:t>: pandas</a:t>
            </a:r>
            <a:r>
              <a:rPr kumimoji="1" lang="ko-KR" altLang="en-US" sz="1400" i="1" dirty="0"/>
              <a:t>의 </a:t>
            </a:r>
            <a:r>
              <a:rPr kumimoji="1" lang="en-US" altLang="ko-KR" sz="1400" i="1" dirty="0"/>
              <a:t>reshape()</a:t>
            </a:r>
            <a:r>
              <a:rPr kumimoji="1" lang="ko-KR" altLang="en-US" sz="1400" i="1" dirty="0"/>
              <a:t>와 동일한 기능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6CEC7BA-139A-7925-81F9-B2BF0C9C7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110" y="1654452"/>
            <a:ext cx="4826482" cy="4952172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AE9831-BCF9-A1B3-8517-DB9894AFE833}"/>
              </a:ext>
            </a:extLst>
          </p:cNvPr>
          <p:cNvSpPr/>
          <p:nvPr/>
        </p:nvSpPr>
        <p:spPr>
          <a:xfrm>
            <a:off x="6810650" y="3666133"/>
            <a:ext cx="2919276" cy="37303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DE8BC65-78C0-4D8E-44F7-8995880C8B1D}"/>
              </a:ext>
            </a:extLst>
          </p:cNvPr>
          <p:cNvSpPr/>
          <p:nvPr/>
        </p:nvSpPr>
        <p:spPr>
          <a:xfrm>
            <a:off x="6794373" y="5646197"/>
            <a:ext cx="2919276" cy="24988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70BC977-14C0-43F3-BCEE-C40515A6A218}"/>
              </a:ext>
            </a:extLst>
          </p:cNvPr>
          <p:cNvCxnSpPr>
            <a:cxnSpLocks/>
          </p:cNvCxnSpPr>
          <p:nvPr/>
        </p:nvCxnSpPr>
        <p:spPr>
          <a:xfrm>
            <a:off x="9729926" y="3851451"/>
            <a:ext cx="156247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422FEB6-F1C8-1E4E-846C-CEDF95BA1B29}"/>
              </a:ext>
            </a:extLst>
          </p:cNvPr>
          <p:cNvCxnSpPr>
            <a:cxnSpLocks/>
          </p:cNvCxnSpPr>
          <p:nvPr/>
        </p:nvCxnSpPr>
        <p:spPr>
          <a:xfrm>
            <a:off x="9729926" y="5770507"/>
            <a:ext cx="156247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514F489-0499-19C7-C784-1EF64D0FC789}"/>
              </a:ext>
            </a:extLst>
          </p:cNvPr>
          <p:cNvSpPr txBox="1"/>
          <p:nvPr/>
        </p:nvSpPr>
        <p:spPr>
          <a:xfrm>
            <a:off x="11233212" y="3584976"/>
            <a:ext cx="958788" cy="84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dim=0</a:t>
            </a:r>
          </a:p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(</a:t>
            </a:r>
            <a:r>
              <a:rPr kumimoji="1" lang="ko-KR" altLang="en-US" sz="1400" i="1" dirty="0"/>
              <a:t>행</a:t>
            </a:r>
            <a:r>
              <a:rPr kumimoji="1" lang="en-US" altLang="ko-KR" sz="1400" i="1" dirty="0"/>
              <a:t> </a:t>
            </a:r>
            <a:r>
              <a:rPr kumimoji="1" lang="ko-KR" altLang="en-US" sz="1400" i="1" dirty="0"/>
              <a:t>방향</a:t>
            </a:r>
            <a:r>
              <a:rPr kumimoji="1" lang="en-US" altLang="ko-KR" sz="1400" i="1" dirty="0"/>
              <a:t>)</a:t>
            </a:r>
          </a:p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 </a:t>
            </a:r>
            <a:r>
              <a:rPr kumimoji="1" lang="ko-KR" altLang="en-US" sz="1400" i="1" dirty="0"/>
              <a:t>결합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6CC3D8-B206-110F-EF88-E67BA7F37699}"/>
              </a:ext>
            </a:extLst>
          </p:cNvPr>
          <p:cNvSpPr txBox="1"/>
          <p:nvPr/>
        </p:nvSpPr>
        <p:spPr>
          <a:xfrm>
            <a:off x="11233212" y="5298890"/>
            <a:ext cx="958788" cy="84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X3</a:t>
            </a:r>
            <a:r>
              <a:rPr kumimoji="1" lang="ko-KR" altLang="en-US" sz="1400" i="1" dirty="0"/>
              <a:t>을 </a:t>
            </a:r>
            <a:endParaRPr kumimoji="1" lang="en-US" altLang="ko-KR" sz="1400" i="1" dirty="0"/>
          </a:p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4</a:t>
            </a:r>
            <a:r>
              <a:rPr kumimoji="1" lang="ko-KR" altLang="en-US" sz="1400" i="1" dirty="0"/>
              <a:t>개씩 </a:t>
            </a:r>
            <a:endParaRPr kumimoji="1" lang="en-US" altLang="ko-KR" sz="1400" i="1" dirty="0"/>
          </a:p>
          <a:p>
            <a:pPr algn="l">
              <a:lnSpc>
                <a:spcPct val="120000"/>
              </a:lnSpc>
            </a:pPr>
            <a:r>
              <a:rPr kumimoji="1" lang="ko-KR" altLang="en-US" sz="1400" i="1" dirty="0"/>
              <a:t>분리</a:t>
            </a:r>
          </a:p>
        </p:txBody>
      </p:sp>
    </p:spTree>
    <p:extLst>
      <p:ext uri="{BB962C8B-B14F-4D97-AF65-F5344CB8AC3E}">
        <p14:creationId xmlns:p14="http://schemas.microsoft.com/office/powerpoint/2010/main" val="2798733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DEB79F-6CF8-5646-71FE-5CEA472FC34F}"/>
              </a:ext>
            </a:extLst>
          </p:cNvPr>
          <p:cNvSpPr txBox="1"/>
          <p:nvPr/>
        </p:nvSpPr>
        <p:spPr>
          <a:xfrm>
            <a:off x="9863091" y="345053"/>
            <a:ext cx="203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AA3CB3-FD4C-77B4-D827-627634D08F70}"/>
              </a:ext>
            </a:extLst>
          </p:cNvPr>
          <p:cNvSpPr txBox="1"/>
          <p:nvPr/>
        </p:nvSpPr>
        <p:spPr>
          <a:xfrm>
            <a:off x="9863091" y="345053"/>
            <a:ext cx="203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911EFBC4-FCBB-4E90-1282-B2E65F97EB80}"/>
              </a:ext>
            </a:extLst>
          </p:cNvPr>
          <p:cNvCxnSpPr>
            <a:cxnSpLocks/>
          </p:cNvCxnSpPr>
          <p:nvPr/>
        </p:nvCxnSpPr>
        <p:spPr>
          <a:xfrm flipV="1">
            <a:off x="6096000" y="908392"/>
            <a:ext cx="0" cy="574986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728D745-6FFF-5AA0-D385-F0BA16F7744E}"/>
              </a:ext>
            </a:extLst>
          </p:cNvPr>
          <p:cNvSpPr txBox="1"/>
          <p:nvPr/>
        </p:nvSpPr>
        <p:spPr>
          <a:xfrm>
            <a:off x="6402280" y="943904"/>
            <a:ext cx="3160451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⑥</a:t>
            </a:r>
            <a:r>
              <a:rPr kumimoji="1" lang="ko-KR" altLang="en-US" sz="1400" dirty="0"/>
              <a:t> </a:t>
            </a:r>
            <a:r>
              <a:rPr kumimoji="1" lang="ko-KR" altLang="en-US" sz="1400" dirty="0" err="1"/>
              <a:t>행렬곱</a:t>
            </a:r>
            <a:r>
              <a:rPr kumimoji="1" lang="en-US" altLang="ko-KR" sz="1400" dirty="0"/>
              <a:t>(Matrix Multiplication) </a:t>
            </a:r>
            <a:br>
              <a:rPr kumimoji="1" lang="en-US" altLang="ko-KR" sz="1400" dirty="0"/>
            </a:br>
            <a:r>
              <a:rPr kumimoji="1" lang="en-US" altLang="ko-KR" sz="1400" dirty="0"/>
              <a:t>    - </a:t>
            </a:r>
            <a:r>
              <a:rPr kumimoji="1" lang="ko-KR" altLang="en-US" sz="1400" dirty="0"/>
              <a:t>다차원 </a:t>
            </a:r>
            <a:r>
              <a:rPr kumimoji="1" lang="ko-KR" altLang="en-US" sz="1400" dirty="0" err="1"/>
              <a:t>텐서들의</a:t>
            </a:r>
            <a:r>
              <a:rPr kumimoji="1" lang="ko-KR" altLang="en-US" sz="1400" dirty="0"/>
              <a:t> 곱셈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3BA95E-A540-39AE-1E5B-9BE9D5959FBB}"/>
              </a:ext>
            </a:extLst>
          </p:cNvPr>
          <p:cNvSpPr txBox="1"/>
          <p:nvPr/>
        </p:nvSpPr>
        <p:spPr>
          <a:xfrm>
            <a:off x="294443" y="926148"/>
            <a:ext cx="5591448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⑤ </a:t>
            </a:r>
            <a:r>
              <a:rPr kumimoji="1" lang="ko-KR" altLang="en-US" sz="1400" dirty="0" err="1"/>
              <a:t>점곱</a:t>
            </a:r>
            <a:r>
              <a:rPr kumimoji="1" lang="en-US" altLang="ko-KR" sz="1400" dirty="0"/>
              <a:t>(dot product) </a:t>
            </a:r>
            <a:br>
              <a:rPr kumimoji="1" lang="en-US" altLang="ko-KR" sz="1400" dirty="0"/>
            </a:br>
            <a:r>
              <a:rPr kumimoji="1" lang="en-US" altLang="ko-KR" sz="1400" dirty="0"/>
              <a:t>    - 1</a:t>
            </a:r>
            <a:r>
              <a:rPr kumimoji="1" lang="ko-KR" altLang="en-US" sz="1400" dirty="0"/>
              <a:t>차원 </a:t>
            </a:r>
            <a:r>
              <a:rPr kumimoji="1" lang="ko-KR" altLang="en-US" sz="1400" dirty="0" err="1"/>
              <a:t>텐서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벡터</a:t>
            </a:r>
            <a:r>
              <a:rPr kumimoji="1" lang="en-US" altLang="ko-KR" sz="1400" dirty="0"/>
              <a:t>)</a:t>
            </a:r>
            <a:r>
              <a:rPr kumimoji="1" lang="ko-KR" altLang="en-US" sz="1400" dirty="0"/>
              <a:t>들의 곱셈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AEF9671-99B6-2352-4982-128F07116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40" y="1644835"/>
            <a:ext cx="4876800" cy="1473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572B8B-91DF-49B6-6241-461068F084FB}"/>
              </a:ext>
            </a:extLst>
          </p:cNvPr>
          <p:cNvSpPr txBox="1"/>
          <p:nvPr/>
        </p:nvSpPr>
        <p:spPr>
          <a:xfrm>
            <a:off x="730929" y="3457977"/>
            <a:ext cx="4527611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i="1" dirty="0" err="1"/>
              <a:t>axb</a:t>
            </a:r>
            <a:r>
              <a:rPr kumimoji="1" lang="en-US" altLang="ko-KR" sz="1400" i="1" dirty="0"/>
              <a:t> = (1x4) + (2x5) + (3x6) = 32</a:t>
            </a:r>
            <a:endParaRPr kumimoji="1" lang="ko-KR" altLang="en-US" sz="1400" i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5AF1EA-35EA-6CDA-6D11-9494F4354B74}"/>
              </a:ext>
            </a:extLst>
          </p:cNvPr>
          <p:cNvSpPr/>
          <p:nvPr/>
        </p:nvSpPr>
        <p:spPr>
          <a:xfrm>
            <a:off x="887764" y="2381435"/>
            <a:ext cx="1544715" cy="2463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9FC78FC-B026-06F1-B265-E934F1B5E279}"/>
              </a:ext>
            </a:extLst>
          </p:cNvPr>
          <p:cNvCxnSpPr>
            <a:cxnSpLocks/>
          </p:cNvCxnSpPr>
          <p:nvPr/>
        </p:nvCxnSpPr>
        <p:spPr>
          <a:xfrm>
            <a:off x="1775534" y="2627790"/>
            <a:ext cx="0" cy="80121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B8AD585-A4AD-5144-BD27-9B9C7848A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436" y="1644835"/>
            <a:ext cx="4876800" cy="30607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AC7233-8636-1C95-811F-A40C4D7DB93A}"/>
              </a:ext>
            </a:extLst>
          </p:cNvPr>
          <p:cNvSpPr/>
          <p:nvPr/>
        </p:nvSpPr>
        <p:spPr>
          <a:xfrm>
            <a:off x="6897949" y="3710866"/>
            <a:ext cx="1757778" cy="30993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6BB3F99-D0A0-3265-6FCE-00DAA4E7D77A}"/>
              </a:ext>
            </a:extLst>
          </p:cNvPr>
          <p:cNvCxnSpPr>
            <a:cxnSpLocks/>
          </p:cNvCxnSpPr>
          <p:nvPr/>
        </p:nvCxnSpPr>
        <p:spPr>
          <a:xfrm>
            <a:off x="7112494" y="4020799"/>
            <a:ext cx="0" cy="108386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58C813D-529D-D8E1-F7C8-CCAEA576BD57}"/>
              </a:ext>
            </a:extLst>
          </p:cNvPr>
          <p:cNvSpPr txBox="1"/>
          <p:nvPr/>
        </p:nvSpPr>
        <p:spPr>
          <a:xfrm>
            <a:off x="6637543" y="5275310"/>
            <a:ext cx="710066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i="1" dirty="0" err="1"/>
              <a:t>AxB</a:t>
            </a:r>
            <a:r>
              <a:rPr kumimoji="1" lang="en-US" altLang="ko-KR" sz="1400" i="1" dirty="0"/>
              <a:t> =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203D53-F20F-549F-D712-650DBCD4744C}"/>
                  </a:ext>
                </a:extLst>
              </p:cNvPr>
              <p:cNvSpPr txBox="1"/>
              <p:nvPr/>
            </p:nvSpPr>
            <p:spPr>
              <a:xfrm>
                <a:off x="7312096" y="5191065"/>
                <a:ext cx="710061" cy="4585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</m:e>
                              <m:e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3,</m:t>
                                </m:r>
                              </m:e>
                              <m:e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ko-KR" altLang="en-US" sz="1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203D53-F20F-549F-D712-650DBCD47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096" y="5191065"/>
                <a:ext cx="710061" cy="458523"/>
              </a:xfrm>
              <a:prstGeom prst="rect">
                <a:avLst/>
              </a:prstGeom>
              <a:blipFill>
                <a:blip r:embed="rId4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384D6D-2CC2-A658-F11B-9C94B857673A}"/>
                  </a:ext>
                </a:extLst>
              </p:cNvPr>
              <p:cNvSpPr txBox="1"/>
              <p:nvPr/>
            </p:nvSpPr>
            <p:spPr>
              <a:xfrm>
                <a:off x="7304695" y="5734080"/>
                <a:ext cx="2115990" cy="4637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5+2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7,  </m:t>
                                </m:r>
                              </m:e>
                              <m:e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6+2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5+4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7,</m:t>
                                </m:r>
                              </m:e>
                              <m:e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6+4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ko-KR" altLang="en-US" sz="14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384D6D-2CC2-A658-F11B-9C94B8576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695" y="5734080"/>
                <a:ext cx="2115990" cy="463717"/>
              </a:xfrm>
              <a:prstGeom prst="rect">
                <a:avLst/>
              </a:prstGeom>
              <a:blipFill>
                <a:blip r:embed="rId5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B3243EB-3D35-ADA2-0BC9-973A883BFB34}"/>
                  </a:ext>
                </a:extLst>
              </p:cNvPr>
              <p:cNvSpPr txBox="1"/>
              <p:nvPr/>
            </p:nvSpPr>
            <p:spPr>
              <a:xfrm>
                <a:off x="9590840" y="5733018"/>
                <a:ext cx="865719" cy="4712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19,</m:t>
                                </m:r>
                              </m:e>
                              <m:e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43,</m:t>
                                </m:r>
                              </m:e>
                              <m:e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ko-KR" altLang="en-US" sz="1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B3243EB-3D35-ADA2-0BC9-973A883BF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0840" y="5733018"/>
                <a:ext cx="865719" cy="471283"/>
              </a:xfrm>
              <a:prstGeom prst="rect">
                <a:avLst/>
              </a:prstGeom>
              <a:blipFill>
                <a:blip r:embed="rId6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E5FCEEE-A735-7C76-65CB-F7BA3B01B622}"/>
              </a:ext>
            </a:extLst>
          </p:cNvPr>
          <p:cNvSpPr txBox="1"/>
          <p:nvPr/>
        </p:nvSpPr>
        <p:spPr>
          <a:xfrm>
            <a:off x="9327329" y="5836081"/>
            <a:ext cx="316778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=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AFA822-AF8C-455E-E151-06C01572FB57}"/>
              </a:ext>
            </a:extLst>
          </p:cNvPr>
          <p:cNvSpPr txBox="1"/>
          <p:nvPr/>
        </p:nvSpPr>
        <p:spPr>
          <a:xfrm>
            <a:off x="7011730" y="5837561"/>
            <a:ext cx="316778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=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570C090-3C7E-3024-564F-0FFB3392727C}"/>
                  </a:ext>
                </a:extLst>
              </p:cNvPr>
              <p:cNvSpPr txBox="1"/>
              <p:nvPr/>
            </p:nvSpPr>
            <p:spPr>
              <a:xfrm>
                <a:off x="8137726" y="5182187"/>
                <a:ext cx="710061" cy="4637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ko-KR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7,</m:t>
                                </m:r>
                              </m:e>
                              <m:e>
                                <m:r>
                                  <a:rPr kumimoji="1" lang="en-US" altLang="ko-KR" sz="14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ko-KR" altLang="en-US" sz="14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570C090-3C7E-3024-564F-0FFB33927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726" y="5182187"/>
                <a:ext cx="710061" cy="463717"/>
              </a:xfrm>
              <a:prstGeom prst="rect">
                <a:avLst/>
              </a:prstGeom>
              <a:blipFill>
                <a:blip r:embed="rId7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0C5797A3-09B4-9ECA-4BD2-9FA6474E9481}"/>
              </a:ext>
            </a:extLst>
          </p:cNvPr>
          <p:cNvSpPr txBox="1"/>
          <p:nvPr/>
        </p:nvSpPr>
        <p:spPr>
          <a:xfrm>
            <a:off x="7936358" y="5275310"/>
            <a:ext cx="316778" cy="325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i="1" dirty="0"/>
              <a:t>x </a:t>
            </a:r>
          </a:p>
        </p:txBody>
      </p:sp>
    </p:spTree>
    <p:extLst>
      <p:ext uri="{BB962C8B-B14F-4D97-AF65-F5344CB8AC3E}">
        <p14:creationId xmlns:p14="http://schemas.microsoft.com/office/powerpoint/2010/main" val="1775200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BCD8DA-D0B0-336E-56B9-9893343D4CAA}"/>
              </a:ext>
            </a:extLst>
          </p:cNvPr>
          <p:cNvSpPr txBox="1"/>
          <p:nvPr/>
        </p:nvSpPr>
        <p:spPr>
          <a:xfrm>
            <a:off x="9863091" y="345053"/>
            <a:ext cx="203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A4D92-FF27-987C-687D-842CA581351C}"/>
              </a:ext>
            </a:extLst>
          </p:cNvPr>
          <p:cNvSpPr txBox="1"/>
          <p:nvPr/>
        </p:nvSpPr>
        <p:spPr>
          <a:xfrm>
            <a:off x="9863091" y="345053"/>
            <a:ext cx="203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C8FFEA-C4F9-B62E-71BF-D6466FD3FDEE}"/>
              </a:ext>
            </a:extLst>
          </p:cNvPr>
          <p:cNvSpPr/>
          <p:nvPr/>
        </p:nvSpPr>
        <p:spPr>
          <a:xfrm>
            <a:off x="266330" y="825623"/>
            <a:ext cx="3373515" cy="3906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Data Loader</a:t>
            </a:r>
            <a:endParaRPr kumimoji="1"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4F2EB-2539-0F20-B789-7A5F95677690}"/>
              </a:ext>
            </a:extLst>
          </p:cNvPr>
          <p:cNvSpPr txBox="1"/>
          <p:nvPr/>
        </p:nvSpPr>
        <p:spPr>
          <a:xfrm>
            <a:off x="266330" y="1349407"/>
            <a:ext cx="7572652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데이터를 무작위로 섞고</a:t>
            </a:r>
            <a:r>
              <a:rPr kumimoji="1" lang="en-US" altLang="ko-KR" sz="1400" dirty="0"/>
              <a:t>(shuffle), </a:t>
            </a:r>
            <a:r>
              <a:rPr kumimoji="1" lang="ko-KR" altLang="en-US" sz="1400" dirty="0"/>
              <a:t>일정크기로 나누어</a:t>
            </a:r>
            <a:r>
              <a:rPr kumimoji="1" lang="en-US" altLang="ko-KR" sz="1400" dirty="0"/>
              <a:t>(mini batch), </a:t>
            </a:r>
            <a:r>
              <a:rPr kumimoji="1" lang="ko-KR" altLang="en-US" sz="1400" dirty="0"/>
              <a:t>모델에 공급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941785-4397-4712-A78A-FE0470CFC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54" y="1763529"/>
            <a:ext cx="6658994" cy="4806668"/>
          </a:xfrm>
          <a:prstGeom prst="rect">
            <a:avLst/>
          </a:prstGeom>
        </p:spPr>
      </p:pic>
      <p:sp>
        <p:nvSpPr>
          <p:cNvPr id="7" name="오른쪽 대괄호[R] 6">
            <a:extLst>
              <a:ext uri="{FF2B5EF4-FFF2-40B4-BE49-F238E27FC236}">
                <a16:creationId xmlns:a16="http://schemas.microsoft.com/office/drawing/2014/main" id="{16BC8A64-8134-2FA1-A164-34B73D75897C}"/>
              </a:ext>
            </a:extLst>
          </p:cNvPr>
          <p:cNvSpPr/>
          <p:nvPr/>
        </p:nvSpPr>
        <p:spPr>
          <a:xfrm>
            <a:off x="7226421" y="1781285"/>
            <a:ext cx="88777" cy="1476821"/>
          </a:xfrm>
          <a:prstGeom prst="righ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4F9E63-B43C-0ACD-E973-FC3F52C3A827}"/>
              </a:ext>
            </a:extLst>
          </p:cNvPr>
          <p:cNvSpPr txBox="1"/>
          <p:nvPr/>
        </p:nvSpPr>
        <p:spPr>
          <a:xfrm>
            <a:off x="7457244" y="2245292"/>
            <a:ext cx="4336002" cy="54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300" dirty="0"/>
              <a:t>① csv</a:t>
            </a:r>
            <a:r>
              <a:rPr kumimoji="1" lang="ko-KR" altLang="en-US" sz="1300" dirty="0"/>
              <a:t>파일 등을 불러들여 </a:t>
            </a:r>
            <a:r>
              <a:rPr kumimoji="1" lang="en-US" altLang="ko-KR" sz="1300" dirty="0" err="1"/>
              <a:t>DataFrame</a:t>
            </a:r>
            <a:r>
              <a:rPr kumimoji="1" lang="ko-KR" altLang="en-US" sz="1300" dirty="0" err="1"/>
              <a:t>으로</a:t>
            </a:r>
            <a:r>
              <a:rPr kumimoji="1" lang="ko-KR" altLang="en-US" sz="1300" dirty="0"/>
              <a:t> 저장한다</a:t>
            </a:r>
            <a:r>
              <a:rPr kumimoji="1" lang="en-US" altLang="ko-KR" sz="1300" dirty="0"/>
              <a:t>. </a:t>
            </a:r>
          </a:p>
          <a:p>
            <a:pPr algn="l">
              <a:lnSpc>
                <a:spcPct val="120000"/>
              </a:lnSpc>
            </a:pPr>
            <a:r>
              <a:rPr kumimoji="1" lang="en-US" altLang="ko-KR" sz="1300" dirty="0"/>
              <a:t>    </a:t>
            </a:r>
            <a:r>
              <a:rPr kumimoji="1" lang="en-US" altLang="ko-KR" sz="1300" dirty="0" err="1"/>
              <a:t>DataFrame</a:t>
            </a:r>
            <a:r>
              <a:rPr kumimoji="1" lang="ko-KR" altLang="en-US" sz="1300" dirty="0"/>
              <a:t>은 </a:t>
            </a:r>
            <a:r>
              <a:rPr kumimoji="1" lang="en-US" altLang="ko-KR" sz="1300" dirty="0" err="1"/>
              <a:t>Numpy</a:t>
            </a:r>
            <a:r>
              <a:rPr kumimoji="1" lang="en-US" altLang="ko-KR" sz="1300" dirty="0"/>
              <a:t> array</a:t>
            </a:r>
            <a:r>
              <a:rPr kumimoji="1" lang="ko-KR" altLang="en-US" sz="1300" dirty="0"/>
              <a:t>의 집합이다</a:t>
            </a:r>
            <a:r>
              <a:rPr kumimoji="1" lang="en-US" altLang="ko-KR" sz="1300" dirty="0"/>
              <a:t>. </a:t>
            </a:r>
            <a:endParaRPr kumimoji="1" lang="ko-KR" altLang="en-US" sz="1300" dirty="0"/>
          </a:p>
        </p:txBody>
      </p:sp>
      <p:sp>
        <p:nvSpPr>
          <p:cNvPr id="9" name="오른쪽 대괄호[R] 8">
            <a:extLst>
              <a:ext uri="{FF2B5EF4-FFF2-40B4-BE49-F238E27FC236}">
                <a16:creationId xmlns:a16="http://schemas.microsoft.com/office/drawing/2014/main" id="{A0C8A84B-6386-A253-864A-EC7D09B50427}"/>
              </a:ext>
            </a:extLst>
          </p:cNvPr>
          <p:cNvSpPr/>
          <p:nvPr/>
        </p:nvSpPr>
        <p:spPr>
          <a:xfrm>
            <a:off x="7236777" y="3460644"/>
            <a:ext cx="60666" cy="720737"/>
          </a:xfrm>
          <a:prstGeom prst="righ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974FBF-F5A0-1FEB-A1AA-130F80BC4400}"/>
              </a:ext>
            </a:extLst>
          </p:cNvPr>
          <p:cNvSpPr txBox="1"/>
          <p:nvPr/>
        </p:nvSpPr>
        <p:spPr>
          <a:xfrm>
            <a:off x="7457244" y="3460644"/>
            <a:ext cx="4336002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300" dirty="0"/>
              <a:t>② </a:t>
            </a:r>
            <a:r>
              <a:rPr kumimoji="1" lang="en-US" altLang="ko-KR" sz="1300" dirty="0" err="1"/>
              <a:t>Numpy</a:t>
            </a:r>
            <a:r>
              <a:rPr kumimoji="1" lang="en-US" altLang="ko-KR" sz="1300" dirty="0"/>
              <a:t> array</a:t>
            </a:r>
            <a:r>
              <a:rPr kumimoji="1" lang="ko-KR" altLang="en-US" sz="1300" dirty="0" err="1"/>
              <a:t>를</a:t>
            </a:r>
            <a:r>
              <a:rPr kumimoji="1" lang="ko-KR" altLang="en-US" sz="1300" dirty="0"/>
              <a:t> 실수형 </a:t>
            </a:r>
            <a:r>
              <a:rPr kumimoji="1" lang="ko-KR" altLang="en-US" sz="1300" dirty="0" err="1"/>
              <a:t>텐서로</a:t>
            </a:r>
            <a:r>
              <a:rPr kumimoji="1" lang="ko-KR" altLang="en-US" sz="1300" dirty="0"/>
              <a:t> 변환 </a:t>
            </a:r>
          </a:p>
        </p:txBody>
      </p:sp>
      <p:sp>
        <p:nvSpPr>
          <p:cNvPr id="11" name="오른쪽 대괄호[R] 10">
            <a:extLst>
              <a:ext uri="{FF2B5EF4-FFF2-40B4-BE49-F238E27FC236}">
                <a16:creationId xmlns:a16="http://schemas.microsoft.com/office/drawing/2014/main" id="{A303A6FF-7A9D-2BC3-E417-291ADB2999B8}"/>
              </a:ext>
            </a:extLst>
          </p:cNvPr>
          <p:cNvSpPr/>
          <p:nvPr/>
        </p:nvSpPr>
        <p:spPr>
          <a:xfrm>
            <a:off x="7235299" y="4444808"/>
            <a:ext cx="60666" cy="1405576"/>
          </a:xfrm>
          <a:prstGeom prst="righ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4D1A8A-6CA1-CBEA-608B-3F16C52B56A4}"/>
              </a:ext>
            </a:extLst>
          </p:cNvPr>
          <p:cNvSpPr txBox="1"/>
          <p:nvPr/>
        </p:nvSpPr>
        <p:spPr>
          <a:xfrm>
            <a:off x="7455766" y="4839243"/>
            <a:ext cx="4336002" cy="54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300" dirty="0"/>
              <a:t>③ </a:t>
            </a:r>
            <a:r>
              <a:rPr kumimoji="1" lang="ko-KR" altLang="en-US" sz="1300" dirty="0"/>
              <a:t>변환된 </a:t>
            </a:r>
            <a:r>
              <a:rPr kumimoji="1" lang="en-US" altLang="ko-KR" sz="1300" dirty="0"/>
              <a:t>X</a:t>
            </a:r>
            <a:r>
              <a:rPr kumimoji="1" lang="ko-KR" altLang="en-US" sz="1300" dirty="0" err="1"/>
              <a:t>텐서와</a:t>
            </a:r>
            <a:r>
              <a:rPr kumimoji="1" lang="ko-KR" altLang="en-US" sz="1300" dirty="0"/>
              <a:t> </a:t>
            </a:r>
            <a:r>
              <a:rPr kumimoji="1" lang="en-US" altLang="ko-KR" sz="1300" dirty="0"/>
              <a:t>y</a:t>
            </a:r>
            <a:r>
              <a:rPr kumimoji="1" lang="ko-KR" altLang="en-US" sz="1300" dirty="0" err="1"/>
              <a:t>텐서를</a:t>
            </a:r>
            <a:r>
              <a:rPr kumimoji="1" lang="ko-KR" altLang="en-US" sz="1300" dirty="0"/>
              <a:t> 결합하여</a:t>
            </a:r>
            <a:r>
              <a:rPr kumimoji="1" lang="en-US" altLang="ko-KR" sz="1300" dirty="0"/>
              <a:t>, </a:t>
            </a:r>
            <a:br>
              <a:rPr kumimoji="1" lang="en-US" altLang="ko-KR" sz="1300" dirty="0"/>
            </a:br>
            <a:r>
              <a:rPr kumimoji="1" lang="en-US" altLang="ko-KR" sz="1300" dirty="0"/>
              <a:t>    </a:t>
            </a:r>
            <a:r>
              <a:rPr kumimoji="1" lang="ko-KR" altLang="en-US" sz="1300" dirty="0"/>
              <a:t>모델 입력을 위한 </a:t>
            </a:r>
            <a:r>
              <a:rPr kumimoji="1" lang="ko-KR" altLang="en-US" sz="1300" dirty="0" err="1"/>
              <a:t>텐서</a:t>
            </a:r>
            <a:r>
              <a:rPr kumimoji="1" lang="ko-KR" altLang="en-US" sz="1300" dirty="0"/>
              <a:t> 데이터셋을 만든다 </a:t>
            </a:r>
          </a:p>
        </p:txBody>
      </p:sp>
      <p:sp>
        <p:nvSpPr>
          <p:cNvPr id="13" name="오른쪽 대괄호[R] 12">
            <a:extLst>
              <a:ext uri="{FF2B5EF4-FFF2-40B4-BE49-F238E27FC236}">
                <a16:creationId xmlns:a16="http://schemas.microsoft.com/office/drawing/2014/main" id="{FD2908A8-2D32-AB57-1023-D88A9C8AC95F}"/>
              </a:ext>
            </a:extLst>
          </p:cNvPr>
          <p:cNvSpPr/>
          <p:nvPr/>
        </p:nvSpPr>
        <p:spPr>
          <a:xfrm>
            <a:off x="7235299" y="5983550"/>
            <a:ext cx="60666" cy="485037"/>
          </a:xfrm>
          <a:prstGeom prst="righ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57DCA-07D4-5CDA-9342-FBB902A81BE0}"/>
              </a:ext>
            </a:extLst>
          </p:cNvPr>
          <p:cNvSpPr txBox="1"/>
          <p:nvPr/>
        </p:nvSpPr>
        <p:spPr>
          <a:xfrm>
            <a:off x="7455765" y="5983550"/>
            <a:ext cx="4440059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300" dirty="0"/>
              <a:t>④ </a:t>
            </a:r>
            <a:r>
              <a:rPr kumimoji="1" lang="ko-KR" altLang="en-US" sz="1300" dirty="0" err="1"/>
              <a:t>텐서</a:t>
            </a:r>
            <a:r>
              <a:rPr kumimoji="1" lang="ko-KR" altLang="en-US" sz="1300" dirty="0"/>
              <a:t> 데이터셋을 </a:t>
            </a:r>
            <a:r>
              <a:rPr kumimoji="1" lang="en-US" altLang="ko-KR" sz="1300" dirty="0"/>
              <a:t>32</a:t>
            </a:r>
            <a:r>
              <a:rPr kumimoji="1" lang="ko-KR" altLang="en-US" sz="1300" dirty="0"/>
              <a:t>개의 미니배치로 모델에 공급한다</a:t>
            </a:r>
            <a:r>
              <a:rPr kumimoji="1" lang="en-US" altLang="ko-KR" sz="1300" dirty="0"/>
              <a:t>. </a:t>
            </a:r>
            <a:endParaRPr kumimoji="1"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3756912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A3A735-5D12-6B15-DA68-71E908B4750F}"/>
              </a:ext>
            </a:extLst>
          </p:cNvPr>
          <p:cNvSpPr txBox="1"/>
          <p:nvPr/>
        </p:nvSpPr>
        <p:spPr>
          <a:xfrm>
            <a:off x="9863091" y="345053"/>
            <a:ext cx="203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6CA00-4148-5862-DB3F-E2CDA3E717E8}"/>
              </a:ext>
            </a:extLst>
          </p:cNvPr>
          <p:cNvSpPr txBox="1"/>
          <p:nvPr/>
        </p:nvSpPr>
        <p:spPr>
          <a:xfrm>
            <a:off x="9863091" y="345053"/>
            <a:ext cx="203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88CC6C9-C8CA-A278-271E-C4F6858D5149}"/>
              </a:ext>
            </a:extLst>
          </p:cNvPr>
          <p:cNvSpPr/>
          <p:nvPr/>
        </p:nvSpPr>
        <p:spPr>
          <a:xfrm>
            <a:off x="266330" y="825623"/>
            <a:ext cx="3373515" cy="3906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Device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할당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0CE4C6-4B77-5A3F-3110-BFB35EF3EF68}"/>
              </a:ext>
            </a:extLst>
          </p:cNvPr>
          <p:cNvSpPr txBox="1"/>
          <p:nvPr/>
        </p:nvSpPr>
        <p:spPr>
          <a:xfrm>
            <a:off x="266330" y="1349407"/>
            <a:ext cx="7572652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데이터 </a:t>
            </a:r>
            <a:r>
              <a:rPr kumimoji="1" lang="ko-KR" altLang="en-US" sz="1400" dirty="0" err="1"/>
              <a:t>전처리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이미 학습된 모델의 러닝 </a:t>
            </a:r>
            <a:r>
              <a:rPr kumimoji="1" lang="en-US" altLang="ko-KR" sz="1400" dirty="0">
                <a:sym typeface="Wingdings" pitchFamily="2" charset="2"/>
              </a:rPr>
              <a:t> CPU 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sym typeface="Wingdings" pitchFamily="2" charset="2"/>
              </a:rPr>
              <a:t>모델 </a:t>
            </a:r>
            <a:r>
              <a:rPr kumimoji="1" lang="ko-KR" altLang="en-US" sz="1400" dirty="0" err="1">
                <a:sym typeface="Wingdings" pitchFamily="2" charset="2"/>
              </a:rPr>
              <a:t>학습시</a:t>
            </a:r>
            <a:r>
              <a:rPr kumimoji="1" lang="ko-KR" altLang="en-US" sz="1400" dirty="0">
                <a:sym typeface="Wingdings" pitchFamily="2" charset="2"/>
              </a:rPr>
              <a:t> 대량의 행렬 연산 </a:t>
            </a:r>
            <a:r>
              <a:rPr kumimoji="1" lang="en-US" altLang="ko-KR" sz="1400" dirty="0">
                <a:sym typeface="Wingdings" pitchFamily="2" charset="2"/>
              </a:rPr>
              <a:t> GPU </a:t>
            </a:r>
            <a:endParaRPr kumimoji="1" lang="ko-KR" altLang="en-US" sz="1400" dirty="0"/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A63A9CEC-FC90-5BC8-AB1F-15E877EA2923}"/>
              </a:ext>
            </a:extLst>
          </p:cNvPr>
          <p:cNvCxnSpPr>
            <a:cxnSpLocks/>
          </p:cNvCxnSpPr>
          <p:nvPr/>
        </p:nvCxnSpPr>
        <p:spPr>
          <a:xfrm flipV="1">
            <a:off x="6096000" y="2328821"/>
            <a:ext cx="0" cy="4329431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78C0D69-FC43-27C4-D2B5-56DCD379DFD5}"/>
              </a:ext>
            </a:extLst>
          </p:cNvPr>
          <p:cNvSpPr txBox="1"/>
          <p:nvPr/>
        </p:nvSpPr>
        <p:spPr>
          <a:xfrm>
            <a:off x="294443" y="2328821"/>
            <a:ext cx="5591448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b="1" dirty="0"/>
              <a:t>①</a:t>
            </a:r>
            <a:r>
              <a:rPr kumimoji="1" lang="ko-KR" altLang="en-US" sz="1400" b="1" dirty="0"/>
              <a:t> 데이터와 모델의 디바이스 할당 </a:t>
            </a:r>
            <a:br>
              <a:rPr kumimoji="1" lang="en-US" altLang="ko-KR" sz="1400" b="1" dirty="0"/>
            </a:br>
            <a:r>
              <a:rPr kumimoji="1" lang="en-US" altLang="ko-KR" sz="1400" dirty="0"/>
              <a:t>    ※ </a:t>
            </a:r>
            <a:r>
              <a:rPr kumimoji="1" lang="ko-KR" altLang="en-US" sz="1400" dirty="0"/>
              <a:t>주의</a:t>
            </a:r>
            <a:r>
              <a:rPr kumimoji="1" lang="en-US" altLang="ko-KR" sz="1400" dirty="0"/>
              <a:t>! </a:t>
            </a:r>
            <a:r>
              <a:rPr kumimoji="1" lang="ko-KR" altLang="en-US" sz="1400" dirty="0"/>
              <a:t>데이터셋과 모델은 같은 디바이스에 할당되어야 함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1BFCED2-5E54-8052-DC01-A99FAC9EA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44" y="3044299"/>
            <a:ext cx="5273948" cy="341528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28BEA47-147B-6FA0-3129-704BC9E16E1F}"/>
              </a:ext>
            </a:extLst>
          </p:cNvPr>
          <p:cNvSpPr/>
          <p:nvPr/>
        </p:nvSpPr>
        <p:spPr>
          <a:xfrm>
            <a:off x="4181378" y="3266718"/>
            <a:ext cx="1171858" cy="2463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C3D845-FD5B-49BD-45C8-2BDF6422240E}"/>
              </a:ext>
            </a:extLst>
          </p:cNvPr>
          <p:cNvSpPr/>
          <p:nvPr/>
        </p:nvSpPr>
        <p:spPr>
          <a:xfrm>
            <a:off x="2265271" y="3266718"/>
            <a:ext cx="1010589" cy="2463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48C626-0A50-FC5B-DE30-B92C00AD155A}"/>
              </a:ext>
            </a:extLst>
          </p:cNvPr>
          <p:cNvSpPr/>
          <p:nvPr/>
        </p:nvSpPr>
        <p:spPr>
          <a:xfrm>
            <a:off x="2104002" y="5262238"/>
            <a:ext cx="1171858" cy="24635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251F28-5A21-EC7E-D02B-EC484DD930F6}"/>
              </a:ext>
            </a:extLst>
          </p:cNvPr>
          <p:cNvSpPr txBox="1"/>
          <p:nvPr/>
        </p:nvSpPr>
        <p:spPr>
          <a:xfrm>
            <a:off x="6304377" y="2328821"/>
            <a:ext cx="5591448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b="1" dirty="0"/>
              <a:t>②</a:t>
            </a:r>
            <a:r>
              <a:rPr kumimoji="1" lang="ko-KR" altLang="en-US" sz="1400" b="1" dirty="0"/>
              <a:t> 디바이스 전환 </a:t>
            </a:r>
            <a:br>
              <a:rPr kumimoji="1" lang="en-US" altLang="ko-KR" sz="1400" b="1" dirty="0"/>
            </a:br>
            <a:r>
              <a:rPr kumimoji="1" lang="en-US" altLang="ko-KR" sz="1400" dirty="0"/>
              <a:t>    - </a:t>
            </a:r>
            <a:r>
              <a:rPr kumimoji="1" lang="ko-KR" altLang="en-US" sz="1400" dirty="0"/>
              <a:t>주로 모델 검증 단계에서 자주 사용됨 </a:t>
            </a:r>
            <a:r>
              <a:rPr kumimoji="1" lang="en-US" altLang="ko-KR" sz="1400" dirty="0"/>
              <a:t>(</a:t>
            </a:r>
            <a:r>
              <a:rPr kumimoji="1" lang="ko-KR" altLang="en-US" sz="1400" dirty="0" err="1"/>
              <a:t>넘파이가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GPU </a:t>
            </a:r>
            <a:r>
              <a:rPr kumimoji="1" lang="ko-KR" altLang="en-US" sz="1400" dirty="0"/>
              <a:t>지원</a:t>
            </a:r>
            <a:r>
              <a:rPr kumimoji="1" lang="en-US" altLang="ko-KR" sz="1400" dirty="0"/>
              <a:t> X) </a:t>
            </a:r>
            <a:endParaRPr kumimoji="1" lang="ko-KR" altLang="en-US" sz="1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07290F3-646E-837E-ACB2-49E7B2236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377" y="3044299"/>
            <a:ext cx="5297182" cy="34152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F2F52E2-3B49-C99B-A90C-E2772C69C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300" y="987927"/>
            <a:ext cx="5591448" cy="945358"/>
          </a:xfrm>
          <a:prstGeom prst="rect">
            <a:avLst/>
          </a:prstGeom>
        </p:spPr>
      </p:pic>
      <p:cxnSp>
        <p:nvCxnSpPr>
          <p:cNvPr id="17" name="꺾인 연결선[E] 16">
            <a:extLst>
              <a:ext uri="{FF2B5EF4-FFF2-40B4-BE49-F238E27FC236}">
                <a16:creationId xmlns:a16="http://schemas.microsoft.com/office/drawing/2014/main" id="{B277A3B0-4434-5C7B-9B3E-BFCE08455CD4}"/>
              </a:ext>
            </a:extLst>
          </p:cNvPr>
          <p:cNvCxnSpPr>
            <a:stCxn id="4" idx="3"/>
            <a:endCxn id="15" idx="1"/>
          </p:cNvCxnSpPr>
          <p:nvPr/>
        </p:nvCxnSpPr>
        <p:spPr>
          <a:xfrm>
            <a:off x="3639845" y="1020932"/>
            <a:ext cx="1545455" cy="439674"/>
          </a:xfrm>
          <a:prstGeom prst="bentConnector3">
            <a:avLst>
              <a:gd name="adj1" fmla="val 6780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059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9EB3FE-6AAC-BDCD-AAD1-43139A203AD8}"/>
              </a:ext>
            </a:extLst>
          </p:cNvPr>
          <p:cNvSpPr txBox="1"/>
          <p:nvPr/>
        </p:nvSpPr>
        <p:spPr>
          <a:xfrm>
            <a:off x="9863091" y="345053"/>
            <a:ext cx="203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EA6DE2-9FA4-B96F-36D6-F588ACCE730F}"/>
              </a:ext>
            </a:extLst>
          </p:cNvPr>
          <p:cNvSpPr txBox="1"/>
          <p:nvPr/>
        </p:nvSpPr>
        <p:spPr>
          <a:xfrm>
            <a:off x="9863091" y="345053"/>
            <a:ext cx="2032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02. </a:t>
            </a:r>
            <a:r>
              <a:rPr kumimoji="1" lang="en-US" altLang="ko-KR" sz="1200" dirty="0" err="1"/>
              <a:t>Pytorch</a:t>
            </a:r>
            <a:r>
              <a:rPr kumimoji="1" lang="en-US" altLang="ko-KR" sz="1200" dirty="0"/>
              <a:t> Basic</a:t>
            </a:r>
            <a:endParaRPr kumimoji="1" lang="ko-KR" altLang="en-US" sz="1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C37F36-0394-BB97-61F5-4BFF459EC845}"/>
              </a:ext>
            </a:extLst>
          </p:cNvPr>
          <p:cNvSpPr/>
          <p:nvPr/>
        </p:nvSpPr>
        <p:spPr>
          <a:xfrm>
            <a:off x="266330" y="825623"/>
            <a:ext cx="3373515" cy="39061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가중치</a:t>
            </a:r>
            <a:r>
              <a:rPr kumimoji="1" lang="en-US" altLang="ko-KR" sz="1600" b="1" dirty="0">
                <a:solidFill>
                  <a:schemeClr val="tx1"/>
                </a:solidFill>
              </a:rPr>
              <a:t>(Weights)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업데이트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200DD-27A7-7E40-64FD-3B4E5B52280F}"/>
              </a:ext>
            </a:extLst>
          </p:cNvPr>
          <p:cNvSpPr txBox="1"/>
          <p:nvPr/>
        </p:nvSpPr>
        <p:spPr>
          <a:xfrm>
            <a:off x="266330" y="1393794"/>
            <a:ext cx="11514338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초기 가중치는 랜덤 </a:t>
            </a:r>
            <a:r>
              <a:rPr kumimoji="1" lang="en-US" altLang="ko-KR" sz="1400" dirty="0">
                <a:sym typeface="Wingdings" pitchFamily="2" charset="2"/>
              </a:rPr>
              <a:t> </a:t>
            </a:r>
            <a:r>
              <a:rPr kumimoji="1" lang="ko-KR" altLang="en-US" sz="1400" dirty="0">
                <a:sym typeface="Wingdings" pitchFamily="2" charset="2"/>
              </a:rPr>
              <a:t>손실함수</a:t>
            </a:r>
            <a:r>
              <a:rPr kumimoji="1" lang="en-US" altLang="ko-KR" sz="1400" dirty="0">
                <a:sym typeface="Wingdings" pitchFamily="2" charset="2"/>
              </a:rPr>
              <a:t>(</a:t>
            </a:r>
            <a:r>
              <a:rPr kumimoji="1" lang="ko-KR" altLang="en-US" sz="1400" dirty="0">
                <a:sym typeface="Wingdings" pitchFamily="2" charset="2"/>
              </a:rPr>
              <a:t>오차</a:t>
            </a:r>
            <a:r>
              <a:rPr kumimoji="1" lang="en-US" altLang="ko-KR" sz="1400" dirty="0">
                <a:sym typeface="Wingdings" pitchFamily="2" charset="2"/>
              </a:rPr>
              <a:t>)</a:t>
            </a:r>
            <a:r>
              <a:rPr kumimoji="1" lang="ko-KR" altLang="en-US" sz="1400" dirty="0">
                <a:sym typeface="Wingdings" pitchFamily="2" charset="2"/>
              </a:rPr>
              <a:t> 계산 </a:t>
            </a:r>
            <a:r>
              <a:rPr kumimoji="1" lang="en-US" altLang="ko-KR" sz="1400" dirty="0">
                <a:sym typeface="Wingdings" pitchFamily="2" charset="2"/>
              </a:rPr>
              <a:t> Optimizer</a:t>
            </a:r>
            <a:r>
              <a:rPr kumimoji="1" lang="ko-KR" altLang="en-US" sz="1400" dirty="0">
                <a:sym typeface="Wingdings" pitchFamily="2" charset="2"/>
              </a:rPr>
              <a:t>로 가중치 조정 </a:t>
            </a:r>
            <a:r>
              <a:rPr kumimoji="1" lang="en-US" altLang="ko-KR" sz="1400" dirty="0">
                <a:sym typeface="Wingdings" pitchFamily="2" charset="2"/>
              </a:rPr>
              <a:t> </a:t>
            </a:r>
            <a:r>
              <a:rPr kumimoji="1" lang="ko-KR" altLang="en-US" sz="1400" dirty="0">
                <a:sym typeface="Wingdings" pitchFamily="2" charset="2"/>
              </a:rPr>
              <a:t>오차 재 계산 </a:t>
            </a:r>
            <a:r>
              <a:rPr kumimoji="1" lang="en-US" altLang="ko-KR" sz="1400" dirty="0">
                <a:sym typeface="Wingdings" pitchFamily="2" charset="2"/>
              </a:rPr>
              <a:t>… (</a:t>
            </a:r>
            <a:r>
              <a:rPr kumimoji="1" lang="ko-KR" altLang="en-US" sz="1400" dirty="0">
                <a:sym typeface="Wingdings" pitchFamily="2" charset="2"/>
              </a:rPr>
              <a:t>반복</a:t>
            </a:r>
            <a:r>
              <a:rPr kumimoji="1" lang="en-US" altLang="ko-KR" sz="1400" dirty="0">
                <a:sym typeface="Wingdings" pitchFamily="2" charset="2"/>
              </a:rPr>
              <a:t>) </a:t>
            </a: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>
                <a:sym typeface="Wingdings" pitchFamily="2" charset="2"/>
              </a:rPr>
              <a:t>Optimizer(Adam) : </a:t>
            </a:r>
            <a:r>
              <a:rPr kumimoji="1" lang="ko-KR" altLang="en-US" sz="1400" dirty="0">
                <a:sym typeface="Wingdings" pitchFamily="2" charset="2"/>
              </a:rPr>
              <a:t>경사 하강법에 의해 가중치를 </a:t>
            </a:r>
            <a:r>
              <a:rPr kumimoji="1" lang="en-US" altLang="ko-KR" sz="1400" dirty="0">
                <a:sym typeface="Wingdings" pitchFamily="2" charset="2"/>
              </a:rPr>
              <a:t>+/- </a:t>
            </a:r>
            <a:r>
              <a:rPr kumimoji="1" lang="ko-KR" altLang="en-US" sz="1400" dirty="0">
                <a:sym typeface="Wingdings" pitchFamily="2" charset="2"/>
              </a:rPr>
              <a:t>방향으로 어느정도 이동시킬지를 결정 </a:t>
            </a:r>
            <a:endParaRPr kumimoji="1" lang="ko-KR" altLang="en-US" sz="14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18F2E79-03C5-85FD-3DF8-4D21B7F5E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901" y="3185930"/>
            <a:ext cx="11597196" cy="2846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27DD6A-15E6-3772-78C6-898548273721}"/>
              </a:ext>
            </a:extLst>
          </p:cNvPr>
          <p:cNvSpPr txBox="1"/>
          <p:nvPr/>
        </p:nvSpPr>
        <p:spPr>
          <a:xfrm>
            <a:off x="1864311" y="5309836"/>
            <a:ext cx="1198485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300" i="1" dirty="0">
                <a:solidFill>
                  <a:srgbClr val="C00000"/>
                </a:solidFill>
              </a:rPr>
              <a:t>y = </a:t>
            </a:r>
            <a:r>
              <a:rPr kumimoji="1" lang="en-US" altLang="ko-KR" sz="1300" i="1" dirty="0" err="1">
                <a:solidFill>
                  <a:srgbClr val="C00000"/>
                </a:solidFill>
              </a:rPr>
              <a:t>Wx</a:t>
            </a:r>
            <a:r>
              <a:rPr kumimoji="1" lang="en-US" altLang="ko-KR" sz="1300" i="1" dirty="0">
                <a:solidFill>
                  <a:srgbClr val="C00000"/>
                </a:solidFill>
              </a:rPr>
              <a:t> + b</a:t>
            </a:r>
            <a:endParaRPr kumimoji="1" lang="ko-KR" altLang="en-US" sz="1300" i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590593-B94F-FDE9-336B-633991843780}"/>
              </a:ext>
            </a:extLst>
          </p:cNvPr>
          <p:cNvSpPr txBox="1"/>
          <p:nvPr/>
        </p:nvSpPr>
        <p:spPr>
          <a:xfrm>
            <a:off x="224901" y="2601160"/>
            <a:ext cx="7732450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※ </a:t>
            </a:r>
            <a:r>
              <a:rPr kumimoji="1" lang="ko-KR" altLang="en-US" sz="1400" u="sng" dirty="0"/>
              <a:t>반복학습</a:t>
            </a:r>
            <a:r>
              <a:rPr kumimoji="1" lang="en-US" altLang="ko-KR" sz="1400" u="sng" dirty="0"/>
              <a:t>(epoch </a:t>
            </a:r>
            <a:r>
              <a:rPr kumimoji="1" lang="ko-KR" altLang="en-US" sz="1400" u="sng" dirty="0"/>
              <a:t>증가</a:t>
            </a:r>
            <a:r>
              <a:rPr kumimoji="1" lang="en-US" altLang="ko-KR" sz="1400" u="sng" dirty="0"/>
              <a:t>)</a:t>
            </a:r>
            <a:r>
              <a:rPr kumimoji="1" lang="ko-KR" altLang="en-US" sz="1400" u="sng" dirty="0" err="1"/>
              <a:t>에</a:t>
            </a:r>
            <a:r>
              <a:rPr kumimoji="1" lang="ko-KR" altLang="en-US" sz="1400" u="sng" dirty="0"/>
              <a:t> 따른 가중치 변화 예시</a:t>
            </a:r>
            <a:r>
              <a:rPr kumimoji="1" lang="en-US" altLang="ko-KR" sz="1400" dirty="0"/>
              <a:t> </a:t>
            </a:r>
            <a:r>
              <a:rPr kumimoji="1" lang="en-US" altLang="ko-KR" sz="1200" dirty="0"/>
              <a:t>(optimizer = Adam, </a:t>
            </a:r>
            <a:r>
              <a:rPr kumimoji="1" lang="en-US" altLang="ko-KR" sz="1200" dirty="0" err="1"/>
              <a:t>learning_rate</a:t>
            </a:r>
            <a:r>
              <a:rPr kumimoji="1" lang="en-US" altLang="ko-KR" sz="1200" dirty="0"/>
              <a:t> = 0.1) </a:t>
            </a:r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8874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lnSpc>
            <a:spcPct val="120000"/>
          </a:lnSpc>
          <a:buFont typeface="Arial" panose="020B0604020202020204" pitchFamily="34" charset="0"/>
          <a:buChar char="•"/>
          <a:defRPr kumimoji="1"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930</Words>
  <Application>Microsoft Macintosh PowerPoint</Application>
  <PresentationFormat>와이드스크린</PresentationFormat>
  <Paragraphs>149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Young-Boo Choi</dc:creator>
  <cp:lastModifiedBy>Young-Boo Choi</cp:lastModifiedBy>
  <cp:revision>148</cp:revision>
  <dcterms:created xsi:type="dcterms:W3CDTF">2025-12-09T14:37:52Z</dcterms:created>
  <dcterms:modified xsi:type="dcterms:W3CDTF">2026-03-20T08:26:39Z</dcterms:modified>
</cp:coreProperties>
</file>