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73" r:id="rId3"/>
    <p:sldId id="274" r:id="rId4"/>
    <p:sldId id="275" r:id="rId5"/>
    <p:sldId id="276" r:id="rId6"/>
    <p:sldId id="277" r:id="rId7"/>
    <p:sldId id="279" r:id="rId8"/>
    <p:sldId id="278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935"/>
    <p:restoredTop sz="96790"/>
  </p:normalViewPr>
  <p:slideViewPr>
    <p:cSldViewPr snapToGrid="0">
      <p:cViewPr varScale="1">
        <p:scale>
          <a:sx n="144" d="100"/>
          <a:sy n="144" d="100"/>
        </p:scale>
        <p:origin x="8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2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EC386611-DA1D-5984-7915-A39655EA00D8}"/>
              </a:ext>
            </a:extLst>
          </p:cNvPr>
          <p:cNvCxnSpPr/>
          <p:nvPr userDrawn="1"/>
        </p:nvCxnSpPr>
        <p:spPr>
          <a:xfrm>
            <a:off x="268913" y="694436"/>
            <a:ext cx="1163937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5ACC33B-932B-13A7-800E-CA47F31C7A77}"/>
              </a:ext>
            </a:extLst>
          </p:cNvPr>
          <p:cNvSpPr txBox="1"/>
          <p:nvPr userDrawn="1"/>
        </p:nvSpPr>
        <p:spPr>
          <a:xfrm>
            <a:off x="10864676" y="6291470"/>
            <a:ext cx="10436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977F96B8-C915-EB4F-8C3F-29DAE644A8B2}" type="slidenum">
              <a:rPr kumimoji="1" lang="ko-KR" altLang="en-US" sz="1200" smtClean="0"/>
              <a:pPr algn="r"/>
              <a:t>‹#›</a:t>
            </a:fld>
            <a:endParaRPr kumimoji="1" lang="ko-KR" alt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BEBB57-E58D-1126-CFFA-065DCF37E58D}"/>
              </a:ext>
            </a:extLst>
          </p:cNvPr>
          <p:cNvSpPr txBox="1"/>
          <p:nvPr userDrawn="1"/>
        </p:nvSpPr>
        <p:spPr>
          <a:xfrm>
            <a:off x="188007" y="323716"/>
            <a:ext cx="35077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en-US" altLang="ko-KR" sz="1200" dirty="0"/>
              <a:t>Deep Learning with </a:t>
            </a:r>
            <a:r>
              <a:rPr kumimoji="1" lang="en-US" altLang="ko-KR" sz="1200" dirty="0" err="1"/>
              <a:t>Pytorch</a:t>
            </a:r>
            <a:endParaRPr kumimoji="1"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1551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EA1C0A-EAB4-70F3-F80B-C43D9EFEB2B8}"/>
              </a:ext>
            </a:extLst>
          </p:cNvPr>
          <p:cNvSpPr txBox="1"/>
          <p:nvPr/>
        </p:nvSpPr>
        <p:spPr>
          <a:xfrm>
            <a:off x="10317190" y="336429"/>
            <a:ext cx="15355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1-1. </a:t>
            </a:r>
            <a:r>
              <a:rPr kumimoji="1" lang="ko-KR" altLang="en-US" sz="1200" dirty="0"/>
              <a:t>과정소개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688FDB-FB25-6391-F405-76C2A3284180}"/>
              </a:ext>
            </a:extLst>
          </p:cNvPr>
          <p:cNvSpPr/>
          <p:nvPr/>
        </p:nvSpPr>
        <p:spPr>
          <a:xfrm>
            <a:off x="232913" y="232913"/>
            <a:ext cx="11740551" cy="628865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B18510-5A9B-9E78-9DDB-ABEB9CCBD434}"/>
              </a:ext>
            </a:extLst>
          </p:cNvPr>
          <p:cNvSpPr txBox="1"/>
          <p:nvPr/>
        </p:nvSpPr>
        <p:spPr>
          <a:xfrm>
            <a:off x="778135" y="1535100"/>
            <a:ext cx="1036895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3300" b="1" dirty="0"/>
              <a:t>Deep Learning with </a:t>
            </a:r>
            <a:r>
              <a:rPr kumimoji="1" lang="en-US" altLang="ko-KR" sz="3300" b="1" dirty="0" err="1"/>
              <a:t>Pytorch</a:t>
            </a:r>
            <a:endParaRPr kumimoji="1" lang="en-US" altLang="ko-KR" sz="33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B1708-9840-AFBF-CFD2-887619A75B54}"/>
              </a:ext>
            </a:extLst>
          </p:cNvPr>
          <p:cNvSpPr txBox="1"/>
          <p:nvPr/>
        </p:nvSpPr>
        <p:spPr>
          <a:xfrm>
            <a:off x="4063040" y="2931851"/>
            <a:ext cx="4876773" cy="1389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ko-KR" sz="1600" b="1" dirty="0">
                <a:latin typeface="+mn-ea"/>
              </a:rPr>
              <a:t>03. Regression Modeling</a:t>
            </a:r>
          </a:p>
          <a:p>
            <a:pPr marL="139700">
              <a:lnSpc>
                <a:spcPct val="150000"/>
              </a:lnSpc>
            </a:pPr>
            <a:br>
              <a:rPr kumimoji="1" lang="en-US" altLang="ko-KR" sz="1400" dirty="0">
                <a:latin typeface="+mn-ea"/>
              </a:rPr>
            </a:b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1] </a:t>
            </a:r>
            <a:r>
              <a:rPr kumimoji="1" lang="ko-KR" altLang="en-US" sz="1400" dirty="0">
                <a:latin typeface="+mn-ea"/>
              </a:rPr>
              <a:t>간단한 신경망 모델 </a:t>
            </a:r>
            <a:endParaRPr kumimoji="1" lang="en-US" altLang="ko-KR" sz="1400" dirty="0">
              <a:latin typeface="+mn-ea"/>
            </a:endParaRPr>
          </a:p>
          <a:p>
            <a:pPr marL="139700">
              <a:lnSpc>
                <a:spcPct val="150000"/>
              </a:lnSpc>
            </a:pPr>
            <a:r>
              <a:rPr kumimoji="1" lang="en-US" altLang="ko-KR" sz="1400" dirty="0">
                <a:latin typeface="+mn-ea"/>
              </a:rPr>
              <a:t>[</a:t>
            </a:r>
            <a:r>
              <a:rPr kumimoji="1" lang="ko-KR" altLang="en-US" sz="1400" dirty="0">
                <a:latin typeface="+mn-ea"/>
              </a:rPr>
              <a:t>실습</a:t>
            </a:r>
            <a:r>
              <a:rPr kumimoji="1" lang="en-US" altLang="ko-KR" sz="1400" dirty="0">
                <a:latin typeface="+mn-ea"/>
              </a:rPr>
              <a:t>2] </a:t>
            </a:r>
            <a:r>
              <a:rPr kumimoji="1" lang="ko-KR" altLang="en-US" sz="1400" dirty="0">
                <a:latin typeface="+mn-ea"/>
              </a:rPr>
              <a:t>은닉층을 가진 신경망 모델 </a:t>
            </a:r>
          </a:p>
        </p:txBody>
      </p:sp>
    </p:spTree>
    <p:extLst>
      <p:ext uri="{BB962C8B-B14F-4D97-AF65-F5344CB8AC3E}">
        <p14:creationId xmlns:p14="http://schemas.microsoft.com/office/powerpoint/2010/main" val="395266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3EDD26-9939-94FE-9DF8-E5BA809AD977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2AA50BD-23A3-10EA-4853-9EC3733A41A4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]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은닉층이 없는 간단한 신경망 만들기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FF6074-4299-BDC0-896C-E3427CFEA407}"/>
              </a:ext>
            </a:extLst>
          </p:cNvPr>
          <p:cNvSpPr txBox="1"/>
          <p:nvPr/>
        </p:nvSpPr>
        <p:spPr>
          <a:xfrm>
            <a:off x="346229" y="1482571"/>
            <a:ext cx="10049522" cy="1618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Boston Housing Price (</a:t>
            </a:r>
            <a:r>
              <a:rPr kumimoji="1" lang="ko-KR" altLang="en-US" sz="1400" dirty="0"/>
              <a:t>일부만 사용</a:t>
            </a:r>
            <a:r>
              <a:rPr kumimoji="1" lang="en-US" altLang="ko-KR" sz="1400" dirty="0"/>
              <a:t>) 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학습목표 </a:t>
            </a:r>
            <a:r>
              <a:rPr kumimoji="1" lang="en-US" altLang="ko-KR" sz="1400" dirty="0"/>
              <a:t>: </a:t>
            </a:r>
            <a:r>
              <a:rPr kumimoji="1" lang="ko-KR" altLang="en-US" sz="1400" dirty="0"/>
              <a:t>딥러닝 훈련의 필수 기능들을 함수로 구현해보기 </a:t>
            </a:r>
            <a:br>
              <a:rPr kumimoji="1" lang="en-US" altLang="ko-KR" sz="1400" dirty="0"/>
            </a:br>
            <a:r>
              <a:rPr kumimoji="1" lang="en-US" altLang="ko-KR" sz="1400" dirty="0"/>
              <a:t>               - Data Loader, Model Trainer, Model Evaluator, Learning Curve(</a:t>
            </a:r>
            <a:r>
              <a:rPr kumimoji="1" lang="ko-KR" altLang="en-US" sz="1400" dirty="0"/>
              <a:t>시각화</a:t>
            </a:r>
            <a:r>
              <a:rPr kumimoji="1" lang="en-US" altLang="ko-KR" sz="1400" dirty="0"/>
              <a:t>) 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모델 구조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BDAB22C-AE1B-892A-CEC1-62CFDE628172}"/>
              </a:ext>
            </a:extLst>
          </p:cNvPr>
          <p:cNvSpPr/>
          <p:nvPr/>
        </p:nvSpPr>
        <p:spPr>
          <a:xfrm>
            <a:off x="2752078" y="3503655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C39FC1-A328-1FF8-1EC3-D2BBC8B73837}"/>
              </a:ext>
            </a:extLst>
          </p:cNvPr>
          <p:cNvSpPr/>
          <p:nvPr/>
        </p:nvSpPr>
        <p:spPr>
          <a:xfrm>
            <a:off x="2752078" y="4313003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84559E7D-9A35-F67F-6E41-10085C831A2E}"/>
              </a:ext>
            </a:extLst>
          </p:cNvPr>
          <p:cNvSpPr/>
          <p:nvPr/>
        </p:nvSpPr>
        <p:spPr>
          <a:xfrm>
            <a:off x="2769832" y="5122351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9A43047-278A-C6EA-7EF4-6CA28F6B92EE}"/>
              </a:ext>
            </a:extLst>
          </p:cNvPr>
          <p:cNvSpPr/>
          <p:nvPr/>
        </p:nvSpPr>
        <p:spPr>
          <a:xfrm>
            <a:off x="4687410" y="3988968"/>
            <a:ext cx="1047565" cy="104756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8B8A3-C612-DCC3-895A-6039BE4471C3}"/>
              </a:ext>
            </a:extLst>
          </p:cNvPr>
          <p:cNvSpPr txBox="1"/>
          <p:nvPr/>
        </p:nvSpPr>
        <p:spPr>
          <a:xfrm>
            <a:off x="4589755" y="5123339"/>
            <a:ext cx="127838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dirty="0"/>
              <a:t>layer (</a:t>
            </a:r>
            <a:r>
              <a:rPr kumimoji="1" lang="ko-KR" altLang="en-US" sz="1300" dirty="0" err="1"/>
              <a:t>출력층</a:t>
            </a:r>
            <a:r>
              <a:rPr kumimoji="1" lang="en-US" altLang="ko-KR" sz="1300" dirty="0"/>
              <a:t>)</a:t>
            </a:r>
            <a:endParaRPr kumimoji="1" lang="ko-KR" altLang="en-US" sz="13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6532C5E-F55B-EE64-BF0A-F239838CB12E}"/>
              </a:ext>
            </a:extLst>
          </p:cNvPr>
          <p:cNvCxnSpPr>
            <a:stCxn id="5" idx="6"/>
            <a:endCxn id="8" idx="2"/>
          </p:cNvCxnSpPr>
          <p:nvPr/>
        </p:nvCxnSpPr>
        <p:spPr>
          <a:xfrm>
            <a:off x="3151574" y="3703403"/>
            <a:ext cx="1535836" cy="809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0BE97E2-B30F-4A1A-B4A0-2CB06AA52D04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>
            <a:off x="3151574" y="4512751"/>
            <a:ext cx="15358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5DBB105-13CE-D877-63F5-5C0354091908}"/>
              </a:ext>
            </a:extLst>
          </p:cNvPr>
          <p:cNvCxnSpPr>
            <a:cxnSpLocks/>
            <a:stCxn id="7" idx="6"/>
            <a:endCxn id="8" idx="2"/>
          </p:cNvCxnSpPr>
          <p:nvPr/>
        </p:nvCxnSpPr>
        <p:spPr>
          <a:xfrm flipV="1">
            <a:off x="3169328" y="4512751"/>
            <a:ext cx="1518082" cy="8093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F278626-2260-D671-E5BD-97767137BB1E}"/>
              </a:ext>
            </a:extLst>
          </p:cNvPr>
          <p:cNvSpPr txBox="1"/>
          <p:nvPr/>
        </p:nvSpPr>
        <p:spPr>
          <a:xfrm>
            <a:off x="1331656" y="3429000"/>
            <a:ext cx="1407111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i="1" dirty="0" err="1"/>
              <a:t>lstat</a:t>
            </a:r>
            <a:endParaRPr kumimoji="1" lang="en-US" altLang="ko-KR" sz="1300" i="1" dirty="0"/>
          </a:p>
          <a:p>
            <a:pPr algn="ctr">
              <a:lnSpc>
                <a:spcPct val="120000"/>
              </a:lnSpc>
            </a:pPr>
            <a:r>
              <a:rPr kumimoji="1" lang="en-US" altLang="ko-KR" sz="1100" i="1" dirty="0"/>
              <a:t>(</a:t>
            </a:r>
            <a:r>
              <a:rPr kumimoji="1" lang="ko-KR" altLang="en-US" sz="1100" i="1" dirty="0"/>
              <a:t>하위계층 비율</a:t>
            </a:r>
            <a:r>
              <a:rPr kumimoji="1" lang="en-US" altLang="ko-KR" sz="1100" i="1" dirty="0"/>
              <a:t>)</a:t>
            </a:r>
            <a:endParaRPr kumimoji="1" lang="ko-KR" altLang="en-US" sz="1100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926323-68F8-A7E5-71DE-E2A976A46C2D}"/>
              </a:ext>
            </a:extLst>
          </p:cNvPr>
          <p:cNvSpPr txBox="1"/>
          <p:nvPr/>
        </p:nvSpPr>
        <p:spPr>
          <a:xfrm>
            <a:off x="1177779" y="4264983"/>
            <a:ext cx="1535835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i="1" dirty="0" err="1"/>
              <a:t>ptratio</a:t>
            </a:r>
            <a:endParaRPr kumimoji="1" lang="en-US" altLang="ko-KR" sz="1300" i="1" dirty="0"/>
          </a:p>
          <a:p>
            <a:pPr algn="ctr">
              <a:lnSpc>
                <a:spcPct val="120000"/>
              </a:lnSpc>
            </a:pPr>
            <a:r>
              <a:rPr kumimoji="1" lang="en-US" altLang="ko-KR" sz="1100" i="1" dirty="0"/>
              <a:t>(</a:t>
            </a:r>
            <a:r>
              <a:rPr kumimoji="1" lang="ko-KR" altLang="en-US" sz="1100" i="1" dirty="0"/>
              <a:t>교사</a:t>
            </a:r>
            <a:r>
              <a:rPr kumimoji="1" lang="en-US" altLang="ko-KR" sz="1100" i="1" dirty="0"/>
              <a:t>1</a:t>
            </a:r>
            <a:r>
              <a:rPr kumimoji="1" lang="ko-KR" altLang="en-US" sz="1100" i="1" dirty="0"/>
              <a:t>인당 학생비율</a:t>
            </a:r>
            <a:r>
              <a:rPr kumimoji="1" lang="en-US" altLang="ko-KR" sz="1100" i="1" dirty="0"/>
              <a:t>)</a:t>
            </a:r>
            <a:endParaRPr kumimoji="1" lang="ko-KR" altLang="en-US" sz="1100" i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D6E848-D9E4-E6FB-7AE0-3963F07E0E44}"/>
              </a:ext>
            </a:extLst>
          </p:cNvPr>
          <p:cNvSpPr txBox="1"/>
          <p:nvPr/>
        </p:nvSpPr>
        <p:spPr>
          <a:xfrm>
            <a:off x="1281348" y="5100964"/>
            <a:ext cx="1407111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i="1" dirty="0"/>
              <a:t>crime</a:t>
            </a:r>
          </a:p>
          <a:p>
            <a:pPr algn="ctr">
              <a:lnSpc>
                <a:spcPct val="120000"/>
              </a:lnSpc>
            </a:pPr>
            <a:r>
              <a:rPr kumimoji="1" lang="en-US" altLang="ko-KR" sz="1100" i="1" dirty="0"/>
              <a:t>(</a:t>
            </a:r>
            <a:r>
              <a:rPr kumimoji="1" lang="ko-KR" altLang="en-US" sz="1100" i="1" dirty="0" err="1"/>
              <a:t>범죄율</a:t>
            </a:r>
            <a:r>
              <a:rPr kumimoji="1" lang="en-US" altLang="ko-KR" sz="1100" i="1" dirty="0"/>
              <a:t>)</a:t>
            </a:r>
            <a:endParaRPr kumimoji="1" lang="ko-KR" altLang="en-US" sz="1100" i="1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76A6183-F067-FCC8-F9DB-1AB23154ED6E}"/>
              </a:ext>
            </a:extLst>
          </p:cNvPr>
          <p:cNvCxnSpPr>
            <a:cxnSpLocks/>
          </p:cNvCxnSpPr>
          <p:nvPr/>
        </p:nvCxnSpPr>
        <p:spPr>
          <a:xfrm>
            <a:off x="5734975" y="4499370"/>
            <a:ext cx="1020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F9862B0-8422-1ACA-6486-3A75115D439E}"/>
              </a:ext>
            </a:extLst>
          </p:cNvPr>
          <p:cNvSpPr txBox="1"/>
          <p:nvPr/>
        </p:nvSpPr>
        <p:spPr>
          <a:xfrm>
            <a:off x="6729274" y="4210648"/>
            <a:ext cx="1047566" cy="604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600" b="1" i="1" dirty="0" err="1"/>
              <a:t>medev</a:t>
            </a:r>
            <a:endParaRPr kumimoji="1" lang="en-US" altLang="ko-KR" sz="1600" b="1" i="1" dirty="0"/>
          </a:p>
          <a:p>
            <a:pPr algn="ctr">
              <a:lnSpc>
                <a:spcPct val="120000"/>
              </a:lnSpc>
            </a:pPr>
            <a:r>
              <a:rPr kumimoji="1" lang="en-US" altLang="ko-KR" sz="1300" dirty="0"/>
              <a:t>(</a:t>
            </a:r>
            <a:r>
              <a:rPr kumimoji="1" lang="ko-KR" altLang="en-US" sz="1300" dirty="0"/>
              <a:t>집값</a:t>
            </a:r>
            <a:r>
              <a:rPr kumimoji="1" lang="en-US" altLang="ko-KR" sz="1300" dirty="0"/>
              <a:t>)</a:t>
            </a:r>
            <a:endParaRPr kumimoji="1" lang="ko-KR" altLang="en-US" sz="13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A153EF1-46FB-7959-7FAC-03B604869813}"/>
              </a:ext>
            </a:extLst>
          </p:cNvPr>
          <p:cNvSpPr/>
          <p:nvPr/>
        </p:nvSpPr>
        <p:spPr>
          <a:xfrm>
            <a:off x="790113" y="3213717"/>
            <a:ext cx="8584706" cy="2787589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22542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7296C3-749B-2DB3-5C42-5841310F8E4C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A0D65-2FA5-B3A6-454E-85FAA04FE014}"/>
              </a:ext>
            </a:extLst>
          </p:cNvPr>
          <p:cNvSpPr txBox="1"/>
          <p:nvPr/>
        </p:nvSpPr>
        <p:spPr>
          <a:xfrm>
            <a:off x="239697" y="905522"/>
            <a:ext cx="604569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Data loader</a:t>
            </a:r>
            <a:r>
              <a:rPr kumimoji="1" lang="ko-KR" altLang="en-US" sz="1400" dirty="0"/>
              <a:t> 생성시 주의사항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2EFBD92-819D-F726-EF90-EB22427F3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446283"/>
            <a:ext cx="7772400" cy="3450527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9743CD6-4817-6B63-AFCB-3952AB58891F}"/>
              </a:ext>
            </a:extLst>
          </p:cNvPr>
          <p:cNvSpPr/>
          <p:nvPr/>
        </p:nvSpPr>
        <p:spPr>
          <a:xfrm>
            <a:off x="4403324" y="3171546"/>
            <a:ext cx="70133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72638FF-AFAA-3BE0-13FC-1BDCAFB85C1E}"/>
              </a:ext>
            </a:extLst>
          </p:cNvPr>
          <p:cNvSpPr/>
          <p:nvPr/>
        </p:nvSpPr>
        <p:spPr>
          <a:xfrm>
            <a:off x="4413681" y="2915570"/>
            <a:ext cx="701336" cy="45719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2EF81F8-9255-5356-F077-0FE38A919BC2}"/>
              </a:ext>
            </a:extLst>
          </p:cNvPr>
          <p:cNvCxnSpPr/>
          <p:nvPr/>
        </p:nvCxnSpPr>
        <p:spPr>
          <a:xfrm flipV="1">
            <a:off x="5211192" y="2915570"/>
            <a:ext cx="3462291" cy="4571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01B1965-1BCC-3BD0-2F46-D61231EBB6B1}"/>
              </a:ext>
            </a:extLst>
          </p:cNvPr>
          <p:cNvSpPr txBox="1"/>
          <p:nvPr/>
        </p:nvSpPr>
        <p:spPr>
          <a:xfrm>
            <a:off x="8711962" y="2256103"/>
            <a:ext cx="3099038" cy="1876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400" b="1" i="1" dirty="0" err="1"/>
              <a:t>텐서</a:t>
            </a:r>
            <a:r>
              <a:rPr kumimoji="1" lang="ko-KR" altLang="en-US" sz="1400" b="1" i="1" dirty="0"/>
              <a:t> 변환을 위해서는 </a:t>
            </a:r>
            <a:r>
              <a:rPr kumimoji="1" lang="ko-KR" altLang="en-US" sz="1400" b="1" i="1" dirty="0" err="1"/>
              <a:t>넘파이</a:t>
            </a:r>
            <a:r>
              <a:rPr kumimoji="1" lang="ko-KR" altLang="en-US" sz="1400" b="1" i="1" dirty="0"/>
              <a:t> 행렬이 주어져야 함 </a:t>
            </a:r>
            <a:endParaRPr kumimoji="1" lang="en-US" altLang="ko-KR" sz="1400" b="1" i="1" dirty="0"/>
          </a:p>
          <a:p>
            <a:pPr marL="285750" indent="-285750" algn="l">
              <a:lnSpc>
                <a:spcPct val="120000"/>
              </a:lnSpc>
              <a:buFontTx/>
              <a:buChar char="-"/>
            </a:pPr>
            <a:r>
              <a:rPr kumimoji="1" lang="en-US" altLang="ko-KR" sz="1400" i="1" dirty="0" err="1"/>
              <a:t>X_train</a:t>
            </a:r>
            <a:r>
              <a:rPr kumimoji="1" lang="en-US" altLang="ko-KR" sz="1400" i="1" dirty="0"/>
              <a:t>, </a:t>
            </a:r>
            <a:r>
              <a:rPr kumimoji="1" lang="en-US" altLang="ko-KR" sz="1400" i="1" dirty="0" err="1"/>
              <a:t>X_valid</a:t>
            </a:r>
            <a:r>
              <a:rPr kumimoji="1" lang="ko-KR" altLang="en-US" sz="1400" i="1" dirty="0"/>
              <a:t>는 앞서 </a:t>
            </a:r>
            <a:r>
              <a:rPr kumimoji="1" lang="en-US" altLang="ko-KR" sz="1400" i="1" dirty="0" err="1"/>
              <a:t>sacling</a:t>
            </a:r>
            <a:r>
              <a:rPr kumimoji="1" lang="en-US" altLang="ko-KR" sz="1400" i="1" dirty="0"/>
              <a:t> </a:t>
            </a:r>
            <a:r>
              <a:rPr kumimoji="1" lang="ko-KR" altLang="en-US" sz="1400" i="1" dirty="0"/>
              <a:t>과정에서 이미 </a:t>
            </a:r>
            <a:r>
              <a:rPr kumimoji="1" lang="ko-KR" altLang="en-US" sz="1400" i="1" dirty="0" err="1"/>
              <a:t>넘파이로</a:t>
            </a:r>
            <a:r>
              <a:rPr kumimoji="1" lang="ko-KR" altLang="en-US" sz="1400" i="1" dirty="0"/>
              <a:t> 변환됨 </a:t>
            </a:r>
            <a:endParaRPr kumimoji="1" lang="en-US" altLang="ko-KR" sz="1400" i="1" dirty="0"/>
          </a:p>
          <a:p>
            <a:pPr marL="285750" indent="-285750" algn="l">
              <a:lnSpc>
                <a:spcPct val="120000"/>
              </a:lnSpc>
              <a:buFontTx/>
              <a:buChar char="-"/>
            </a:pPr>
            <a:r>
              <a:rPr kumimoji="1" lang="en-US" altLang="ko-KR" sz="1400" i="1" dirty="0" err="1"/>
              <a:t>y_trian</a:t>
            </a:r>
            <a:r>
              <a:rPr kumimoji="1" lang="en-US" altLang="ko-KR" sz="1400" i="1" dirty="0"/>
              <a:t>, </a:t>
            </a:r>
            <a:r>
              <a:rPr kumimoji="1" lang="en-US" altLang="ko-KR" sz="1400" i="1" dirty="0" err="1"/>
              <a:t>y_valid</a:t>
            </a:r>
            <a:r>
              <a:rPr kumimoji="1" lang="ko-KR" altLang="en-US" sz="1400" i="1" dirty="0"/>
              <a:t>는 </a:t>
            </a:r>
            <a:r>
              <a:rPr kumimoji="1" lang="en-US" altLang="ko-KR" sz="1400" i="1" dirty="0" err="1"/>
              <a:t>DataFrame</a:t>
            </a:r>
            <a:r>
              <a:rPr kumimoji="1" lang="ko-KR" altLang="en-US" sz="1400" i="1" dirty="0"/>
              <a:t>이므로 </a:t>
            </a:r>
            <a:r>
              <a:rPr kumimoji="1" lang="en-US" altLang="ko-KR" sz="1400" i="1" dirty="0"/>
              <a:t>.array</a:t>
            </a:r>
            <a:r>
              <a:rPr kumimoji="1" lang="ko-KR" altLang="en-US" sz="1400" i="1" dirty="0" err="1"/>
              <a:t>를</a:t>
            </a:r>
            <a:r>
              <a:rPr kumimoji="1" lang="ko-KR" altLang="en-US" sz="1400" i="1" dirty="0"/>
              <a:t> 사용하여 </a:t>
            </a:r>
            <a:r>
              <a:rPr kumimoji="1" lang="ko-KR" altLang="en-US" sz="1400" i="1" dirty="0" err="1"/>
              <a:t>넘파이</a:t>
            </a:r>
            <a:r>
              <a:rPr kumimoji="1" lang="ko-KR" altLang="en-US" sz="1400" i="1" dirty="0"/>
              <a:t> 행렬로 변환해야 함 </a:t>
            </a:r>
          </a:p>
        </p:txBody>
      </p:sp>
    </p:spTree>
    <p:extLst>
      <p:ext uri="{BB962C8B-B14F-4D97-AF65-F5344CB8AC3E}">
        <p14:creationId xmlns:p14="http://schemas.microsoft.com/office/powerpoint/2010/main" val="299554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44CB3A5-0283-8500-938C-7821FF1F8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150" y="1540276"/>
            <a:ext cx="4867839" cy="39038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7F3BB51-6614-72D9-0511-D7BCCB56F657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AC29C2-17A2-B5D6-615A-E4FE3F09CB1C}"/>
              </a:ext>
            </a:extLst>
          </p:cNvPr>
          <p:cNvSpPr txBox="1"/>
          <p:nvPr/>
        </p:nvSpPr>
        <p:spPr>
          <a:xfrm>
            <a:off x="239697" y="905522"/>
            <a:ext cx="604569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</a:t>
            </a:r>
            <a:r>
              <a:rPr kumimoji="1" lang="ko-KR" altLang="en-US" sz="1400" dirty="0"/>
              <a:t> 결과의 해석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109EED4-377E-4DC0-F7C9-B78EA9E0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055" y="1540276"/>
            <a:ext cx="5969000" cy="2286000"/>
          </a:xfrm>
          <a:prstGeom prst="rect">
            <a:avLst/>
          </a:prstGeom>
        </p:spPr>
      </p:pic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A558A24B-26B7-F785-2BE7-8394F6DB1B5C}"/>
              </a:ext>
            </a:extLst>
          </p:cNvPr>
          <p:cNvSpPr/>
          <p:nvPr/>
        </p:nvSpPr>
        <p:spPr>
          <a:xfrm>
            <a:off x="6465070" y="2301536"/>
            <a:ext cx="213064" cy="381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9F70CA-66AD-B11D-79E2-F837D4535153}"/>
              </a:ext>
            </a:extLst>
          </p:cNvPr>
          <p:cNvSpPr txBox="1"/>
          <p:nvPr/>
        </p:nvSpPr>
        <p:spPr>
          <a:xfrm>
            <a:off x="276040" y="4135685"/>
            <a:ext cx="6079015" cy="842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ko-KR" altLang="en-US" sz="1400" dirty="0"/>
              <a:t>훈련이 반복됨에 따라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훈련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검증 데이터셋에서 모두 손실이 감소하고는 있으나</a:t>
            </a:r>
            <a:r>
              <a:rPr kumimoji="1" lang="en-US" altLang="ko-KR" sz="1400" dirty="0"/>
              <a:t>, </a:t>
            </a:r>
          </a:p>
          <a:p>
            <a:pPr marL="285750" indent="-285750" algn="l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ko-KR" altLang="en-US" sz="1400" dirty="0"/>
              <a:t>모델이 너무 단순하여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복잡한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비선형</a:t>
            </a:r>
            <a:r>
              <a:rPr kumimoji="1" lang="en-US" altLang="ko-KR" sz="1400" dirty="0"/>
              <a:t>) </a:t>
            </a:r>
            <a:r>
              <a:rPr kumimoji="1" lang="ko-KR" altLang="en-US" sz="1400" dirty="0"/>
              <a:t>패턴을 이해하지 못한 상태 </a:t>
            </a:r>
          </a:p>
        </p:txBody>
      </p:sp>
    </p:spTree>
    <p:extLst>
      <p:ext uri="{BB962C8B-B14F-4D97-AF65-F5344CB8AC3E}">
        <p14:creationId xmlns:p14="http://schemas.microsoft.com/office/powerpoint/2010/main" val="256555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E1D54C-0947-17D1-F203-0C700CC7E36F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F356B8D-7825-EF51-FEC6-5021D0569D2F}"/>
              </a:ext>
            </a:extLst>
          </p:cNvPr>
          <p:cNvSpPr/>
          <p:nvPr/>
        </p:nvSpPr>
        <p:spPr>
          <a:xfrm>
            <a:off x="266330" y="887767"/>
            <a:ext cx="4607511" cy="4527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R" sz="1600" b="1" dirty="0">
                <a:solidFill>
                  <a:schemeClr val="tx1"/>
                </a:solidFill>
              </a:rPr>
              <a:t> [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실습</a:t>
            </a:r>
            <a:r>
              <a:rPr kumimoji="1" lang="en-US" altLang="ko-KR" sz="1600" b="1" dirty="0">
                <a:solidFill>
                  <a:schemeClr val="tx1"/>
                </a:solidFill>
              </a:rPr>
              <a:t>] </a:t>
            </a:r>
            <a:r>
              <a:rPr kumimoji="1" lang="ko-KR" altLang="en-US" sz="1600" b="1" dirty="0">
                <a:solidFill>
                  <a:schemeClr val="tx1"/>
                </a:solidFill>
              </a:rPr>
              <a:t>은닉층이 있는 신경망 만들기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399BC5-4BD2-A98A-2B25-AB8E73EF31A0}"/>
              </a:ext>
            </a:extLst>
          </p:cNvPr>
          <p:cNvSpPr txBox="1"/>
          <p:nvPr/>
        </p:nvSpPr>
        <p:spPr>
          <a:xfrm>
            <a:off x="346229" y="1482571"/>
            <a:ext cx="10049522" cy="187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en-US" altLang="ko-KR" sz="1400" dirty="0"/>
              <a:t>Data : Boston Housing Price (</a:t>
            </a:r>
            <a:r>
              <a:rPr kumimoji="1" lang="ko-KR" altLang="en-US" sz="1400" dirty="0"/>
              <a:t>전체 사용</a:t>
            </a:r>
            <a:r>
              <a:rPr kumimoji="1" lang="en-US" altLang="ko-KR" sz="1400" dirty="0"/>
              <a:t>) 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학습목표 </a:t>
            </a:r>
            <a:r>
              <a:rPr kumimoji="1" lang="en-US" altLang="ko-KR" sz="1400" dirty="0"/>
              <a:t>:  ① </a:t>
            </a:r>
            <a:r>
              <a:rPr kumimoji="1" lang="ko-KR" altLang="en-US" sz="1400" dirty="0"/>
              <a:t>은닉층이 있는 신경망 구성</a:t>
            </a:r>
            <a:br>
              <a:rPr kumimoji="1" lang="en-US" altLang="ko-KR" sz="1400" dirty="0"/>
            </a:br>
            <a:r>
              <a:rPr kumimoji="1" lang="en-US" altLang="ko-KR" sz="1400" dirty="0"/>
              <a:t>               ② </a:t>
            </a:r>
            <a:r>
              <a:rPr kumimoji="1" lang="ko-KR" altLang="en-US" sz="1400" dirty="0"/>
              <a:t>이전 실습에서 만든 함수 재사용</a:t>
            </a:r>
            <a:br>
              <a:rPr kumimoji="1" lang="en-US" altLang="ko-KR" sz="1400" dirty="0"/>
            </a:br>
            <a:r>
              <a:rPr kumimoji="1" lang="en-US" altLang="ko-KR" sz="1400" dirty="0"/>
              <a:t>               ③ </a:t>
            </a:r>
            <a:r>
              <a:rPr kumimoji="1" lang="ko-KR" altLang="en-US" sz="1400" dirty="0"/>
              <a:t>활성화 함수</a:t>
            </a:r>
            <a:r>
              <a:rPr kumimoji="1" lang="en-US" altLang="ko-KR" sz="1400" dirty="0"/>
              <a:t>(</a:t>
            </a:r>
            <a:r>
              <a:rPr kumimoji="1" lang="en-US" altLang="ko-KR" sz="1400" dirty="0" err="1"/>
              <a:t>ReLU</a:t>
            </a:r>
            <a:r>
              <a:rPr kumimoji="1" lang="en-US" altLang="ko-KR" sz="1400" dirty="0"/>
              <a:t>)</a:t>
            </a:r>
            <a:r>
              <a:rPr kumimoji="1" lang="ko-KR" altLang="en-US" sz="1400" dirty="0"/>
              <a:t> 적용 </a:t>
            </a:r>
            <a:br>
              <a:rPr kumimoji="1" lang="en-US" altLang="ko-KR" sz="1400" dirty="0"/>
            </a:br>
            <a:endParaRPr kumimoji="1" lang="en-US" altLang="ko-KR" sz="1400" dirty="0"/>
          </a:p>
          <a:p>
            <a:pPr marL="285750" indent="-28575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kumimoji="1" lang="ko-KR" altLang="en-US" sz="1400" dirty="0"/>
              <a:t>모델 구조 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E754716-4794-729A-902A-46BB95E35127}"/>
              </a:ext>
            </a:extLst>
          </p:cNvPr>
          <p:cNvSpPr/>
          <p:nvPr/>
        </p:nvSpPr>
        <p:spPr>
          <a:xfrm>
            <a:off x="2752078" y="3539166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43CDFFCC-A520-9822-4E58-2D189A1A4F35}"/>
              </a:ext>
            </a:extLst>
          </p:cNvPr>
          <p:cNvSpPr/>
          <p:nvPr/>
        </p:nvSpPr>
        <p:spPr>
          <a:xfrm>
            <a:off x="2752078" y="4144327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22C36452-D259-4353-3A5B-B709526232B4}"/>
              </a:ext>
            </a:extLst>
          </p:cNvPr>
          <p:cNvSpPr/>
          <p:nvPr/>
        </p:nvSpPr>
        <p:spPr>
          <a:xfrm>
            <a:off x="2769832" y="4749489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975B627-7E6E-AA8B-3DA7-00DF07C9E5F8}"/>
              </a:ext>
            </a:extLst>
          </p:cNvPr>
          <p:cNvSpPr/>
          <p:nvPr/>
        </p:nvSpPr>
        <p:spPr>
          <a:xfrm>
            <a:off x="7670313" y="4193155"/>
            <a:ext cx="1047565" cy="104756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DD4B55-1B2C-8FD8-D6CB-D7F4F2C67A5E}"/>
              </a:ext>
            </a:extLst>
          </p:cNvPr>
          <p:cNvSpPr txBox="1"/>
          <p:nvPr/>
        </p:nvSpPr>
        <p:spPr>
          <a:xfrm>
            <a:off x="7572658" y="5327526"/>
            <a:ext cx="127838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dirty="0"/>
              <a:t>layer (</a:t>
            </a:r>
            <a:r>
              <a:rPr kumimoji="1" lang="ko-KR" altLang="en-US" sz="1300" dirty="0" err="1"/>
              <a:t>출력층</a:t>
            </a:r>
            <a:r>
              <a:rPr kumimoji="1" lang="en-US" altLang="ko-KR" sz="1300" dirty="0"/>
              <a:t>)</a:t>
            </a:r>
            <a:endParaRPr kumimoji="1" lang="ko-KR" altLang="en-US" sz="13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B8BB6-27D0-FBC5-510C-8FB93481AE96}"/>
              </a:ext>
            </a:extLst>
          </p:cNvPr>
          <p:cNvSpPr txBox="1"/>
          <p:nvPr/>
        </p:nvSpPr>
        <p:spPr>
          <a:xfrm>
            <a:off x="1331656" y="3633187"/>
            <a:ext cx="1407111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ko-KR" altLang="en-US" sz="1300" i="1" dirty="0"/>
              <a:t>모든 변수</a:t>
            </a:r>
            <a:endParaRPr kumimoji="1" lang="en-US" altLang="ko-KR" sz="1300" i="1" dirty="0"/>
          </a:p>
          <a:p>
            <a:pPr algn="ctr">
              <a:lnSpc>
                <a:spcPct val="120000"/>
              </a:lnSpc>
            </a:pPr>
            <a:r>
              <a:rPr kumimoji="1" lang="en-US" altLang="ko-KR" sz="1300" i="1" dirty="0"/>
              <a:t>(12</a:t>
            </a:r>
            <a:r>
              <a:rPr kumimoji="1" lang="ko-KR" altLang="en-US" sz="1300" i="1" dirty="0"/>
              <a:t>개</a:t>
            </a:r>
            <a:r>
              <a:rPr kumimoji="1" lang="en-US" altLang="ko-KR" sz="1300" i="1" dirty="0"/>
              <a:t>)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8FBF1B3-71A6-CE39-C8BB-CDB5F766D137}"/>
              </a:ext>
            </a:extLst>
          </p:cNvPr>
          <p:cNvCxnSpPr>
            <a:cxnSpLocks/>
          </p:cNvCxnSpPr>
          <p:nvPr/>
        </p:nvCxnSpPr>
        <p:spPr>
          <a:xfrm>
            <a:off x="8717878" y="4703557"/>
            <a:ext cx="1020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5AB4A98-364C-2298-0E99-62B04F5E79A4}"/>
              </a:ext>
            </a:extLst>
          </p:cNvPr>
          <p:cNvSpPr txBox="1"/>
          <p:nvPr/>
        </p:nvSpPr>
        <p:spPr>
          <a:xfrm>
            <a:off x="9712177" y="4414835"/>
            <a:ext cx="1047566" cy="604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600" b="1" i="1" dirty="0" err="1"/>
              <a:t>medev</a:t>
            </a:r>
            <a:endParaRPr kumimoji="1" lang="en-US" altLang="ko-KR" sz="1600" b="1" i="1" dirty="0"/>
          </a:p>
          <a:p>
            <a:pPr algn="ctr">
              <a:lnSpc>
                <a:spcPct val="120000"/>
              </a:lnSpc>
            </a:pPr>
            <a:r>
              <a:rPr kumimoji="1" lang="en-US" altLang="ko-KR" sz="1300" dirty="0"/>
              <a:t>(</a:t>
            </a:r>
            <a:r>
              <a:rPr kumimoji="1" lang="ko-KR" altLang="en-US" sz="1300" dirty="0"/>
              <a:t>집값</a:t>
            </a:r>
            <a:r>
              <a:rPr kumimoji="1" lang="en-US" altLang="ko-KR" sz="1300" dirty="0"/>
              <a:t>)</a:t>
            </a:r>
            <a:endParaRPr kumimoji="1" lang="ko-KR" altLang="en-US" sz="13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01A37B-345B-1661-BDFD-8DEF7CCBFA89}"/>
              </a:ext>
            </a:extLst>
          </p:cNvPr>
          <p:cNvSpPr/>
          <p:nvPr/>
        </p:nvSpPr>
        <p:spPr>
          <a:xfrm>
            <a:off x="790113" y="3417904"/>
            <a:ext cx="10795246" cy="28674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CDA95F6-C8AD-1E13-1C91-2D919AE8C04F}"/>
              </a:ext>
            </a:extLst>
          </p:cNvPr>
          <p:cNvSpPr/>
          <p:nvPr/>
        </p:nvSpPr>
        <p:spPr>
          <a:xfrm>
            <a:off x="2771311" y="5665374"/>
            <a:ext cx="399496" cy="39949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FBC95B-E76E-15FE-8E44-91A35B65EBE5}"/>
              </a:ext>
            </a:extLst>
          </p:cNvPr>
          <p:cNvSpPr txBox="1"/>
          <p:nvPr/>
        </p:nvSpPr>
        <p:spPr>
          <a:xfrm>
            <a:off x="2685496" y="5199406"/>
            <a:ext cx="532660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400" b="1" dirty="0"/>
              <a:t>…</a:t>
            </a:r>
            <a:endParaRPr kumimoji="1" lang="ko-KR" altLang="en-US" sz="1400" b="1" dirty="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0EAA62F2-9A2C-7FF8-1A95-6ADA9D0F2643}"/>
              </a:ext>
            </a:extLst>
          </p:cNvPr>
          <p:cNvSpPr/>
          <p:nvPr/>
        </p:nvSpPr>
        <p:spPr>
          <a:xfrm>
            <a:off x="4873841" y="3938662"/>
            <a:ext cx="523783" cy="523783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311AC98-02B8-A0B4-B93F-3F35A5D36BF9}"/>
              </a:ext>
            </a:extLst>
          </p:cNvPr>
          <p:cNvSpPr/>
          <p:nvPr/>
        </p:nvSpPr>
        <p:spPr>
          <a:xfrm>
            <a:off x="4871623" y="5057444"/>
            <a:ext cx="523783" cy="523783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B2F2C2A3-D7C2-AEEB-BA05-00E9F204BBDD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5395406" y="4209302"/>
            <a:ext cx="2274907" cy="507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284B486-CFE7-1748-F99A-999C68EE84BF}"/>
              </a:ext>
            </a:extLst>
          </p:cNvPr>
          <p:cNvCxnSpPr>
            <a:cxnSpLocks/>
            <a:stCxn id="23" idx="6"/>
            <a:endCxn id="8" idx="2"/>
          </p:cNvCxnSpPr>
          <p:nvPr/>
        </p:nvCxnSpPr>
        <p:spPr>
          <a:xfrm flipV="1">
            <a:off x="5395406" y="4716938"/>
            <a:ext cx="2274907" cy="602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4346F7E-04CC-3DBF-0DDE-217234BD159E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3151574" y="3749886"/>
            <a:ext cx="1722267" cy="450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81447768-E76F-0EC2-2AAF-423CD7F5ECD3}"/>
              </a:ext>
            </a:extLst>
          </p:cNvPr>
          <p:cNvCxnSpPr>
            <a:cxnSpLocks/>
            <a:stCxn id="6" idx="6"/>
            <a:endCxn id="22" idx="2"/>
          </p:cNvCxnSpPr>
          <p:nvPr/>
        </p:nvCxnSpPr>
        <p:spPr>
          <a:xfrm flipV="1">
            <a:off x="3151574" y="4200554"/>
            <a:ext cx="1722267" cy="143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E71B17EC-CC47-E668-907E-37526E1F631F}"/>
              </a:ext>
            </a:extLst>
          </p:cNvPr>
          <p:cNvCxnSpPr>
            <a:cxnSpLocks/>
            <a:stCxn id="7" idx="6"/>
            <a:endCxn id="22" idx="2"/>
          </p:cNvCxnSpPr>
          <p:nvPr/>
        </p:nvCxnSpPr>
        <p:spPr>
          <a:xfrm flipV="1">
            <a:off x="3169328" y="4200554"/>
            <a:ext cx="1704513" cy="748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438F577-721E-AF3D-661A-B6E12A8643C8}"/>
              </a:ext>
            </a:extLst>
          </p:cNvPr>
          <p:cNvCxnSpPr>
            <a:cxnSpLocks/>
            <a:stCxn id="19" idx="6"/>
            <a:endCxn id="22" idx="2"/>
          </p:cNvCxnSpPr>
          <p:nvPr/>
        </p:nvCxnSpPr>
        <p:spPr>
          <a:xfrm flipV="1">
            <a:off x="3170807" y="4200554"/>
            <a:ext cx="1703034" cy="1664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4C96FCF-475E-BD32-E578-3A212D2FDF38}"/>
              </a:ext>
            </a:extLst>
          </p:cNvPr>
          <p:cNvCxnSpPr>
            <a:cxnSpLocks/>
            <a:stCxn id="5" idx="6"/>
            <a:endCxn id="23" idx="2"/>
          </p:cNvCxnSpPr>
          <p:nvPr/>
        </p:nvCxnSpPr>
        <p:spPr>
          <a:xfrm>
            <a:off x="3151574" y="3738914"/>
            <a:ext cx="1720049" cy="1580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523ADF0-512B-D6B9-D562-2E3322C9E55E}"/>
              </a:ext>
            </a:extLst>
          </p:cNvPr>
          <p:cNvCxnSpPr>
            <a:cxnSpLocks/>
            <a:stCxn id="6" idx="6"/>
            <a:endCxn id="23" idx="2"/>
          </p:cNvCxnSpPr>
          <p:nvPr/>
        </p:nvCxnSpPr>
        <p:spPr>
          <a:xfrm>
            <a:off x="3151574" y="4344075"/>
            <a:ext cx="1720049" cy="975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9EDD6C8-9386-3FD6-9A2C-C8136D7E5768}"/>
              </a:ext>
            </a:extLst>
          </p:cNvPr>
          <p:cNvCxnSpPr>
            <a:cxnSpLocks/>
            <a:stCxn id="7" idx="6"/>
            <a:endCxn id="23" idx="2"/>
          </p:cNvCxnSpPr>
          <p:nvPr/>
        </p:nvCxnSpPr>
        <p:spPr>
          <a:xfrm>
            <a:off x="3169328" y="4949237"/>
            <a:ext cx="1702295" cy="370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D74F6011-3C8C-D5CA-5E17-729409EC48A4}"/>
              </a:ext>
            </a:extLst>
          </p:cNvPr>
          <p:cNvCxnSpPr>
            <a:cxnSpLocks/>
            <a:stCxn id="19" idx="6"/>
            <a:endCxn id="23" idx="2"/>
          </p:cNvCxnSpPr>
          <p:nvPr/>
        </p:nvCxnSpPr>
        <p:spPr>
          <a:xfrm flipV="1">
            <a:off x="3170807" y="5319336"/>
            <a:ext cx="1700816" cy="545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78413F7-FBF4-EC64-B186-53E9CB09F800}"/>
              </a:ext>
            </a:extLst>
          </p:cNvPr>
          <p:cNvSpPr/>
          <p:nvPr/>
        </p:nvSpPr>
        <p:spPr>
          <a:xfrm>
            <a:off x="4465469" y="3633187"/>
            <a:ext cx="1278385" cy="2231936"/>
          </a:xfrm>
          <a:prstGeom prst="rect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6937A6-1197-97A7-EC95-973AFA600A14}"/>
              </a:ext>
            </a:extLst>
          </p:cNvPr>
          <p:cNvSpPr txBox="1"/>
          <p:nvPr/>
        </p:nvSpPr>
        <p:spPr>
          <a:xfrm>
            <a:off x="4188041" y="5869631"/>
            <a:ext cx="2079592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en-US" altLang="ko-KR" sz="1300" dirty="0"/>
              <a:t>hidden layer (</a:t>
            </a:r>
            <a:r>
              <a:rPr kumimoji="1" lang="ko-KR" altLang="en-US" sz="1300" dirty="0" err="1"/>
              <a:t>은닉층</a:t>
            </a:r>
            <a:r>
              <a:rPr kumimoji="1" lang="en-US" altLang="ko-KR" sz="1300" dirty="0"/>
              <a:t>)</a:t>
            </a:r>
            <a:endParaRPr kumimoji="1"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53405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6E96B6-6B41-3707-BC3F-7E925642D0CA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EC466-2E30-F82D-58B3-AC8C5759A016}"/>
              </a:ext>
            </a:extLst>
          </p:cNvPr>
          <p:cNvSpPr txBox="1"/>
          <p:nvPr/>
        </p:nvSpPr>
        <p:spPr>
          <a:xfrm>
            <a:off x="239697" y="905522"/>
            <a:ext cx="604569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① </a:t>
            </a:r>
            <a:r>
              <a:rPr kumimoji="1" lang="ko-KR" altLang="en-US" sz="1400" dirty="0"/>
              <a:t>모델 구조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9CAE002-0F1E-E9A6-E299-A74DD154B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26" y="3641511"/>
            <a:ext cx="5969000" cy="22098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943D075-210C-34F2-D27A-661980B37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26" y="1739468"/>
            <a:ext cx="7569200" cy="1028700"/>
          </a:xfrm>
          <a:prstGeom prst="rect">
            <a:avLst/>
          </a:prstGeom>
        </p:spPr>
      </p:pic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1153DD5F-E72A-2FDC-ACC1-AA62B981DD2D}"/>
              </a:ext>
            </a:extLst>
          </p:cNvPr>
          <p:cNvSpPr/>
          <p:nvPr/>
        </p:nvSpPr>
        <p:spPr>
          <a:xfrm rot="5400000">
            <a:off x="1493575" y="2865822"/>
            <a:ext cx="213064" cy="381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20BEA6-F7AE-4896-4F3E-F70386FDF7D5}"/>
              </a:ext>
            </a:extLst>
          </p:cNvPr>
          <p:cNvSpPr txBox="1"/>
          <p:nvPr/>
        </p:nvSpPr>
        <p:spPr>
          <a:xfrm>
            <a:off x="441571" y="1328244"/>
            <a:ext cx="3091742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ko-KR" altLang="en-US" sz="1400" dirty="0" err="1"/>
              <a:t>은닉층</a:t>
            </a:r>
            <a:r>
              <a:rPr kumimoji="1" lang="ko-KR" altLang="en-US" sz="1400" dirty="0"/>
              <a:t> 없는 모델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이전 실습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BD929A-3ADE-A27F-BE51-80E413B7C081}"/>
              </a:ext>
            </a:extLst>
          </p:cNvPr>
          <p:cNvSpPr txBox="1"/>
          <p:nvPr/>
        </p:nvSpPr>
        <p:spPr>
          <a:xfrm>
            <a:off x="424184" y="3259570"/>
            <a:ext cx="3091742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ko-KR" altLang="en-US" sz="1400" dirty="0" err="1"/>
              <a:t>은닉층</a:t>
            </a:r>
            <a:r>
              <a:rPr kumimoji="1" lang="ko-KR" altLang="en-US" sz="1400" dirty="0"/>
              <a:t> 있는 모델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본 실습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cxnSp>
        <p:nvCxnSpPr>
          <p:cNvPr id="10" name="직선 연결선[R] 9">
            <a:extLst>
              <a:ext uri="{FF2B5EF4-FFF2-40B4-BE49-F238E27FC236}">
                <a16:creationId xmlns:a16="http://schemas.microsoft.com/office/drawing/2014/main" id="{33B21B44-687C-6B0F-7CCE-0A2035F8BC3D}"/>
              </a:ext>
            </a:extLst>
          </p:cNvPr>
          <p:cNvCxnSpPr/>
          <p:nvPr/>
        </p:nvCxnSpPr>
        <p:spPr>
          <a:xfrm>
            <a:off x="790113" y="2253818"/>
            <a:ext cx="675590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53EB614-78F5-2B9F-10B5-11350C43800D}"/>
              </a:ext>
            </a:extLst>
          </p:cNvPr>
          <p:cNvSpPr/>
          <p:nvPr/>
        </p:nvSpPr>
        <p:spPr>
          <a:xfrm>
            <a:off x="719091" y="4145871"/>
            <a:ext cx="3142695" cy="285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CEA324F-729E-EE39-ADB4-F5A8B1820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502" y="4172505"/>
            <a:ext cx="3608033" cy="150999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EBCD686-3F3E-C795-CE73-DB86FDA45D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6849" y="1713893"/>
            <a:ext cx="2324285" cy="107984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391C9AA-A1A4-370B-2D1E-197FB609ABDE}"/>
              </a:ext>
            </a:extLst>
          </p:cNvPr>
          <p:cNvSpPr txBox="1"/>
          <p:nvPr/>
        </p:nvSpPr>
        <p:spPr>
          <a:xfrm>
            <a:off x="9161755" y="1328244"/>
            <a:ext cx="2849732" cy="54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300" i="1" dirty="0" err="1">
                <a:solidFill>
                  <a:schemeClr val="accent1"/>
                </a:solidFill>
              </a:rPr>
              <a:t>n_feature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(3</a:t>
            </a:r>
            <a:r>
              <a:rPr kumimoji="1" lang="ko-KR" altLang="en-US" sz="1300" i="1" dirty="0">
                <a:solidFill>
                  <a:schemeClr val="accent1"/>
                </a:solidFill>
              </a:rPr>
              <a:t>개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)</a:t>
            </a:r>
            <a:r>
              <a:rPr kumimoji="1" lang="ko-KR" altLang="en-US" sz="1300" i="1" dirty="0">
                <a:solidFill>
                  <a:schemeClr val="accent1"/>
                </a:solidFill>
              </a:rPr>
              <a:t>의 값을 입력 받아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, </a:t>
            </a:r>
          </a:p>
          <a:p>
            <a:pPr algn="l">
              <a:lnSpc>
                <a:spcPct val="120000"/>
              </a:lnSpc>
            </a:pPr>
            <a:r>
              <a:rPr kumimoji="1" lang="en-US" altLang="ko-KR" sz="1300" i="1" dirty="0">
                <a:solidFill>
                  <a:schemeClr val="accent1"/>
                </a:solidFill>
              </a:rPr>
              <a:t>1</a:t>
            </a:r>
            <a:r>
              <a:rPr kumimoji="1" lang="ko-KR" altLang="en-US" sz="1300" i="1" dirty="0">
                <a:solidFill>
                  <a:schemeClr val="accent1"/>
                </a:solidFill>
              </a:rPr>
              <a:t>개의 출력을 생성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890C50-D92E-2B9D-43AA-E2F3B12E7AAC}"/>
              </a:ext>
            </a:extLst>
          </p:cNvPr>
          <p:cNvSpPr txBox="1"/>
          <p:nvPr/>
        </p:nvSpPr>
        <p:spPr>
          <a:xfrm>
            <a:off x="7075502" y="3781094"/>
            <a:ext cx="139379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300" i="1" dirty="0">
                <a:solidFill>
                  <a:schemeClr val="accent1"/>
                </a:solidFill>
              </a:rPr>
              <a:t>입력 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12, </a:t>
            </a:r>
            <a:r>
              <a:rPr kumimoji="1" lang="ko-KR" altLang="en-US" sz="1300" i="1" dirty="0">
                <a:solidFill>
                  <a:schemeClr val="accent1"/>
                </a:solidFill>
              </a:rPr>
              <a:t>출력 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2</a:t>
            </a:r>
            <a:endParaRPr kumimoji="1" lang="ko-KR" altLang="en-US" sz="1300" i="1" dirty="0">
              <a:solidFill>
                <a:schemeClr val="accent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8AD13D-6959-BBA6-7258-8E28705B1023}"/>
              </a:ext>
            </a:extLst>
          </p:cNvPr>
          <p:cNvSpPr/>
          <p:nvPr/>
        </p:nvSpPr>
        <p:spPr>
          <a:xfrm>
            <a:off x="702816" y="4608990"/>
            <a:ext cx="3142695" cy="2857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804736-CE1F-D3E0-A032-C47C54A07FDD}"/>
              </a:ext>
            </a:extLst>
          </p:cNvPr>
          <p:cNvSpPr txBox="1"/>
          <p:nvPr/>
        </p:nvSpPr>
        <p:spPr>
          <a:xfrm>
            <a:off x="9161755" y="5375386"/>
            <a:ext cx="1393795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300" i="1" dirty="0">
                <a:solidFill>
                  <a:schemeClr val="accent1"/>
                </a:solidFill>
              </a:rPr>
              <a:t>입력 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2, </a:t>
            </a:r>
            <a:r>
              <a:rPr kumimoji="1" lang="ko-KR" altLang="en-US" sz="1300" i="1" dirty="0">
                <a:solidFill>
                  <a:schemeClr val="accent1"/>
                </a:solidFill>
              </a:rPr>
              <a:t>출력 </a:t>
            </a:r>
            <a:r>
              <a:rPr kumimoji="1" lang="en-US" altLang="ko-KR" sz="1300" i="1" dirty="0">
                <a:solidFill>
                  <a:schemeClr val="accent1"/>
                </a:solidFill>
              </a:rPr>
              <a:t>1</a:t>
            </a:r>
            <a:endParaRPr kumimoji="1" lang="ko-KR" altLang="en-US" sz="1300" i="1" dirty="0">
              <a:solidFill>
                <a:schemeClr val="accent1"/>
              </a:solidFill>
            </a:endParaRPr>
          </a:p>
        </p:txBody>
      </p:sp>
      <p:cxnSp>
        <p:nvCxnSpPr>
          <p:cNvPr id="20" name="꺾인 연결선[E] 19">
            <a:extLst>
              <a:ext uri="{FF2B5EF4-FFF2-40B4-BE49-F238E27FC236}">
                <a16:creationId xmlns:a16="http://schemas.microsoft.com/office/drawing/2014/main" id="{0D11D561-6DCF-31E7-3FA8-A9ECC329593B}"/>
              </a:ext>
            </a:extLst>
          </p:cNvPr>
          <p:cNvCxnSpPr>
            <a:stCxn id="12" idx="3"/>
            <a:endCxn id="16" idx="0"/>
          </p:cNvCxnSpPr>
          <p:nvPr/>
        </p:nvCxnSpPr>
        <p:spPr>
          <a:xfrm flipV="1">
            <a:off x="3861786" y="3781094"/>
            <a:ext cx="3910614" cy="507654"/>
          </a:xfrm>
          <a:prstGeom prst="bentConnector4">
            <a:avLst>
              <a:gd name="adj1" fmla="val 41090"/>
              <a:gd name="adj2" fmla="val 14503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[E] 22">
            <a:extLst>
              <a:ext uri="{FF2B5EF4-FFF2-40B4-BE49-F238E27FC236}">
                <a16:creationId xmlns:a16="http://schemas.microsoft.com/office/drawing/2014/main" id="{A3D235EE-B7ED-1329-BF91-4939486B0DF4}"/>
              </a:ext>
            </a:extLst>
          </p:cNvPr>
          <p:cNvCxnSpPr>
            <a:endCxn id="18" idx="2"/>
          </p:cNvCxnSpPr>
          <p:nvPr/>
        </p:nvCxnSpPr>
        <p:spPr>
          <a:xfrm>
            <a:off x="3845511" y="4746411"/>
            <a:ext cx="6013142" cy="937714"/>
          </a:xfrm>
          <a:prstGeom prst="bentConnector4">
            <a:avLst>
              <a:gd name="adj1" fmla="val 37857"/>
              <a:gd name="adj2" fmla="val 16508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A644752-F2AD-7B9D-FED4-86BF7BBF8453}"/>
              </a:ext>
            </a:extLst>
          </p:cNvPr>
          <p:cNvCxnSpPr/>
          <p:nvPr/>
        </p:nvCxnSpPr>
        <p:spPr>
          <a:xfrm>
            <a:off x="2432482" y="4518734"/>
            <a:ext cx="28586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D1C1A7-DD18-4FDF-74DB-EC2DF6A11CF6}"/>
              </a:ext>
            </a:extLst>
          </p:cNvPr>
          <p:cNvSpPr txBox="1"/>
          <p:nvPr/>
        </p:nvSpPr>
        <p:spPr>
          <a:xfrm>
            <a:off x="5209540" y="4331723"/>
            <a:ext cx="1230390" cy="308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ko-KR" altLang="en-US" sz="1300" i="1" dirty="0">
                <a:solidFill>
                  <a:schemeClr val="accent1"/>
                </a:solidFill>
              </a:rPr>
              <a:t>활성화 함수</a:t>
            </a:r>
          </a:p>
        </p:txBody>
      </p:sp>
    </p:spTree>
    <p:extLst>
      <p:ext uri="{BB962C8B-B14F-4D97-AF65-F5344CB8AC3E}">
        <p14:creationId xmlns:p14="http://schemas.microsoft.com/office/powerpoint/2010/main" val="3528858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E18FE0-769B-7F1E-0A52-BEDDEBCED2B9}"/>
              </a:ext>
            </a:extLst>
          </p:cNvPr>
          <p:cNvSpPr txBox="1"/>
          <p:nvPr/>
        </p:nvSpPr>
        <p:spPr>
          <a:xfrm>
            <a:off x="239697" y="905522"/>
            <a:ext cx="604569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② </a:t>
            </a:r>
            <a:r>
              <a:rPr kumimoji="1" lang="ko-KR" altLang="en-US" sz="1400" dirty="0"/>
              <a:t>결과 해석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7B3FDA-2A15-2DAE-5203-E0F497863E38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575121-D90A-B5A0-DB38-08569C7406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966" y="1367777"/>
            <a:ext cx="5885525" cy="22040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413D8E5-0100-6B8B-1C05-613E6B100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120" y="1367778"/>
            <a:ext cx="5388119" cy="4402708"/>
          </a:xfrm>
          <a:prstGeom prst="rect">
            <a:avLst/>
          </a:prstGeom>
        </p:spPr>
      </p:pic>
      <p:sp>
        <p:nvSpPr>
          <p:cNvPr id="6" name="오른쪽 화살표[R] 5">
            <a:extLst>
              <a:ext uri="{FF2B5EF4-FFF2-40B4-BE49-F238E27FC236}">
                <a16:creationId xmlns:a16="http://schemas.microsoft.com/office/drawing/2014/main" id="{153ADB5D-F296-726C-EC37-E2ADA9350A4A}"/>
              </a:ext>
            </a:extLst>
          </p:cNvPr>
          <p:cNvSpPr/>
          <p:nvPr/>
        </p:nvSpPr>
        <p:spPr>
          <a:xfrm>
            <a:off x="6305272" y="2301536"/>
            <a:ext cx="213064" cy="3817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1FBCF-A3B8-3454-C30D-2D2719CF5E90}"/>
              </a:ext>
            </a:extLst>
          </p:cNvPr>
          <p:cNvSpPr txBox="1"/>
          <p:nvPr/>
        </p:nvSpPr>
        <p:spPr>
          <a:xfrm>
            <a:off x="276040" y="4135685"/>
            <a:ext cx="6079015" cy="583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ko-KR" altLang="en-US" sz="1400" dirty="0"/>
              <a:t>이전 실습에 비해</a:t>
            </a:r>
            <a:r>
              <a:rPr kumimoji="1" lang="en-US" altLang="ko-KR" sz="1400" dirty="0"/>
              <a:t>, </a:t>
            </a:r>
            <a:r>
              <a:rPr kumimoji="1" lang="ko-KR" altLang="en-US" sz="1400" dirty="0"/>
              <a:t>데이터의 복잡한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비선형</a:t>
            </a:r>
            <a:r>
              <a:rPr kumimoji="1" lang="en-US" altLang="ko-KR" sz="1400" dirty="0"/>
              <a:t>) </a:t>
            </a:r>
            <a:r>
              <a:rPr kumimoji="1" lang="ko-KR" altLang="en-US" sz="1400" dirty="0"/>
              <a:t>패턴을 잘 인식하고 </a:t>
            </a:r>
            <a:br>
              <a:rPr kumimoji="1" lang="en-US" altLang="ko-KR" sz="1400" dirty="0"/>
            </a:br>
            <a:r>
              <a:rPr kumimoji="1" lang="ko-KR" altLang="en-US" sz="1400" dirty="0"/>
              <a:t>적합 시켰다</a:t>
            </a:r>
            <a:r>
              <a:rPr kumimoji="1" lang="en-US" altLang="ko-KR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1763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0F5C7-A202-31D3-C8EA-C59E3BAFE863}"/>
              </a:ext>
            </a:extLst>
          </p:cNvPr>
          <p:cNvSpPr txBox="1"/>
          <p:nvPr/>
        </p:nvSpPr>
        <p:spPr>
          <a:xfrm>
            <a:off x="239697" y="905522"/>
            <a:ext cx="6045693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ko-KR" sz="1400" dirty="0"/>
              <a:t>③ </a:t>
            </a:r>
            <a:r>
              <a:rPr kumimoji="1" lang="ko-KR" altLang="en-US" sz="1400" dirty="0"/>
              <a:t>주의</a:t>
            </a:r>
            <a:r>
              <a:rPr kumimoji="1" lang="en-US" altLang="ko-KR" sz="1400" dirty="0"/>
              <a:t>! </a:t>
            </a:r>
            <a:endParaRPr kumimoji="1" lang="ko-KR" alt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17BCD6-4114-8DA7-DA8E-C4032C17F552}"/>
              </a:ext>
            </a:extLst>
          </p:cNvPr>
          <p:cNvSpPr txBox="1"/>
          <p:nvPr/>
        </p:nvSpPr>
        <p:spPr>
          <a:xfrm>
            <a:off x="9715139" y="345053"/>
            <a:ext cx="2180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en-US" altLang="ko-KR" sz="1200" dirty="0"/>
              <a:t>03. Regression Modeling</a:t>
            </a:r>
            <a:endParaRPr kumimoji="1" lang="ko-KR" altLang="en-US" sz="1200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220325A7-4B91-3B4A-A655-1819C1CBE031}"/>
              </a:ext>
            </a:extLst>
          </p:cNvPr>
          <p:cNvGrpSpPr/>
          <p:nvPr/>
        </p:nvGrpSpPr>
        <p:grpSpPr>
          <a:xfrm>
            <a:off x="416511" y="4150166"/>
            <a:ext cx="7772400" cy="2250780"/>
            <a:chOff x="336612" y="1451353"/>
            <a:chExt cx="7772400" cy="225078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2E26F98A-E9AF-3136-0578-AC048F7A55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6612" y="1451353"/>
              <a:ext cx="7772400" cy="2250780"/>
            </a:xfrm>
            <a:prstGeom prst="rect">
              <a:avLst/>
            </a:prstGeom>
          </p:spPr>
        </p:pic>
        <p:cxnSp>
          <p:nvCxnSpPr>
            <p:cNvPr id="5" name="직선 연결선[R] 4">
              <a:extLst>
                <a:ext uri="{FF2B5EF4-FFF2-40B4-BE49-F238E27FC236}">
                  <a16:creationId xmlns:a16="http://schemas.microsoft.com/office/drawing/2014/main" id="{02CDC041-B52E-7117-8F86-10BF2EEF8DF1}"/>
                </a:ext>
              </a:extLst>
            </p:cNvPr>
            <p:cNvCxnSpPr>
              <a:cxnSpLocks/>
            </p:cNvCxnSpPr>
            <p:nvPr/>
          </p:nvCxnSpPr>
          <p:spPr>
            <a:xfrm>
              <a:off x="3941685" y="2315962"/>
              <a:ext cx="50602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[R] 7">
              <a:extLst>
                <a:ext uri="{FF2B5EF4-FFF2-40B4-BE49-F238E27FC236}">
                  <a16:creationId xmlns:a16="http://schemas.microsoft.com/office/drawing/2014/main" id="{DF683AA4-190F-EB73-0766-7A65162E16D8}"/>
                </a:ext>
              </a:extLst>
            </p:cNvPr>
            <p:cNvCxnSpPr>
              <a:cxnSpLocks/>
            </p:cNvCxnSpPr>
            <p:nvPr/>
          </p:nvCxnSpPr>
          <p:spPr>
            <a:xfrm>
              <a:off x="5733495" y="2315962"/>
              <a:ext cx="50602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[R] 8">
              <a:extLst>
                <a:ext uri="{FF2B5EF4-FFF2-40B4-BE49-F238E27FC236}">
                  <a16:creationId xmlns:a16="http://schemas.microsoft.com/office/drawing/2014/main" id="{C0037C08-169B-285E-3DBD-6BC7F2027B9B}"/>
                </a:ext>
              </a:extLst>
            </p:cNvPr>
            <p:cNvCxnSpPr>
              <a:cxnSpLocks/>
            </p:cNvCxnSpPr>
            <p:nvPr/>
          </p:nvCxnSpPr>
          <p:spPr>
            <a:xfrm>
              <a:off x="5017364" y="2503874"/>
              <a:ext cx="50602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BF26401B-C491-538A-7D27-77E268705373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23" y="2503874"/>
              <a:ext cx="50602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52A8338-9ED2-F9D5-3963-26780F11F9CC}"/>
              </a:ext>
            </a:extLst>
          </p:cNvPr>
          <p:cNvSpPr txBox="1"/>
          <p:nvPr/>
        </p:nvSpPr>
        <p:spPr>
          <a:xfrm>
            <a:off x="441571" y="1274977"/>
            <a:ext cx="3091742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-US" altLang="ko-KR" sz="1400" dirty="0"/>
              <a:t>device = ‘</a:t>
            </a:r>
            <a:r>
              <a:rPr kumimoji="1" lang="en-US" altLang="ko-KR" sz="1400" dirty="0" err="1"/>
              <a:t>cpu</a:t>
            </a:r>
            <a:r>
              <a:rPr kumimoji="1" lang="en-US" altLang="ko-KR" sz="1400" dirty="0"/>
              <a:t>’</a:t>
            </a:r>
            <a:r>
              <a:rPr kumimoji="1" lang="ko-KR" altLang="en-US" sz="1400" dirty="0"/>
              <a:t> </a:t>
            </a:r>
            <a:r>
              <a:rPr kumimoji="1" lang="en-US" altLang="ko-KR" sz="1400" dirty="0"/>
              <a:t>(</a:t>
            </a:r>
            <a:r>
              <a:rPr kumimoji="1" lang="ko-KR" altLang="en-US" sz="1400" dirty="0"/>
              <a:t>이전 실습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5D06C2-6CFA-14D4-B505-3D212C021B21}"/>
              </a:ext>
            </a:extLst>
          </p:cNvPr>
          <p:cNvSpPr txBox="1"/>
          <p:nvPr/>
        </p:nvSpPr>
        <p:spPr>
          <a:xfrm>
            <a:off x="416511" y="3783355"/>
            <a:ext cx="3091742" cy="325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20000"/>
              </a:lnSpc>
              <a:buFont typeface="Wingdings" pitchFamily="2" charset="2"/>
              <a:buChar char="Ø"/>
            </a:pPr>
            <a:r>
              <a:rPr kumimoji="1" lang="en-US" altLang="ko-KR" sz="1400" dirty="0"/>
              <a:t>device = ‘</a:t>
            </a:r>
            <a:r>
              <a:rPr kumimoji="1" lang="en-US" altLang="ko-KR" sz="1400" dirty="0" err="1"/>
              <a:t>cuda</a:t>
            </a:r>
            <a:r>
              <a:rPr kumimoji="1" lang="en-US" altLang="ko-KR" sz="1400" dirty="0"/>
              <a:t>’ (</a:t>
            </a:r>
            <a:r>
              <a:rPr kumimoji="1" lang="ko-KR" altLang="en-US" sz="1400" dirty="0"/>
              <a:t>본 실습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D75D6D2-771C-C73C-818B-3A81D441B0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71" y="1623129"/>
            <a:ext cx="6385264" cy="20594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F95BDE-358B-506C-1015-43764DA38F0A}"/>
              </a:ext>
            </a:extLst>
          </p:cNvPr>
          <p:cNvSpPr txBox="1"/>
          <p:nvPr/>
        </p:nvSpPr>
        <p:spPr>
          <a:xfrm>
            <a:off x="8513684" y="4431671"/>
            <a:ext cx="3091741" cy="84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" altLang="ko-KR" sz="1400" i="1" dirty="0"/>
              <a:t>GPU</a:t>
            </a:r>
            <a:r>
              <a:rPr kumimoji="1" lang="ko-KR" altLang="en-US" sz="1400" i="1" dirty="0" err="1"/>
              <a:t>에</a:t>
            </a:r>
            <a:r>
              <a:rPr kumimoji="1" lang="ko-KR" altLang="en-US" sz="1400" i="1" dirty="0"/>
              <a:t> 있는 </a:t>
            </a:r>
            <a:r>
              <a:rPr kumimoji="1" lang="en" altLang="ko-KR" sz="1400" i="1" dirty="0"/>
              <a:t>tensor</a:t>
            </a:r>
            <a:r>
              <a:rPr kumimoji="1" lang="ko-KR" altLang="en-US" sz="1400" i="1" dirty="0"/>
              <a:t>는 </a:t>
            </a:r>
            <a:r>
              <a:rPr kumimoji="1" lang="en" altLang="ko-KR" sz="1400" i="1" dirty="0" err="1"/>
              <a:t>numpy</a:t>
            </a:r>
            <a:r>
              <a:rPr kumimoji="1" lang="ko-KR" altLang="en-US" sz="1400" i="1" dirty="0"/>
              <a:t>로 </a:t>
            </a:r>
            <a:endParaRPr kumimoji="1" lang="en-US" altLang="ko-KR" sz="1400" i="1" dirty="0"/>
          </a:p>
          <a:p>
            <a:pPr>
              <a:lnSpc>
                <a:spcPct val="120000"/>
              </a:lnSpc>
            </a:pPr>
            <a:r>
              <a:rPr kumimoji="1" lang="ko-KR" altLang="en-US" sz="1400" i="1" dirty="0"/>
              <a:t>바로 변환할 수 없음</a:t>
            </a:r>
            <a:endParaRPr kumimoji="1" lang="en-US" altLang="ko-KR" sz="1400" i="1" dirty="0"/>
          </a:p>
          <a:p>
            <a:pPr>
              <a:lnSpc>
                <a:spcPct val="120000"/>
              </a:lnSpc>
            </a:pPr>
            <a:r>
              <a:rPr kumimoji="1" lang="en-US" altLang="ko-KR" sz="1400" i="1" dirty="0">
                <a:sym typeface="Wingdings" pitchFamily="2" charset="2"/>
              </a:rPr>
              <a:t></a:t>
            </a:r>
            <a:r>
              <a:rPr kumimoji="1" lang="ko-KR" altLang="en-US" sz="1400" i="1" dirty="0"/>
              <a:t> </a:t>
            </a:r>
            <a:r>
              <a:rPr kumimoji="1" lang="en" altLang="ko-KR" sz="1400" i="1" dirty="0"/>
              <a:t>CPU</a:t>
            </a:r>
            <a:r>
              <a:rPr kumimoji="1" lang="ko-KR" altLang="en-US" sz="1400" i="1" dirty="0"/>
              <a:t>로 옮긴 후 변환</a:t>
            </a:r>
          </a:p>
        </p:txBody>
      </p:sp>
    </p:spTree>
    <p:extLst>
      <p:ext uri="{BB962C8B-B14F-4D97-AF65-F5344CB8AC3E}">
        <p14:creationId xmlns:p14="http://schemas.microsoft.com/office/powerpoint/2010/main" val="3319845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lnSpc>
            <a:spcPct val="120000"/>
          </a:lnSpc>
          <a:buFont typeface="Arial" panose="020B0604020202020204" pitchFamily="34" charset="0"/>
          <a:buChar char="•"/>
          <a:defRPr kumimoji="1" sz="14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366</Words>
  <Application>Microsoft Macintosh PowerPoint</Application>
  <PresentationFormat>와이드스크린</PresentationFormat>
  <Paragraphs>59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Young-Boo Choi</dc:creator>
  <cp:lastModifiedBy>Young-Boo Choi</cp:lastModifiedBy>
  <cp:revision>169</cp:revision>
  <dcterms:created xsi:type="dcterms:W3CDTF">2025-12-09T14:37:52Z</dcterms:created>
  <dcterms:modified xsi:type="dcterms:W3CDTF">2026-03-20T14:06:02Z</dcterms:modified>
</cp:coreProperties>
</file>