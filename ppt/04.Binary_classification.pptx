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73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30"/>
    <p:restoredTop sz="96790"/>
  </p:normalViewPr>
  <p:slideViewPr>
    <p:cSldViewPr snapToGrid="0">
      <p:cViewPr varScale="1">
        <p:scale>
          <a:sx n="144" d="100"/>
          <a:sy n="144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42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EC386611-DA1D-5984-7915-A39655EA00D8}"/>
              </a:ext>
            </a:extLst>
          </p:cNvPr>
          <p:cNvCxnSpPr/>
          <p:nvPr userDrawn="1"/>
        </p:nvCxnSpPr>
        <p:spPr>
          <a:xfrm>
            <a:off x="268913" y="694436"/>
            <a:ext cx="1163937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ACC33B-932B-13A7-800E-CA47F31C7A77}"/>
              </a:ext>
            </a:extLst>
          </p:cNvPr>
          <p:cNvSpPr txBox="1"/>
          <p:nvPr userDrawn="1"/>
        </p:nvSpPr>
        <p:spPr>
          <a:xfrm>
            <a:off x="10864676" y="6291470"/>
            <a:ext cx="1043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77F96B8-C915-EB4F-8C3F-29DAE644A8B2}" type="slidenum">
              <a:rPr kumimoji="1" lang="ko-KR" altLang="en-US" sz="1200" smtClean="0"/>
              <a:pPr algn="r"/>
              <a:t>‹#›</a:t>
            </a:fld>
            <a:endParaRPr kumimoji="1"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BEBB57-E58D-1126-CFFA-065DCF37E58D}"/>
              </a:ext>
            </a:extLst>
          </p:cNvPr>
          <p:cNvSpPr txBox="1"/>
          <p:nvPr userDrawn="1"/>
        </p:nvSpPr>
        <p:spPr>
          <a:xfrm>
            <a:off x="188007" y="323716"/>
            <a:ext cx="3507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200" dirty="0"/>
              <a:t>Deep Learning with </a:t>
            </a:r>
            <a:r>
              <a:rPr kumimoji="1" lang="en-US" altLang="ko-KR" sz="1200" dirty="0" err="1"/>
              <a:t>Pytorch</a:t>
            </a:r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9155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EA1C0A-EAB4-70F3-F80B-C43D9EFEB2B8}"/>
              </a:ext>
            </a:extLst>
          </p:cNvPr>
          <p:cNvSpPr txBox="1"/>
          <p:nvPr/>
        </p:nvSpPr>
        <p:spPr>
          <a:xfrm>
            <a:off x="10317190" y="336429"/>
            <a:ext cx="1535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1-1. </a:t>
            </a:r>
            <a:r>
              <a:rPr kumimoji="1" lang="ko-KR" altLang="en-US" sz="1200" dirty="0"/>
              <a:t>과정소개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688FDB-FB25-6391-F405-76C2A3284180}"/>
              </a:ext>
            </a:extLst>
          </p:cNvPr>
          <p:cNvSpPr/>
          <p:nvPr/>
        </p:nvSpPr>
        <p:spPr>
          <a:xfrm>
            <a:off x="232913" y="232913"/>
            <a:ext cx="11740551" cy="62886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18510-5A9B-9E78-9DDB-ABEB9CCBD434}"/>
              </a:ext>
            </a:extLst>
          </p:cNvPr>
          <p:cNvSpPr txBox="1"/>
          <p:nvPr/>
        </p:nvSpPr>
        <p:spPr>
          <a:xfrm>
            <a:off x="778135" y="1535100"/>
            <a:ext cx="103689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3300" b="1" dirty="0"/>
              <a:t>Deep Learning with </a:t>
            </a:r>
            <a:r>
              <a:rPr kumimoji="1" lang="en-US" altLang="ko-KR" sz="3300" b="1" dirty="0" err="1"/>
              <a:t>Pytorch</a:t>
            </a:r>
            <a:endParaRPr kumimoji="1" lang="en-US" altLang="ko-KR" sz="33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4B1708-9840-AFBF-CFD2-887619A75B54}"/>
              </a:ext>
            </a:extLst>
          </p:cNvPr>
          <p:cNvSpPr txBox="1"/>
          <p:nvPr/>
        </p:nvSpPr>
        <p:spPr>
          <a:xfrm>
            <a:off x="4063040" y="2931851"/>
            <a:ext cx="4876773" cy="268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600" b="1" dirty="0">
                <a:latin typeface="+mn-ea"/>
              </a:rPr>
              <a:t>04. Binary Classification model </a:t>
            </a:r>
            <a:br>
              <a:rPr kumimoji="1" lang="en-US" altLang="ko-KR" sz="1400" dirty="0">
                <a:latin typeface="+mn-ea"/>
              </a:rPr>
            </a:br>
            <a:endParaRPr kumimoji="1" lang="en-US" altLang="ko-KR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활성화 함수 </a:t>
            </a:r>
            <a:endParaRPr kumimoji="1" lang="en-US" altLang="ko-KR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손실 함수</a:t>
            </a:r>
            <a:endParaRPr kumimoji="1"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+mn-ea"/>
              </a:rPr>
              <a:t>[</a:t>
            </a:r>
            <a:r>
              <a:rPr kumimoji="1" lang="ko-KR" altLang="en-US" sz="1400" dirty="0">
                <a:latin typeface="+mn-ea"/>
              </a:rPr>
              <a:t>실습</a:t>
            </a:r>
            <a:r>
              <a:rPr kumimoji="1" lang="en-US" altLang="ko-KR" sz="1400" dirty="0">
                <a:latin typeface="+mn-ea"/>
              </a:rPr>
              <a:t>1] </a:t>
            </a:r>
            <a:r>
              <a:rPr kumimoji="1" lang="ko-KR" altLang="en-US" sz="1400" dirty="0">
                <a:latin typeface="+mn-ea"/>
              </a:rPr>
              <a:t>간단한 로지스틱 회귀모델 </a:t>
            </a:r>
            <a:br>
              <a:rPr kumimoji="1" lang="en-US" altLang="ko-KR" sz="1400" dirty="0">
                <a:latin typeface="+mn-ea"/>
              </a:rPr>
            </a:br>
            <a:r>
              <a:rPr kumimoji="1" lang="en-US" altLang="ko-KR" sz="1400" dirty="0">
                <a:latin typeface="+mn-ea"/>
              </a:rPr>
              <a:t>[</a:t>
            </a:r>
            <a:r>
              <a:rPr kumimoji="1" lang="ko-KR" altLang="en-US" sz="1400" dirty="0">
                <a:latin typeface="+mn-ea"/>
              </a:rPr>
              <a:t>실습</a:t>
            </a:r>
            <a:r>
              <a:rPr kumimoji="1" lang="en-US" altLang="ko-KR" sz="1400" dirty="0">
                <a:latin typeface="+mn-ea"/>
              </a:rPr>
              <a:t>2] </a:t>
            </a:r>
            <a:r>
              <a:rPr kumimoji="1" lang="ko-KR" altLang="en-US" sz="1400" dirty="0">
                <a:latin typeface="+mn-ea"/>
              </a:rPr>
              <a:t>로지스틱 회귀모델에 </a:t>
            </a:r>
            <a:r>
              <a:rPr kumimoji="1" lang="ko-KR" altLang="en-US" sz="1400" dirty="0" err="1">
                <a:latin typeface="+mn-ea"/>
              </a:rPr>
              <a:t>은닉층</a:t>
            </a:r>
            <a:r>
              <a:rPr kumimoji="1" lang="ko-KR" altLang="en-US" sz="1400" dirty="0">
                <a:latin typeface="+mn-ea"/>
              </a:rPr>
              <a:t> 추가 </a:t>
            </a:r>
            <a:endParaRPr kumimoji="1"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+mn-ea"/>
              </a:rPr>
              <a:t>[</a:t>
            </a:r>
            <a:r>
              <a:rPr kumimoji="1" lang="ko-KR" altLang="en-US" sz="1400" dirty="0">
                <a:latin typeface="+mn-ea"/>
              </a:rPr>
              <a:t>실습</a:t>
            </a:r>
            <a:r>
              <a:rPr kumimoji="1" lang="en-US" altLang="ko-KR" sz="1400" dirty="0">
                <a:latin typeface="+mn-ea"/>
              </a:rPr>
              <a:t>3] </a:t>
            </a:r>
            <a:r>
              <a:rPr kumimoji="1" lang="ko-KR" altLang="en-US" sz="1400" dirty="0">
                <a:latin typeface="+mn-ea"/>
              </a:rPr>
              <a:t>직원 이직여부 예측모델 </a:t>
            </a:r>
          </a:p>
        </p:txBody>
      </p:sp>
    </p:spTree>
    <p:extLst>
      <p:ext uri="{BB962C8B-B14F-4D97-AF65-F5344CB8AC3E}">
        <p14:creationId xmlns:p14="http://schemas.microsoft.com/office/powerpoint/2010/main" val="39526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EDD26-9939-94FE-9DF8-E5BA809AD977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04. Binary Classification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AA50BD-23A3-10EA-4853-9EC3733A41A4}"/>
              </a:ext>
            </a:extLst>
          </p:cNvPr>
          <p:cNvSpPr/>
          <p:nvPr/>
        </p:nvSpPr>
        <p:spPr>
          <a:xfrm>
            <a:off x="266330" y="887767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활성화 함수 </a:t>
            </a:r>
            <a:r>
              <a:rPr kumimoji="1" lang="en-US" altLang="ko-KR" sz="1600" b="1" dirty="0">
                <a:solidFill>
                  <a:schemeClr val="tx1"/>
                </a:solidFill>
              </a:rPr>
              <a:t>(Sigmoid) 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C296E1-2033-903C-1138-2D59F5C35B4D}"/>
              </a:ext>
            </a:extLst>
          </p:cNvPr>
          <p:cNvSpPr txBox="1"/>
          <p:nvPr/>
        </p:nvSpPr>
        <p:spPr>
          <a:xfrm>
            <a:off x="435006" y="1535837"/>
            <a:ext cx="10617693" cy="84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신경망의 최종 출력층에서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값을 </a:t>
            </a:r>
            <a:r>
              <a:rPr kumimoji="1" lang="en-US" altLang="ko-KR" sz="1400" dirty="0"/>
              <a:t>0 </a:t>
            </a:r>
            <a:r>
              <a:rPr kumimoji="1" lang="ko-KR" altLang="en-US" sz="1400" dirty="0"/>
              <a:t>또는 </a:t>
            </a:r>
            <a:r>
              <a:rPr kumimoji="1" lang="en-US" altLang="ko-KR" sz="1400" dirty="0"/>
              <a:t>1</a:t>
            </a:r>
            <a:r>
              <a:rPr kumimoji="1" lang="ko-KR" altLang="en-US" sz="1400" dirty="0"/>
              <a:t>로 변환하기 위해 사용 </a:t>
            </a:r>
            <a:endParaRPr kumimoji="1" lang="en-US" altLang="ko-KR" sz="1400" dirty="0"/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 err="1"/>
              <a:t>입력값이</a:t>
            </a:r>
            <a:r>
              <a:rPr kumimoji="1" lang="ko-KR" altLang="en-US" sz="1400" dirty="0"/>
              <a:t> 클 수록 </a:t>
            </a:r>
            <a:r>
              <a:rPr kumimoji="1" lang="en-US" altLang="ko-KR" sz="1400" dirty="0"/>
              <a:t>1</a:t>
            </a:r>
            <a:r>
              <a:rPr kumimoji="1" lang="ko-KR" altLang="en-US" sz="1400" dirty="0" err="1"/>
              <a:t>에</a:t>
            </a:r>
            <a:r>
              <a:rPr kumimoji="1" lang="ko-KR" altLang="en-US" sz="1400" dirty="0"/>
              <a:t> 가깝게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작을 수록 </a:t>
            </a:r>
            <a:r>
              <a:rPr kumimoji="1" lang="en-US" altLang="ko-KR" sz="1400" dirty="0"/>
              <a:t>0</a:t>
            </a:r>
            <a:r>
              <a:rPr kumimoji="1" lang="ko-KR" altLang="en-US" sz="1400" dirty="0" err="1"/>
              <a:t>에</a:t>
            </a:r>
            <a:r>
              <a:rPr kumimoji="1" lang="ko-KR" altLang="en-US" sz="1400" dirty="0"/>
              <a:t> 가까워 진다</a:t>
            </a:r>
            <a:r>
              <a:rPr kumimoji="1" lang="en-US" altLang="ko-KR" sz="1400" dirty="0"/>
              <a:t>. 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“</a:t>
            </a:r>
            <a:r>
              <a:rPr kumimoji="1" lang="ko-KR" altLang="en-US" sz="1400" dirty="0" err="1"/>
              <a:t>입력값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x </a:t>
            </a:r>
            <a:r>
              <a:rPr kumimoji="1" lang="ko-KR" altLang="en-US" sz="1400" dirty="0"/>
              <a:t>가중치</a:t>
            </a:r>
            <a:r>
              <a:rPr kumimoji="1" lang="en-US" altLang="ko-KR" sz="1400" dirty="0"/>
              <a:t>”</a:t>
            </a:r>
            <a:r>
              <a:rPr kumimoji="1" lang="ko-KR" altLang="en-US" sz="1400" dirty="0"/>
              <a:t>의 총합을 </a:t>
            </a:r>
            <a:r>
              <a:rPr kumimoji="1" lang="en-US" altLang="ko-KR" sz="1400" dirty="0"/>
              <a:t>Sigmoid </a:t>
            </a:r>
            <a:r>
              <a:rPr kumimoji="1" lang="ko-KR" altLang="en-US" sz="1400" dirty="0"/>
              <a:t>함수에 통과시킨 후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최종 </a:t>
            </a:r>
            <a:r>
              <a:rPr kumimoji="1" lang="ko-KR" altLang="en-US" sz="1400" dirty="0" err="1"/>
              <a:t>확률값이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0.5 </a:t>
            </a:r>
            <a:r>
              <a:rPr kumimoji="1" lang="ko-KR" altLang="en-US" sz="1400" dirty="0"/>
              <a:t>보다 크면 </a:t>
            </a:r>
            <a:r>
              <a:rPr kumimoji="1" lang="en-US" altLang="ko-KR" sz="1400" dirty="0"/>
              <a:t>1, </a:t>
            </a:r>
            <a:r>
              <a:rPr kumimoji="1" lang="ko-KR" altLang="en-US" sz="1400" dirty="0"/>
              <a:t>작으면 </a:t>
            </a:r>
            <a:r>
              <a:rPr kumimoji="1" lang="en-US" altLang="ko-KR" sz="1400" dirty="0"/>
              <a:t>0</a:t>
            </a:r>
            <a:r>
              <a:rPr kumimoji="1" lang="ko-KR" altLang="en-US" sz="1400" dirty="0" err="1"/>
              <a:t>으로</a:t>
            </a:r>
            <a:r>
              <a:rPr kumimoji="1" lang="ko-KR" altLang="en-US" sz="1400" dirty="0"/>
              <a:t> 예측한다</a:t>
            </a:r>
            <a:r>
              <a:rPr kumimoji="1" lang="en-US" altLang="ko-KR" sz="1400" dirty="0"/>
              <a:t>. </a:t>
            </a:r>
            <a:endParaRPr kumimoji="1" lang="ko-KR" altLang="en-US" sz="140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20C66DB-D50C-B5A2-0475-7B57A8D4F039}"/>
              </a:ext>
            </a:extLst>
          </p:cNvPr>
          <p:cNvSpPr/>
          <p:nvPr/>
        </p:nvSpPr>
        <p:spPr>
          <a:xfrm>
            <a:off x="1056446" y="3755255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E6CD561-A1CC-25F0-A670-0733B7D2197B}"/>
              </a:ext>
            </a:extLst>
          </p:cNvPr>
          <p:cNvSpPr/>
          <p:nvPr/>
        </p:nvSpPr>
        <p:spPr>
          <a:xfrm>
            <a:off x="1066803" y="4173987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7325E68-0936-F846-DB55-FFF5C2F5EB3B}"/>
              </a:ext>
            </a:extLst>
          </p:cNvPr>
          <p:cNvSpPr/>
          <p:nvPr/>
        </p:nvSpPr>
        <p:spPr>
          <a:xfrm>
            <a:off x="1068282" y="4583841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127D90D-6D61-A5B5-4956-E2C1EB0EA62A}"/>
              </a:ext>
            </a:extLst>
          </p:cNvPr>
          <p:cNvSpPr/>
          <p:nvPr/>
        </p:nvSpPr>
        <p:spPr>
          <a:xfrm>
            <a:off x="1945694" y="4129597"/>
            <a:ext cx="273725" cy="27372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F11DAD8-06FF-E353-06F5-BFAF171C0E19}"/>
              </a:ext>
            </a:extLst>
          </p:cNvPr>
          <p:cNvCxnSpPr>
            <a:stCxn id="17" idx="6"/>
            <a:endCxn id="25" idx="2"/>
          </p:cNvCxnSpPr>
          <p:nvPr/>
        </p:nvCxnSpPr>
        <p:spPr>
          <a:xfrm flipV="1">
            <a:off x="1253234" y="4266460"/>
            <a:ext cx="692460" cy="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053EFBA-6CA9-2CB6-C40F-30702FC1CE77}"/>
              </a:ext>
            </a:extLst>
          </p:cNvPr>
          <p:cNvCxnSpPr>
            <a:cxnSpLocks/>
            <a:stCxn id="22" idx="6"/>
            <a:endCxn id="25" idx="2"/>
          </p:cNvCxnSpPr>
          <p:nvPr/>
        </p:nvCxnSpPr>
        <p:spPr>
          <a:xfrm flipV="1">
            <a:off x="1254713" y="4266460"/>
            <a:ext cx="690981" cy="410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E86BAEE-F59A-C26D-B5F0-8520A6270F41}"/>
              </a:ext>
            </a:extLst>
          </p:cNvPr>
          <p:cNvCxnSpPr>
            <a:cxnSpLocks/>
            <a:stCxn id="16" idx="6"/>
            <a:endCxn id="25" idx="2"/>
          </p:cNvCxnSpPr>
          <p:nvPr/>
        </p:nvCxnSpPr>
        <p:spPr>
          <a:xfrm>
            <a:off x="1242877" y="3848471"/>
            <a:ext cx="702817" cy="417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ADF8C74-29E1-FA41-D6A9-E82233C7A624}"/>
              </a:ext>
            </a:extLst>
          </p:cNvPr>
          <p:cNvCxnSpPr>
            <a:cxnSpLocks/>
          </p:cNvCxnSpPr>
          <p:nvPr/>
        </p:nvCxnSpPr>
        <p:spPr>
          <a:xfrm>
            <a:off x="2217940" y="4286103"/>
            <a:ext cx="5075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C7EF87B-DF40-2305-309C-F1DE96A276FB}"/>
              </a:ext>
            </a:extLst>
          </p:cNvPr>
          <p:cNvSpPr txBox="1"/>
          <p:nvPr/>
        </p:nvSpPr>
        <p:spPr>
          <a:xfrm>
            <a:off x="2583403" y="3923928"/>
            <a:ext cx="1305017" cy="58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400" i="1" dirty="0"/>
              <a:t>Survived? </a:t>
            </a:r>
          </a:p>
          <a:p>
            <a:pPr algn="ctr">
              <a:lnSpc>
                <a:spcPct val="120000"/>
              </a:lnSpc>
            </a:pPr>
            <a:r>
              <a:rPr kumimoji="1" lang="en-US" altLang="ko-KR" sz="1400" i="1" dirty="0"/>
              <a:t>0, 1</a:t>
            </a:r>
            <a:endParaRPr kumimoji="1" lang="ko-KR" altLang="en-US" sz="1400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B2B242-2A58-3A6A-FC07-E0C7ED4DB130}"/>
              </a:ext>
            </a:extLst>
          </p:cNvPr>
          <p:cNvSpPr txBox="1"/>
          <p:nvPr/>
        </p:nvSpPr>
        <p:spPr>
          <a:xfrm>
            <a:off x="647332" y="3658496"/>
            <a:ext cx="488272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200" dirty="0"/>
              <a:t>age</a:t>
            </a:r>
            <a:endParaRPr kumimoji="1" lang="ko-KR" alt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87CAA3-60CA-B8A2-8031-204C26CCC581}"/>
              </a:ext>
            </a:extLst>
          </p:cNvPr>
          <p:cNvSpPr txBox="1"/>
          <p:nvPr/>
        </p:nvSpPr>
        <p:spPr>
          <a:xfrm>
            <a:off x="675444" y="4121617"/>
            <a:ext cx="488272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200" dirty="0"/>
              <a:t>sex</a:t>
            </a:r>
            <a:endParaRPr kumimoji="1" lang="ko-KR" alt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B9B4DE-1432-3E24-2FB0-37505BA89B70}"/>
              </a:ext>
            </a:extLst>
          </p:cNvPr>
          <p:cNvSpPr txBox="1"/>
          <p:nvPr/>
        </p:nvSpPr>
        <p:spPr>
          <a:xfrm>
            <a:off x="657688" y="4521109"/>
            <a:ext cx="488272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200" dirty="0"/>
              <a:t>fare</a:t>
            </a:r>
            <a:endParaRPr kumimoji="1" lang="ko-KR" altLang="en-US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90D455-89DC-2386-9AD8-79AD12A0B3E3}"/>
              </a:ext>
            </a:extLst>
          </p:cNvPr>
          <p:cNvSpPr txBox="1"/>
          <p:nvPr/>
        </p:nvSpPr>
        <p:spPr>
          <a:xfrm>
            <a:off x="1480357" y="3705467"/>
            <a:ext cx="488272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200" i="1" dirty="0"/>
              <a:t>W</a:t>
            </a:r>
            <a:r>
              <a:rPr kumimoji="1" lang="en-US" altLang="ko-KR" sz="1200" i="1" baseline="-25000" dirty="0"/>
              <a:t>1</a:t>
            </a:r>
            <a:endParaRPr kumimoji="1" lang="ko-KR" altLang="en-US" sz="1200" i="1" baseline="-25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575AAC-B1FE-E1CA-ADDC-1DF1B71C1E9B}"/>
              </a:ext>
            </a:extLst>
          </p:cNvPr>
          <p:cNvSpPr txBox="1"/>
          <p:nvPr/>
        </p:nvSpPr>
        <p:spPr>
          <a:xfrm>
            <a:off x="1289489" y="4017666"/>
            <a:ext cx="488272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200" i="1" dirty="0"/>
              <a:t>W</a:t>
            </a:r>
            <a:r>
              <a:rPr kumimoji="1" lang="en-US" altLang="ko-KR" sz="1200" i="1" baseline="-25000" dirty="0"/>
              <a:t>2</a:t>
            </a:r>
            <a:endParaRPr kumimoji="1" lang="ko-KR" altLang="en-US" sz="1200" i="1" baseline="-25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5766B3-E79B-09AD-6CED-601DAAE6B57C}"/>
              </a:ext>
            </a:extLst>
          </p:cNvPr>
          <p:cNvSpPr txBox="1"/>
          <p:nvPr/>
        </p:nvSpPr>
        <p:spPr>
          <a:xfrm>
            <a:off x="1404150" y="4471758"/>
            <a:ext cx="488272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200" i="1" dirty="0"/>
              <a:t>W</a:t>
            </a:r>
            <a:r>
              <a:rPr kumimoji="1" lang="en-US" altLang="ko-KR" sz="1200" i="1" baseline="-25000" dirty="0"/>
              <a:t>3</a:t>
            </a:r>
            <a:endParaRPr kumimoji="1" lang="ko-KR" altLang="en-US" sz="1200" i="1" baseline="-25000" dirty="0"/>
          </a:p>
        </p:txBody>
      </p:sp>
      <p:sp>
        <p:nvSpPr>
          <p:cNvPr id="45" name="오각형[P] 44">
            <a:extLst>
              <a:ext uri="{FF2B5EF4-FFF2-40B4-BE49-F238E27FC236}">
                <a16:creationId xmlns:a16="http://schemas.microsoft.com/office/drawing/2014/main" id="{7E9A4BEF-47B4-2913-8F11-2FD0029019F9}"/>
              </a:ext>
            </a:extLst>
          </p:cNvPr>
          <p:cNvSpPr/>
          <p:nvPr/>
        </p:nvSpPr>
        <p:spPr>
          <a:xfrm>
            <a:off x="435006" y="2867487"/>
            <a:ext cx="3744899" cy="387573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 dirty="0">
                <a:solidFill>
                  <a:schemeClr val="tx1"/>
                </a:solidFill>
              </a:rPr>
              <a:t>신경망</a:t>
            </a:r>
          </a:p>
        </p:txBody>
      </p:sp>
      <p:sp>
        <p:nvSpPr>
          <p:cNvPr id="46" name="오각형[P] 45">
            <a:extLst>
              <a:ext uri="{FF2B5EF4-FFF2-40B4-BE49-F238E27FC236}">
                <a16:creationId xmlns:a16="http://schemas.microsoft.com/office/drawing/2014/main" id="{A36D4947-78F6-D09A-4D86-BE09C99C0886}"/>
              </a:ext>
            </a:extLst>
          </p:cNvPr>
          <p:cNvSpPr/>
          <p:nvPr/>
        </p:nvSpPr>
        <p:spPr>
          <a:xfrm>
            <a:off x="4297529" y="2867487"/>
            <a:ext cx="3744899" cy="387573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>
                <a:solidFill>
                  <a:schemeClr val="tx1"/>
                </a:solidFill>
              </a:rPr>
              <a:t>Sigmoid (Logit</a:t>
            </a:r>
            <a:r>
              <a:rPr kumimoji="1" lang="ko-KR" altLang="en-US" sz="1400" b="1" dirty="0">
                <a:solidFill>
                  <a:schemeClr val="tx1"/>
                </a:solidFill>
              </a:rPr>
              <a:t> 함수</a:t>
            </a:r>
            <a:r>
              <a:rPr kumimoji="1" lang="en-US" altLang="ko-KR" sz="1400" b="1" dirty="0">
                <a:solidFill>
                  <a:schemeClr val="tx1"/>
                </a:solidFill>
              </a:rPr>
              <a:t>)</a:t>
            </a:r>
            <a:endParaRPr kumimoji="1"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47" name="오각형[P] 46">
            <a:extLst>
              <a:ext uri="{FF2B5EF4-FFF2-40B4-BE49-F238E27FC236}">
                <a16:creationId xmlns:a16="http://schemas.microsoft.com/office/drawing/2014/main" id="{7F5B72ED-3367-0F58-D0D5-8B1B1E4F9F01}"/>
              </a:ext>
            </a:extLst>
          </p:cNvPr>
          <p:cNvSpPr/>
          <p:nvPr/>
        </p:nvSpPr>
        <p:spPr>
          <a:xfrm>
            <a:off x="8133418" y="2867487"/>
            <a:ext cx="3744899" cy="387573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 dirty="0" err="1">
                <a:solidFill>
                  <a:schemeClr val="tx1"/>
                </a:solidFill>
              </a:rPr>
              <a:t>출력값</a:t>
            </a:r>
            <a:r>
              <a:rPr kumimoji="1" lang="en-US" altLang="ko-KR" sz="1400" b="1" dirty="0">
                <a:solidFill>
                  <a:schemeClr val="tx1"/>
                </a:solidFill>
              </a:rPr>
              <a:t>(</a:t>
            </a:r>
            <a:r>
              <a:rPr kumimoji="1" lang="ko-KR" altLang="en-US" sz="1400" b="1" dirty="0">
                <a:solidFill>
                  <a:schemeClr val="tx1"/>
                </a:solidFill>
              </a:rPr>
              <a:t>생존확률</a:t>
            </a:r>
            <a:r>
              <a:rPr kumimoji="1" lang="en-US" altLang="ko-KR" sz="1400" b="1" dirty="0">
                <a:solidFill>
                  <a:schemeClr val="tx1"/>
                </a:solidFill>
              </a:rPr>
              <a:t>)</a:t>
            </a:r>
            <a:endParaRPr kumimoji="1"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E6E5C9-6255-014C-4446-B7A4BAC697F9}"/>
              </a:ext>
            </a:extLst>
          </p:cNvPr>
          <p:cNvSpPr txBox="1"/>
          <p:nvPr/>
        </p:nvSpPr>
        <p:spPr>
          <a:xfrm>
            <a:off x="727968" y="5246703"/>
            <a:ext cx="3036163" cy="84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Tx/>
              <a:buChar char="-"/>
            </a:pPr>
            <a:r>
              <a:rPr kumimoji="1" lang="en-US" altLang="ko-KR" sz="1400" i="1" dirty="0">
                <a:solidFill>
                  <a:schemeClr val="accent1"/>
                </a:solidFill>
              </a:rPr>
              <a:t>Age = 25,  W</a:t>
            </a:r>
            <a:r>
              <a:rPr kumimoji="1" lang="en-US" altLang="ko-KR" sz="1400" i="1" baseline="-25000" dirty="0">
                <a:solidFill>
                  <a:schemeClr val="accent1"/>
                </a:solidFill>
              </a:rPr>
              <a:t>1</a:t>
            </a:r>
            <a:r>
              <a:rPr kumimoji="1" lang="en-US" altLang="ko-KR" sz="1400" i="1" dirty="0">
                <a:solidFill>
                  <a:schemeClr val="accent1"/>
                </a:solidFill>
              </a:rPr>
              <a:t> = 0.02</a:t>
            </a: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kumimoji="1" lang="en-US" altLang="ko-KR" sz="1400" i="1" dirty="0">
                <a:solidFill>
                  <a:schemeClr val="accent1"/>
                </a:solidFill>
              </a:rPr>
              <a:t>Sex =  1,   W</a:t>
            </a:r>
            <a:r>
              <a:rPr kumimoji="1" lang="en-US" altLang="ko-KR" sz="1400" i="1" baseline="-25000" dirty="0">
                <a:solidFill>
                  <a:schemeClr val="accent1"/>
                </a:solidFill>
              </a:rPr>
              <a:t>2</a:t>
            </a:r>
            <a:r>
              <a:rPr kumimoji="1" lang="en-US" altLang="ko-KR" sz="1400" i="1" dirty="0">
                <a:solidFill>
                  <a:schemeClr val="accent1"/>
                </a:solidFill>
              </a:rPr>
              <a:t> = -0.50</a:t>
            </a:r>
            <a:endParaRPr kumimoji="1" lang="ko-KR" altLang="en-US" sz="1400" i="1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20000"/>
              </a:lnSpc>
              <a:buFontTx/>
              <a:buChar char="-"/>
            </a:pPr>
            <a:r>
              <a:rPr kumimoji="1" lang="en-US" altLang="ko-KR" sz="1400" i="1" dirty="0">
                <a:solidFill>
                  <a:schemeClr val="accent1"/>
                </a:solidFill>
              </a:rPr>
              <a:t>Fare = 50, W</a:t>
            </a:r>
            <a:r>
              <a:rPr kumimoji="1" lang="en-US" altLang="ko-KR" sz="1400" i="1" baseline="-25000" dirty="0">
                <a:solidFill>
                  <a:schemeClr val="accent1"/>
                </a:solidFill>
              </a:rPr>
              <a:t>3</a:t>
            </a:r>
            <a:r>
              <a:rPr kumimoji="1" lang="en-US" altLang="ko-KR" sz="1400" i="1" dirty="0">
                <a:solidFill>
                  <a:schemeClr val="accent1"/>
                </a:solidFill>
              </a:rPr>
              <a:t> = 0.05</a:t>
            </a:r>
            <a:endParaRPr kumimoji="1" lang="ko-KR" altLang="en-US" sz="1400" i="1" dirty="0">
              <a:solidFill>
                <a:schemeClr val="accent1"/>
              </a:solidFill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5F504DA9-8165-CF11-7647-8D2304F7B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330" y="3409050"/>
            <a:ext cx="2992515" cy="1988543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98A292CB-A9E0-35C1-F029-BEC72C3BF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682" y="5551583"/>
            <a:ext cx="1494102" cy="647127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D4D74C25-52BF-9E1B-8985-C99BCBABE881}"/>
              </a:ext>
            </a:extLst>
          </p:cNvPr>
          <p:cNvSpPr txBox="1"/>
          <p:nvPr/>
        </p:nvSpPr>
        <p:spPr>
          <a:xfrm>
            <a:off x="8362755" y="3586721"/>
            <a:ext cx="3036163" cy="1359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① f(x) = (0.02 x 25) </a:t>
            </a:r>
          </a:p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            -(0.50 x 1) </a:t>
            </a:r>
          </a:p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            +(0.05 x 50) = 0.1</a:t>
            </a:r>
          </a:p>
          <a:p>
            <a:pPr algn="l">
              <a:lnSpc>
                <a:spcPct val="120000"/>
              </a:lnSpc>
            </a:pPr>
            <a:endParaRPr kumimoji="1" lang="en-US" altLang="ko-KR" sz="1400" dirty="0"/>
          </a:p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② S(x) = 1 / (1+e</a:t>
            </a:r>
            <a:r>
              <a:rPr kumimoji="1" lang="en-US" altLang="ko-KR" sz="1400" baseline="30000" dirty="0"/>
              <a:t>-0.1</a:t>
            </a:r>
            <a:r>
              <a:rPr kumimoji="1" lang="en-US" altLang="ko-KR" sz="1400" dirty="0"/>
              <a:t>) </a:t>
            </a:r>
            <a:r>
              <a:rPr kumimoji="1" lang="en-US" altLang="ko-KR" sz="1400" dirty="0">
                <a:sym typeface="Wingdings" pitchFamily="2" charset="2"/>
              </a:rPr>
              <a:t> 0.525 </a:t>
            </a:r>
            <a:endParaRPr kumimoji="1" lang="ko-KR" alt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8E7523-0180-171D-2716-17E03BBA2699}"/>
              </a:ext>
            </a:extLst>
          </p:cNvPr>
          <p:cNvSpPr txBox="1"/>
          <p:nvPr/>
        </p:nvSpPr>
        <p:spPr>
          <a:xfrm>
            <a:off x="8359059" y="5105622"/>
            <a:ext cx="3293616" cy="58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b="1" i="1" dirty="0">
                <a:solidFill>
                  <a:schemeClr val="accent1"/>
                </a:solidFill>
              </a:rPr>
              <a:t>※ 25</a:t>
            </a:r>
            <a:r>
              <a:rPr kumimoji="1" lang="ko-KR" altLang="en-US" sz="1400" b="1" i="1" dirty="0">
                <a:solidFill>
                  <a:schemeClr val="accent1"/>
                </a:solidFill>
              </a:rPr>
              <a:t>세 여성</a:t>
            </a:r>
            <a:r>
              <a:rPr kumimoji="1" lang="en-US" altLang="ko-KR" sz="1400" b="1" i="1" dirty="0">
                <a:solidFill>
                  <a:schemeClr val="accent1"/>
                </a:solidFill>
              </a:rPr>
              <a:t>, 50</a:t>
            </a:r>
            <a:r>
              <a:rPr kumimoji="1" lang="ko-KR" altLang="en-US" sz="1400" b="1" i="1" dirty="0">
                <a:solidFill>
                  <a:schemeClr val="accent1"/>
                </a:solidFill>
              </a:rPr>
              <a:t>파운드의 요금을 </a:t>
            </a:r>
            <a:br>
              <a:rPr kumimoji="1" lang="en-US" altLang="ko-KR" sz="1400" b="1" i="1" dirty="0">
                <a:solidFill>
                  <a:schemeClr val="accent1"/>
                </a:solidFill>
              </a:rPr>
            </a:br>
            <a:r>
              <a:rPr kumimoji="1" lang="en-US" altLang="ko-KR" sz="1400" b="1" i="1" dirty="0">
                <a:solidFill>
                  <a:schemeClr val="accent1"/>
                </a:solidFill>
              </a:rPr>
              <a:t>  </a:t>
            </a:r>
            <a:r>
              <a:rPr kumimoji="1" lang="ko-KR" altLang="en-US" sz="1400" b="1" i="1" dirty="0">
                <a:solidFill>
                  <a:schemeClr val="accent1"/>
                </a:solidFill>
              </a:rPr>
              <a:t>지불한 경우 </a:t>
            </a:r>
            <a:r>
              <a:rPr kumimoji="1" lang="en-US" altLang="ko-KR" sz="1400" b="1" i="1" dirty="0">
                <a:solidFill>
                  <a:schemeClr val="accent1"/>
                </a:solidFill>
              </a:rPr>
              <a:t>“</a:t>
            </a:r>
            <a:r>
              <a:rPr kumimoji="1" lang="ko-KR" altLang="en-US" sz="1400" b="1" i="1" dirty="0">
                <a:solidFill>
                  <a:schemeClr val="accent1"/>
                </a:solidFill>
              </a:rPr>
              <a:t>생존</a:t>
            </a:r>
            <a:r>
              <a:rPr kumimoji="1" lang="en-US" altLang="ko-KR" sz="1400" b="1" i="1" dirty="0">
                <a:solidFill>
                  <a:schemeClr val="accent1"/>
                </a:solidFill>
              </a:rPr>
              <a:t>”</a:t>
            </a:r>
            <a:r>
              <a:rPr kumimoji="1" lang="ko-KR" altLang="en-US" sz="1400" b="1" i="1" dirty="0">
                <a:solidFill>
                  <a:schemeClr val="accent1"/>
                </a:solidFill>
              </a:rPr>
              <a:t>했을 것으로 예측</a:t>
            </a:r>
          </a:p>
        </p:txBody>
      </p:sp>
    </p:spTree>
    <p:extLst>
      <p:ext uri="{BB962C8B-B14F-4D97-AF65-F5344CB8AC3E}">
        <p14:creationId xmlns:p14="http://schemas.microsoft.com/office/powerpoint/2010/main" val="162254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13455A-0024-692F-CFB9-7D9B68B2C7A5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04. Binary Classification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1C3416-98F2-382E-EE2C-900BBE843211}"/>
              </a:ext>
            </a:extLst>
          </p:cNvPr>
          <p:cNvSpPr/>
          <p:nvPr/>
        </p:nvSpPr>
        <p:spPr>
          <a:xfrm>
            <a:off x="266330" y="887767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손실 함수 </a:t>
            </a:r>
            <a:r>
              <a:rPr kumimoji="1" lang="en-US" altLang="ko-KR" sz="1600" b="1" dirty="0">
                <a:solidFill>
                  <a:schemeClr val="tx1"/>
                </a:solidFill>
              </a:rPr>
              <a:t>(Binary Cross Entropy) 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829BCC-FA49-78C6-8A0B-A62A3318F237}"/>
                  </a:ext>
                </a:extLst>
              </p:cNvPr>
              <p:cNvSpPr txBox="1"/>
              <p:nvPr/>
            </p:nvSpPr>
            <p:spPr>
              <a:xfrm>
                <a:off x="435006" y="1535837"/>
                <a:ext cx="10617693" cy="873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l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1400" dirty="0"/>
                  <a:t>실제값</a:t>
                </a:r>
                <a:r>
                  <a:rPr kumimoji="1" lang="en-US" altLang="ko-KR" sz="1400" dirty="0"/>
                  <a:t>(0,1)</a:t>
                </a:r>
                <a:r>
                  <a:rPr kumimoji="1" lang="ko-KR" altLang="en-US" sz="1400" dirty="0"/>
                  <a:t>과 </a:t>
                </a:r>
                <a:r>
                  <a:rPr kumimoji="1" lang="ko-KR" altLang="en-US" sz="1400" dirty="0" err="1"/>
                  <a:t>예측값</a:t>
                </a:r>
                <a:r>
                  <a:rPr kumimoji="1" lang="en-US" altLang="ko-KR" sz="1400" dirty="0"/>
                  <a:t>(</a:t>
                </a:r>
                <a:r>
                  <a:rPr kumimoji="1" lang="ko-KR" altLang="en-US" sz="1400" dirty="0"/>
                  <a:t>확률</a:t>
                </a:r>
                <a:r>
                  <a:rPr kumimoji="1" lang="en-US" altLang="ko-KR" sz="1400" dirty="0"/>
                  <a:t>) </a:t>
                </a:r>
                <a:r>
                  <a:rPr kumimoji="1" lang="ko-KR" altLang="en-US" sz="1400" dirty="0"/>
                  <a:t>사이의 차이의 평균을 구하기 위한 방법 </a:t>
                </a:r>
                <a:endParaRPr kumimoji="1" lang="en-US" altLang="ko-KR" sz="1400" dirty="0"/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1400" dirty="0"/>
                  <a:t>y = -log</a:t>
                </a:r>
                <a:r>
                  <a:rPr kumimoji="1" lang="en-US" altLang="ko-KR" sz="1400" baseline="-25000" dirty="0"/>
                  <a:t>e</a:t>
                </a:r>
                <a:r>
                  <a:rPr kumimoji="1" lang="en-US" altLang="ko-KR" sz="1400" dirty="0"/>
                  <a:t>(x)</a:t>
                </a:r>
                <a:r>
                  <a:rPr kumimoji="1" lang="ko-KR" altLang="en-US" sz="1400" dirty="0"/>
                  <a:t>의 곡선을 사용하며</a:t>
                </a:r>
                <a:r>
                  <a:rPr kumimoji="1" lang="en-US" altLang="ko-KR" sz="1400" dirty="0"/>
                  <a:t>, y = 1</a:t>
                </a:r>
                <a:r>
                  <a:rPr kumimoji="1" lang="ko-KR" altLang="en-US" sz="1400" dirty="0"/>
                  <a:t>일 때는 </a:t>
                </a:r>
                <a:r>
                  <a:rPr kumimoji="1" lang="ko-KR" altLang="en-US" sz="1400" dirty="0" err="1"/>
                  <a:t>예측값</a:t>
                </a:r>
                <a:r>
                  <a:rPr kumimoji="1" lang="ko-KR" altLang="en-US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ko-KR" alt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1" lang="ko-KR" altLang="en-US" sz="1400" dirty="0"/>
                  <a:t>이 </a:t>
                </a:r>
                <a:r>
                  <a:rPr kumimoji="1" lang="en-US" altLang="ko-KR" sz="1400" dirty="0"/>
                  <a:t>1</a:t>
                </a:r>
                <a:r>
                  <a:rPr kumimoji="1" lang="ko-KR" altLang="en-US" sz="1400" dirty="0" err="1"/>
                  <a:t>에</a:t>
                </a:r>
                <a:r>
                  <a:rPr kumimoji="1" lang="ko-KR" altLang="en-US" sz="1400" dirty="0"/>
                  <a:t> 가까울 수록 오차가 감소</a:t>
                </a:r>
                <a:r>
                  <a:rPr kumimoji="1" lang="en-US" altLang="ko-KR" sz="1400" dirty="0"/>
                  <a:t>, </a:t>
                </a:r>
                <a:r>
                  <a:rPr kumimoji="1" lang="ko-KR" altLang="en-US" sz="1400" dirty="0"/>
                  <a:t>반대로 </a:t>
                </a:r>
                <a:r>
                  <a:rPr kumimoji="1" lang="en-US" altLang="ko-KR" sz="1400" dirty="0"/>
                  <a:t>y = 0</a:t>
                </a:r>
                <a:r>
                  <a:rPr kumimoji="1" lang="ko-KR" altLang="en-US" sz="1400" dirty="0"/>
                  <a:t>일 때는 </a:t>
                </a:r>
                <a:br>
                  <a:rPr kumimoji="1" lang="en-US" altLang="ko-KR" sz="1400" dirty="0"/>
                </a:br>
                <a:r>
                  <a:rPr kumimoji="1" lang="en-US" altLang="ko-KR" sz="1400" dirty="0"/>
                  <a:t>y,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ko-KR" alt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kumimoji="1" lang="en-US" altLang="ko-K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ko-KR" altLang="en-US" sz="1400" dirty="0"/>
                  <a:t>을 음수 반전시켜 </a:t>
                </a:r>
                <a:r>
                  <a:rPr kumimoji="1" lang="en-US" altLang="ko-KR" sz="1400" dirty="0"/>
                  <a:t>0</a:t>
                </a:r>
                <a:r>
                  <a:rPr kumimoji="1" lang="ko-KR" altLang="en-US" sz="1400" dirty="0" err="1"/>
                  <a:t>에</a:t>
                </a:r>
                <a:r>
                  <a:rPr kumimoji="1" lang="ko-KR" altLang="en-US" sz="1400" dirty="0"/>
                  <a:t> 가까울수록 오차가 감소함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829BCC-FA49-78C6-8A0B-A62A3318F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06" y="1535837"/>
                <a:ext cx="10617693" cy="873444"/>
              </a:xfrm>
              <a:prstGeom prst="rect">
                <a:avLst/>
              </a:prstGeom>
              <a:blipFill>
                <a:blip r:embed="rId2"/>
                <a:stretch>
                  <a:fillRect l="-119" b="-2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오각형[P] 7">
            <a:extLst>
              <a:ext uri="{FF2B5EF4-FFF2-40B4-BE49-F238E27FC236}">
                <a16:creationId xmlns:a16="http://schemas.microsoft.com/office/drawing/2014/main" id="{87C67F6D-7D65-20C7-C8ED-5308FBD6060E}"/>
              </a:ext>
            </a:extLst>
          </p:cNvPr>
          <p:cNvSpPr/>
          <p:nvPr/>
        </p:nvSpPr>
        <p:spPr>
          <a:xfrm>
            <a:off x="4465468" y="2867487"/>
            <a:ext cx="2991776" cy="387573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 dirty="0" err="1">
                <a:solidFill>
                  <a:schemeClr val="tx1"/>
                </a:solidFill>
              </a:rPr>
              <a:t>실제값과</a:t>
            </a:r>
            <a:r>
              <a:rPr kumimoji="1" lang="ko-KR" altLang="en-US" sz="1400" b="1" dirty="0">
                <a:solidFill>
                  <a:schemeClr val="tx1"/>
                </a:solidFill>
              </a:rPr>
              <a:t> </a:t>
            </a:r>
            <a:r>
              <a:rPr kumimoji="1" lang="ko-KR" altLang="en-US" sz="1400" b="1" dirty="0" err="1">
                <a:solidFill>
                  <a:schemeClr val="tx1"/>
                </a:solidFill>
              </a:rPr>
              <a:t>예측값</a:t>
            </a:r>
            <a:r>
              <a:rPr kumimoji="1" lang="en-US" altLang="ko-KR" sz="1400" b="1" dirty="0">
                <a:solidFill>
                  <a:schemeClr val="tx1"/>
                </a:solidFill>
              </a:rPr>
              <a:t>(</a:t>
            </a:r>
            <a:r>
              <a:rPr kumimoji="1" lang="ko-KR" altLang="en-US" sz="1400" b="1" dirty="0">
                <a:solidFill>
                  <a:schemeClr val="tx1"/>
                </a:solidFill>
              </a:rPr>
              <a:t>예시</a:t>
            </a:r>
            <a:r>
              <a:rPr kumimoji="1" lang="en-US" altLang="ko-KR" sz="1400" b="1" dirty="0">
                <a:solidFill>
                  <a:schemeClr val="tx1"/>
                </a:solidFill>
              </a:rPr>
              <a:t>)</a:t>
            </a:r>
            <a:endParaRPr kumimoji="1"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오각형[P] 8">
            <a:extLst>
              <a:ext uri="{FF2B5EF4-FFF2-40B4-BE49-F238E27FC236}">
                <a16:creationId xmlns:a16="http://schemas.microsoft.com/office/drawing/2014/main" id="{BF8DF292-28C9-E7E0-8861-CE336A49CFD6}"/>
              </a:ext>
            </a:extLst>
          </p:cNvPr>
          <p:cNvSpPr/>
          <p:nvPr/>
        </p:nvSpPr>
        <p:spPr>
          <a:xfrm>
            <a:off x="7618338" y="2867487"/>
            <a:ext cx="4277736" cy="387573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 dirty="0">
                <a:solidFill>
                  <a:schemeClr val="tx1"/>
                </a:solidFill>
              </a:rPr>
              <a:t>오차 계산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9A6C030-2068-609B-3515-801EE6516F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2848706"/>
                  </p:ext>
                </p:extLst>
              </p:nvPr>
            </p:nvGraphicFramePr>
            <p:xfrm>
              <a:off x="4465467" y="3428999"/>
              <a:ext cx="2753551" cy="28636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1539">
                      <a:extLst>
                        <a:ext uri="{9D8B030D-6E8A-4147-A177-3AD203B41FA5}">
                          <a16:colId xmlns:a16="http://schemas.microsoft.com/office/drawing/2014/main" val="4118055102"/>
                        </a:ext>
                      </a:extLst>
                    </a:gridCol>
                    <a:gridCol w="754602">
                      <a:extLst>
                        <a:ext uri="{9D8B030D-6E8A-4147-A177-3AD203B41FA5}">
                          <a16:colId xmlns:a16="http://schemas.microsoft.com/office/drawing/2014/main" val="1510149510"/>
                        </a:ext>
                      </a:extLst>
                    </a:gridCol>
                    <a:gridCol w="728705">
                      <a:extLst>
                        <a:ext uri="{9D8B030D-6E8A-4147-A177-3AD203B41FA5}">
                          <a16:colId xmlns:a16="http://schemas.microsoft.com/office/drawing/2014/main" val="81122138"/>
                        </a:ext>
                      </a:extLst>
                    </a:gridCol>
                    <a:gridCol w="728705">
                      <a:extLst>
                        <a:ext uri="{9D8B030D-6E8A-4147-A177-3AD203B41FA5}">
                          <a16:colId xmlns:a16="http://schemas.microsoft.com/office/drawing/2014/main" val="2086902437"/>
                        </a:ext>
                      </a:extLst>
                    </a:gridCol>
                  </a:tblGrid>
                  <a:tr h="234149"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#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ko-KR" altLang="en-US" sz="1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500" b="0" i="1" smtClean="0">
                                        <a:solidFill>
                                          <a:schemeClr val="tx1"/>
                                        </a:solidFill>
                                        <a:latin typeface="+mj-lt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0729211"/>
                      </a:ext>
                    </a:extLst>
                  </a:tr>
                  <a:tr h="234149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dirty="0">
                              <a:solidFill>
                                <a:schemeClr val="tx1"/>
                              </a:solidFill>
                            </a:rPr>
                            <a:t>1-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ko-KR" altLang="en-US" sz="15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5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oMath>
                          </a14:m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8150652"/>
                      </a:ext>
                    </a:extLst>
                  </a:tr>
                  <a:tr h="3176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0.9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88197004"/>
                      </a:ext>
                    </a:extLst>
                  </a:tr>
                  <a:tr h="3176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0.3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0.7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72524159"/>
                      </a:ext>
                    </a:extLst>
                  </a:tr>
                  <a:tr h="3176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9056655"/>
                      </a:ext>
                    </a:extLst>
                  </a:tr>
                  <a:tr h="3176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0.7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7097893"/>
                      </a:ext>
                    </a:extLst>
                  </a:tr>
                  <a:tr h="3176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0.3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0.7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871156"/>
                      </a:ext>
                    </a:extLst>
                  </a:tr>
                  <a:tr h="3176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0.7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0.3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5948474"/>
                      </a:ext>
                    </a:extLst>
                  </a:tr>
                  <a:tr h="3176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958357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9A6C030-2068-609B-3515-801EE6516F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2848706"/>
                  </p:ext>
                </p:extLst>
              </p:nvPr>
            </p:nvGraphicFramePr>
            <p:xfrm>
              <a:off x="4465467" y="3428999"/>
              <a:ext cx="2753551" cy="28636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1539">
                      <a:extLst>
                        <a:ext uri="{9D8B030D-6E8A-4147-A177-3AD203B41FA5}">
                          <a16:colId xmlns:a16="http://schemas.microsoft.com/office/drawing/2014/main" val="4118055102"/>
                        </a:ext>
                      </a:extLst>
                    </a:gridCol>
                    <a:gridCol w="754602">
                      <a:extLst>
                        <a:ext uri="{9D8B030D-6E8A-4147-A177-3AD203B41FA5}">
                          <a16:colId xmlns:a16="http://schemas.microsoft.com/office/drawing/2014/main" val="1510149510"/>
                        </a:ext>
                      </a:extLst>
                    </a:gridCol>
                    <a:gridCol w="728705">
                      <a:extLst>
                        <a:ext uri="{9D8B030D-6E8A-4147-A177-3AD203B41FA5}">
                          <a16:colId xmlns:a16="http://schemas.microsoft.com/office/drawing/2014/main" val="81122138"/>
                        </a:ext>
                      </a:extLst>
                    </a:gridCol>
                    <a:gridCol w="728705">
                      <a:extLst>
                        <a:ext uri="{9D8B030D-6E8A-4147-A177-3AD203B41FA5}">
                          <a16:colId xmlns:a16="http://schemas.microsoft.com/office/drawing/2014/main" val="2086902437"/>
                        </a:ext>
                      </a:extLst>
                    </a:gridCol>
                  </a:tblGrid>
                  <a:tr h="320040"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#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y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435" r="-870" b="-82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0729211"/>
                      </a:ext>
                    </a:extLst>
                  </a:tr>
                  <a:tr h="3200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586" t="-96154" r="-1724" b="-69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8150652"/>
                      </a:ext>
                    </a:extLst>
                  </a:tr>
                  <a:tr h="3176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0.9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88197004"/>
                      </a:ext>
                    </a:extLst>
                  </a:tr>
                  <a:tr h="3176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0.3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0.7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72524159"/>
                      </a:ext>
                    </a:extLst>
                  </a:tr>
                  <a:tr h="3176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0.4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0.6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9056655"/>
                      </a:ext>
                    </a:extLst>
                  </a:tr>
                  <a:tr h="3176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0.7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7097893"/>
                      </a:ext>
                    </a:extLst>
                  </a:tr>
                  <a:tr h="3176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0.3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0.7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871156"/>
                      </a:ext>
                    </a:extLst>
                  </a:tr>
                  <a:tr h="3176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0.7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0.3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5948474"/>
                      </a:ext>
                    </a:extLst>
                  </a:tr>
                  <a:tr h="3176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300" b="0" dirty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3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9583579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A63A125-B0EC-DB83-09CC-3AA8F932C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149256"/>
              </p:ext>
            </p:extLst>
          </p:nvPr>
        </p:nvGraphicFramePr>
        <p:xfrm>
          <a:off x="7618338" y="3431217"/>
          <a:ext cx="2753551" cy="3175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539">
                  <a:extLst>
                    <a:ext uri="{9D8B030D-6E8A-4147-A177-3AD203B41FA5}">
                      <a16:colId xmlns:a16="http://schemas.microsoft.com/office/drawing/2014/main" val="4118055102"/>
                    </a:ext>
                  </a:extLst>
                </a:gridCol>
                <a:gridCol w="1106006">
                  <a:extLst>
                    <a:ext uri="{9D8B030D-6E8A-4147-A177-3AD203B41FA5}">
                      <a16:colId xmlns:a16="http://schemas.microsoft.com/office/drawing/2014/main" val="1510149510"/>
                    </a:ext>
                  </a:extLst>
                </a:gridCol>
                <a:gridCol w="1106006">
                  <a:extLst>
                    <a:ext uri="{9D8B030D-6E8A-4147-A177-3AD203B41FA5}">
                      <a16:colId xmlns:a16="http://schemas.microsoft.com/office/drawing/2014/main" val="81122138"/>
                    </a:ext>
                  </a:extLst>
                </a:gridCol>
              </a:tblGrid>
              <a:tr h="6347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y=1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y=0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729211"/>
                  </a:ext>
                </a:extLst>
              </a:tr>
              <a:tr h="317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0.1054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197004"/>
                  </a:ext>
                </a:extLst>
              </a:tr>
              <a:tr h="317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0.3567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524159"/>
                  </a:ext>
                </a:extLst>
              </a:tr>
              <a:tr h="317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0.5108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056655"/>
                  </a:ext>
                </a:extLst>
              </a:tr>
              <a:tr h="317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0.3567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097893"/>
                  </a:ext>
                </a:extLst>
              </a:tr>
              <a:tr h="317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0.3567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1156"/>
                  </a:ext>
                </a:extLst>
              </a:tr>
              <a:tr h="317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1.2040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948474"/>
                  </a:ext>
                </a:extLst>
              </a:tr>
              <a:tr h="317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0.6931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835794"/>
                  </a:ext>
                </a:extLst>
              </a:tr>
              <a:tr h="3176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</a:rPr>
                        <a:t>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1.1552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</a:rPr>
                        <a:t>2.4282</a:t>
                      </a:r>
                      <a:endParaRPr lang="ko-KR" altLang="en-US"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254119"/>
                  </a:ext>
                </a:extLst>
              </a:tr>
            </a:tbl>
          </a:graphicData>
        </a:graphic>
      </p:graphicFrame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3FA0A536-7583-95BA-9C1E-26056DAD8190}"/>
              </a:ext>
            </a:extLst>
          </p:cNvPr>
          <p:cNvSpPr/>
          <p:nvPr/>
        </p:nvSpPr>
        <p:spPr>
          <a:xfrm>
            <a:off x="10532981" y="3540151"/>
            <a:ext cx="230820" cy="346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4E1CB76-7852-1BCA-8198-054E5677B500}"/>
                  </a:ext>
                </a:extLst>
              </p:cNvPr>
              <p:cNvSpPr txBox="1"/>
              <p:nvPr/>
            </p:nvSpPr>
            <p:spPr>
              <a:xfrm>
                <a:off x="10648391" y="3952892"/>
                <a:ext cx="1379288" cy="98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1400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kumimoji="1"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ko-KR" sz="1400" b="0" i="1" smtClean="0">
                              <a:latin typeface="Cambria Math" panose="02040503050406030204" pitchFamily="18" charset="0"/>
                            </a:rPr>
                            <m:t>(1.16</m:t>
                          </m:r>
                          <m:r>
                            <a:rPr kumimoji="1" lang="en-US" altLang="ko-KR" sz="1400" b="0" i="1" smtClean="0">
                              <a:latin typeface="Cambria Math" panose="02040503050406030204" pitchFamily="18" charset="0"/>
                            </a:rPr>
                            <m:t>+2.43</m:t>
                          </m:r>
                          <m:r>
                            <a:rPr kumimoji="1" lang="en-US" altLang="ko-K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ko-KR" sz="1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kumimoji="1" lang="en-US" altLang="ko-KR" sz="1400" dirty="0"/>
              </a:p>
              <a:p>
                <a:pPr algn="l">
                  <a:lnSpc>
                    <a:spcPct val="120000"/>
                  </a:lnSpc>
                </a:pPr>
                <a:endParaRPr kumimoji="1" lang="en-US" altLang="ko-KR" sz="1400" dirty="0"/>
              </a:p>
              <a:p>
                <a:pPr algn="l">
                  <a:lnSpc>
                    <a:spcPct val="120000"/>
                  </a:lnSpc>
                </a:pPr>
                <a:r>
                  <a:rPr kumimoji="1" lang="en-US" altLang="ko-KR" sz="1400" dirty="0"/>
                  <a:t> =</a:t>
                </a:r>
                <a:r>
                  <a:rPr kumimoji="1" lang="ko-KR" altLang="en-US" sz="1400" dirty="0"/>
                  <a:t> </a:t>
                </a:r>
                <a:r>
                  <a:rPr kumimoji="1" lang="en-US" altLang="ko-KR" sz="1400" dirty="0"/>
                  <a:t>0.512</a:t>
                </a:r>
                <a:endParaRPr kumimoji="1" lang="ko-KR" altLang="en-US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4E1CB76-7852-1BCA-8198-054E5677B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391" y="3952892"/>
                <a:ext cx="1379288" cy="983090"/>
              </a:xfrm>
              <a:prstGeom prst="rect">
                <a:avLst/>
              </a:prstGeom>
              <a:blipFill>
                <a:blip r:embed="rId4"/>
                <a:stretch>
                  <a:fillRect l="-3636" r="-909" b="-10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오각형[P] 17">
            <a:extLst>
              <a:ext uri="{FF2B5EF4-FFF2-40B4-BE49-F238E27FC236}">
                <a16:creationId xmlns:a16="http://schemas.microsoft.com/office/drawing/2014/main" id="{0058BCE0-552D-6EB2-766B-1DA21D7E65D1}"/>
              </a:ext>
            </a:extLst>
          </p:cNvPr>
          <p:cNvSpPr/>
          <p:nvPr/>
        </p:nvSpPr>
        <p:spPr>
          <a:xfrm>
            <a:off x="295926" y="2867487"/>
            <a:ext cx="4008448" cy="387573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>
                <a:solidFill>
                  <a:schemeClr val="tx1"/>
                </a:solidFill>
              </a:rPr>
              <a:t>Binary Cross Entropy </a:t>
            </a:r>
            <a:r>
              <a:rPr kumimoji="1" lang="ko-KR" altLang="en-US" sz="1400" b="1" dirty="0">
                <a:solidFill>
                  <a:schemeClr val="tx1"/>
                </a:solidFill>
              </a:rPr>
              <a:t>함수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F41F5E0-0705-6E36-E10B-4A6E17C07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432" y="3422307"/>
            <a:ext cx="3919582" cy="106116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80CEFA3-DDF1-EE87-690C-89BE4B789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809" y="4623841"/>
            <a:ext cx="2852691" cy="194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72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346499-49DC-D7D4-9B6E-272D46FA5A36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04. Binary Classification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50D977B-3FE9-000D-4816-BF5A4EE92125}"/>
              </a:ext>
            </a:extLst>
          </p:cNvPr>
          <p:cNvSpPr/>
          <p:nvPr/>
        </p:nvSpPr>
        <p:spPr>
          <a:xfrm>
            <a:off x="266330" y="887767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[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실습</a:t>
            </a:r>
            <a:r>
              <a:rPr kumimoji="1" lang="en-US" altLang="ko-KR" sz="1600" b="1" dirty="0">
                <a:solidFill>
                  <a:schemeClr val="tx1"/>
                </a:solidFill>
              </a:rPr>
              <a:t>1]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간단한 로지스틱 회귀모델 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63E6E3A-2A54-54A1-E370-67E7B627C3E6}"/>
              </a:ext>
            </a:extLst>
          </p:cNvPr>
          <p:cNvSpPr/>
          <p:nvPr/>
        </p:nvSpPr>
        <p:spPr>
          <a:xfrm>
            <a:off x="6954187" y="1552696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FE5FF15-2F42-F654-D595-619FAF5B13F3}"/>
              </a:ext>
            </a:extLst>
          </p:cNvPr>
          <p:cNvSpPr/>
          <p:nvPr/>
        </p:nvSpPr>
        <p:spPr>
          <a:xfrm>
            <a:off x="6964544" y="1971428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2114C7D-C70A-BB64-D460-0062EC530511}"/>
              </a:ext>
            </a:extLst>
          </p:cNvPr>
          <p:cNvSpPr/>
          <p:nvPr/>
        </p:nvSpPr>
        <p:spPr>
          <a:xfrm>
            <a:off x="6966023" y="2381282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BDF415D-0A3B-D5C4-D056-9262AF178257}"/>
              </a:ext>
            </a:extLst>
          </p:cNvPr>
          <p:cNvSpPr/>
          <p:nvPr/>
        </p:nvSpPr>
        <p:spPr>
          <a:xfrm>
            <a:off x="7843435" y="1927038"/>
            <a:ext cx="273725" cy="27372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6DA1B61-EDD2-3DD1-966E-54FD262235A6}"/>
              </a:ext>
            </a:extLst>
          </p:cNvPr>
          <p:cNvCxnSpPr>
            <a:stCxn id="5" idx="6"/>
            <a:endCxn id="7" idx="2"/>
          </p:cNvCxnSpPr>
          <p:nvPr/>
        </p:nvCxnSpPr>
        <p:spPr>
          <a:xfrm flipV="1">
            <a:off x="7150975" y="2063901"/>
            <a:ext cx="692460" cy="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DB2BC9C-2ADC-B2B2-024B-2E8FC7BDF1C4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7152454" y="2063901"/>
            <a:ext cx="690981" cy="410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23966A0-E80E-E06A-9AA8-D83DB9991C76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7140618" y="1645912"/>
            <a:ext cx="702817" cy="417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1D78EC0-DC54-F102-7541-48525CDB39EE}"/>
              </a:ext>
            </a:extLst>
          </p:cNvPr>
          <p:cNvCxnSpPr>
            <a:cxnSpLocks/>
          </p:cNvCxnSpPr>
          <p:nvPr/>
        </p:nvCxnSpPr>
        <p:spPr>
          <a:xfrm>
            <a:off x="8115681" y="2083544"/>
            <a:ext cx="5075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61B8AC-25A4-6FE3-659C-6C5ED8553309}"/>
              </a:ext>
            </a:extLst>
          </p:cNvPr>
          <p:cNvSpPr txBox="1"/>
          <p:nvPr/>
        </p:nvSpPr>
        <p:spPr>
          <a:xfrm>
            <a:off x="8481144" y="1721369"/>
            <a:ext cx="1305017" cy="58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400" i="1" dirty="0"/>
              <a:t>Survived? </a:t>
            </a:r>
          </a:p>
          <a:p>
            <a:pPr algn="ctr">
              <a:lnSpc>
                <a:spcPct val="120000"/>
              </a:lnSpc>
            </a:pPr>
            <a:r>
              <a:rPr kumimoji="1" lang="en-US" altLang="ko-KR" sz="1400" i="1" dirty="0"/>
              <a:t>0, 1</a:t>
            </a:r>
            <a:endParaRPr kumimoji="1" lang="ko-KR" altLang="en-US" sz="14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F7B39B-1201-E012-1F5D-4FE692735B53}"/>
              </a:ext>
            </a:extLst>
          </p:cNvPr>
          <p:cNvSpPr txBox="1"/>
          <p:nvPr/>
        </p:nvSpPr>
        <p:spPr>
          <a:xfrm>
            <a:off x="6545073" y="1455937"/>
            <a:ext cx="488272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200" dirty="0"/>
              <a:t>age</a:t>
            </a:r>
            <a:endParaRPr kumimoji="1"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2384D4-C278-07C4-2D2D-651CF422FC28}"/>
              </a:ext>
            </a:extLst>
          </p:cNvPr>
          <p:cNvSpPr txBox="1"/>
          <p:nvPr/>
        </p:nvSpPr>
        <p:spPr>
          <a:xfrm>
            <a:off x="6573185" y="1919058"/>
            <a:ext cx="488272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200" dirty="0"/>
              <a:t>sex</a:t>
            </a:r>
            <a:endParaRPr kumimoji="1"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EFFE90-4B0E-132B-9349-CA5AD275E143}"/>
              </a:ext>
            </a:extLst>
          </p:cNvPr>
          <p:cNvSpPr txBox="1"/>
          <p:nvPr/>
        </p:nvSpPr>
        <p:spPr>
          <a:xfrm>
            <a:off x="6555429" y="2318550"/>
            <a:ext cx="488272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200" dirty="0"/>
              <a:t>fare</a:t>
            </a:r>
            <a:endParaRPr kumimoji="1"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FF4D6E-0A66-B3CE-889C-91E7932C39D5}"/>
              </a:ext>
            </a:extLst>
          </p:cNvPr>
          <p:cNvSpPr txBox="1"/>
          <p:nvPr/>
        </p:nvSpPr>
        <p:spPr>
          <a:xfrm>
            <a:off x="435007" y="1535837"/>
            <a:ext cx="6590202" cy="110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Data : </a:t>
            </a:r>
            <a:r>
              <a:rPr kumimoji="1" lang="en-US" altLang="ko-KR" sz="1400" dirty="0" err="1"/>
              <a:t>titanic.csv</a:t>
            </a:r>
            <a:r>
              <a:rPr kumimoji="1" lang="en-US" altLang="ko-KR" sz="1400" dirty="0"/>
              <a:t> (target = Survived, features = Age, Sex, Fare) 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Model : Linear 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Loss FN : BCE(Binary Cross Entropy)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Optimizer : Adam (Learning rate = 0.01) 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C650CC0-7F04-8617-0801-9551234ED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47" y="3253110"/>
            <a:ext cx="5972204" cy="115028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D6CA907-6529-A540-68B1-2D1461F7DF76}"/>
              </a:ext>
            </a:extLst>
          </p:cNvPr>
          <p:cNvSpPr txBox="1"/>
          <p:nvPr/>
        </p:nvSpPr>
        <p:spPr>
          <a:xfrm>
            <a:off x="6986737" y="3159880"/>
            <a:ext cx="954337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※ </a:t>
            </a:r>
            <a:r>
              <a:rPr kumimoji="1" lang="ko-KR" altLang="en-US" sz="1400" dirty="0"/>
              <a:t>주의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F8C2B6A-5EE2-7C06-7A99-9D8647750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59" y="4490965"/>
            <a:ext cx="5964192" cy="2146645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D15759A-45BA-95AA-17A3-A54BB9ECCA58}"/>
              </a:ext>
            </a:extLst>
          </p:cNvPr>
          <p:cNvCxnSpPr>
            <a:cxnSpLocks/>
          </p:cNvCxnSpPr>
          <p:nvPr/>
        </p:nvCxnSpPr>
        <p:spPr>
          <a:xfrm>
            <a:off x="5078027" y="3622088"/>
            <a:ext cx="20019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9305A7C-E275-45BC-FFDE-D3C9AC54C194}"/>
              </a:ext>
            </a:extLst>
          </p:cNvPr>
          <p:cNvSpPr txBox="1"/>
          <p:nvPr/>
        </p:nvSpPr>
        <p:spPr>
          <a:xfrm>
            <a:off x="7132491" y="3459415"/>
            <a:ext cx="3917740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400" i="1" dirty="0">
                <a:solidFill>
                  <a:schemeClr val="accent1"/>
                </a:solidFill>
              </a:rPr>
              <a:t>모델의 최종 </a:t>
            </a:r>
            <a:r>
              <a:rPr kumimoji="1" lang="ko-KR" altLang="en-US" sz="1400" i="1" dirty="0" err="1">
                <a:solidFill>
                  <a:schemeClr val="accent1"/>
                </a:solidFill>
              </a:rPr>
              <a:t>출력값은</a:t>
            </a:r>
            <a:r>
              <a:rPr kumimoji="1" lang="ko-KR" altLang="en-US" sz="1400" i="1" dirty="0">
                <a:solidFill>
                  <a:schemeClr val="accent1"/>
                </a:solidFill>
              </a:rPr>
              <a:t> </a:t>
            </a:r>
            <a:r>
              <a:rPr kumimoji="1" lang="en-US" altLang="ko-KR" sz="1400" i="1" dirty="0">
                <a:solidFill>
                  <a:schemeClr val="accent1"/>
                </a:solidFill>
              </a:rPr>
              <a:t>0~1</a:t>
            </a:r>
            <a:r>
              <a:rPr kumimoji="1" lang="ko-KR" altLang="en-US" sz="1400" i="1" dirty="0">
                <a:solidFill>
                  <a:schemeClr val="accent1"/>
                </a:solidFill>
              </a:rPr>
              <a:t>사이의 </a:t>
            </a:r>
            <a:r>
              <a:rPr kumimoji="1" lang="ko-KR" altLang="en-US" sz="1400" i="1" dirty="0" err="1">
                <a:solidFill>
                  <a:schemeClr val="accent1"/>
                </a:solidFill>
              </a:rPr>
              <a:t>확률값이다</a:t>
            </a:r>
            <a:r>
              <a:rPr kumimoji="1" lang="en-US" altLang="ko-KR" sz="1400" i="1" dirty="0">
                <a:solidFill>
                  <a:schemeClr val="accent1"/>
                </a:solidFill>
              </a:rPr>
              <a:t>. </a:t>
            </a:r>
            <a:endParaRPr kumimoji="1" lang="ko-KR" altLang="en-US" sz="1400" i="1" dirty="0">
              <a:solidFill>
                <a:schemeClr val="accent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D308A21-C2FA-7F89-0467-81390EA6DA72}"/>
              </a:ext>
            </a:extLst>
          </p:cNvPr>
          <p:cNvCxnSpPr/>
          <p:nvPr/>
        </p:nvCxnSpPr>
        <p:spPr>
          <a:xfrm>
            <a:off x="4638594" y="4031941"/>
            <a:ext cx="24413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2FD5FE4-CE52-4FBE-6453-266B372A5023}"/>
              </a:ext>
            </a:extLst>
          </p:cNvPr>
          <p:cNvSpPr txBox="1"/>
          <p:nvPr/>
        </p:nvSpPr>
        <p:spPr>
          <a:xfrm>
            <a:off x="7132490" y="3869268"/>
            <a:ext cx="4479501" cy="84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>
                <a:solidFill>
                  <a:schemeClr val="accent1"/>
                </a:solidFill>
              </a:rPr>
              <a:t>acc, recall, f1 score </a:t>
            </a:r>
            <a:r>
              <a:rPr kumimoji="1" lang="ko-KR" altLang="en-US" sz="1400" i="1" dirty="0">
                <a:solidFill>
                  <a:schemeClr val="accent1"/>
                </a:solidFill>
              </a:rPr>
              <a:t>등 평가지표를 얻기 위해서는</a:t>
            </a:r>
            <a:endParaRPr kumimoji="1" lang="en-US" altLang="ko-KR" sz="1400" i="1" dirty="0">
              <a:solidFill>
                <a:schemeClr val="accent1"/>
              </a:solidFill>
            </a:endParaRPr>
          </a:p>
          <a:p>
            <a:pPr algn="l">
              <a:lnSpc>
                <a:spcPct val="120000"/>
              </a:lnSpc>
            </a:pPr>
            <a:r>
              <a:rPr kumimoji="1" lang="ko-KR" altLang="en-US" sz="1400" i="1" dirty="0">
                <a:solidFill>
                  <a:schemeClr val="accent1"/>
                </a:solidFill>
              </a:rPr>
              <a:t>먼저 </a:t>
            </a:r>
            <a:r>
              <a:rPr kumimoji="1" lang="ko-KR" altLang="en-US" sz="1400" i="1" dirty="0" err="1">
                <a:solidFill>
                  <a:schemeClr val="accent1"/>
                </a:solidFill>
              </a:rPr>
              <a:t>확률값을</a:t>
            </a:r>
            <a:r>
              <a:rPr kumimoji="1" lang="ko-KR" altLang="en-US" sz="1400" i="1" dirty="0">
                <a:solidFill>
                  <a:schemeClr val="accent1"/>
                </a:solidFill>
              </a:rPr>
              <a:t> </a:t>
            </a:r>
            <a:r>
              <a:rPr kumimoji="1" lang="en-US" altLang="ko-KR" sz="1400" i="1" dirty="0">
                <a:solidFill>
                  <a:schemeClr val="accent1"/>
                </a:solidFill>
              </a:rPr>
              <a:t>0 </a:t>
            </a:r>
            <a:r>
              <a:rPr kumimoji="1" lang="ko-KR" altLang="en-US" sz="1400" i="1" dirty="0">
                <a:solidFill>
                  <a:schemeClr val="accent1"/>
                </a:solidFill>
              </a:rPr>
              <a:t>또는 </a:t>
            </a:r>
            <a:r>
              <a:rPr kumimoji="1" lang="en-US" altLang="ko-KR" sz="1400" i="1" dirty="0">
                <a:solidFill>
                  <a:schemeClr val="accent1"/>
                </a:solidFill>
              </a:rPr>
              <a:t>1</a:t>
            </a:r>
            <a:r>
              <a:rPr kumimoji="1" lang="ko-KR" altLang="en-US" sz="1400" i="1" dirty="0">
                <a:solidFill>
                  <a:schemeClr val="accent1"/>
                </a:solidFill>
              </a:rPr>
              <a:t>로 변환해야 한다</a:t>
            </a:r>
            <a:r>
              <a:rPr kumimoji="1" lang="en-US" altLang="ko-KR" sz="1400" i="1" dirty="0">
                <a:solidFill>
                  <a:schemeClr val="accent1"/>
                </a:solidFill>
              </a:rPr>
              <a:t>. </a:t>
            </a:r>
          </a:p>
          <a:p>
            <a:pPr algn="l">
              <a:lnSpc>
                <a:spcPct val="120000"/>
              </a:lnSpc>
            </a:pPr>
            <a:r>
              <a:rPr kumimoji="1" lang="en-US" altLang="ko-KR" sz="1400" i="1" dirty="0">
                <a:solidFill>
                  <a:schemeClr val="accent1"/>
                </a:solidFill>
              </a:rPr>
              <a:t>(</a:t>
            </a:r>
            <a:r>
              <a:rPr kumimoji="1" lang="ko-KR" altLang="en-US" sz="1400" i="1" dirty="0">
                <a:solidFill>
                  <a:schemeClr val="accent1"/>
                </a:solidFill>
              </a:rPr>
              <a:t>여기서는 </a:t>
            </a:r>
            <a:r>
              <a:rPr kumimoji="1" lang="en-US" altLang="ko-KR" sz="1400" i="1" dirty="0">
                <a:solidFill>
                  <a:schemeClr val="accent1"/>
                </a:solidFill>
              </a:rPr>
              <a:t>0.5</a:t>
            </a:r>
            <a:r>
              <a:rPr kumimoji="1" lang="ko-KR" altLang="en-US" sz="1400" i="1" dirty="0" err="1">
                <a:solidFill>
                  <a:schemeClr val="accent1"/>
                </a:solidFill>
              </a:rPr>
              <a:t>를</a:t>
            </a:r>
            <a:r>
              <a:rPr kumimoji="1" lang="ko-KR" altLang="en-US" sz="1400" i="1" dirty="0">
                <a:solidFill>
                  <a:schemeClr val="accent1"/>
                </a:solidFill>
              </a:rPr>
              <a:t> 기준으로 변환</a:t>
            </a:r>
            <a:r>
              <a:rPr kumimoji="1" lang="en-US" altLang="ko-KR" sz="1400" i="1" dirty="0">
                <a:solidFill>
                  <a:schemeClr val="accent1"/>
                </a:solidFill>
              </a:rPr>
              <a:t>) </a:t>
            </a:r>
            <a:endParaRPr kumimoji="1" lang="ko-KR" altLang="en-US" sz="1400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65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ABD62A-7F5A-84BC-5DAF-5DB7A469679E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04. Binary Classification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196E80-6514-68BD-4E23-7B0866036B20}"/>
              </a:ext>
            </a:extLst>
          </p:cNvPr>
          <p:cNvSpPr/>
          <p:nvPr/>
        </p:nvSpPr>
        <p:spPr>
          <a:xfrm>
            <a:off x="266330" y="887767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[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실습</a:t>
            </a:r>
            <a:r>
              <a:rPr kumimoji="1" lang="en-US" altLang="ko-KR" sz="1600" b="1" dirty="0">
                <a:solidFill>
                  <a:schemeClr val="tx1"/>
                </a:solidFill>
              </a:rPr>
              <a:t>2]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로지스틱 회귀모델에 </a:t>
            </a:r>
            <a:r>
              <a:rPr kumimoji="1" lang="ko-KR" altLang="en-US" sz="1600" b="1" dirty="0" err="1">
                <a:solidFill>
                  <a:schemeClr val="tx1"/>
                </a:solidFill>
              </a:rPr>
              <a:t>은닉층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 추가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DD55B8-6D1B-AE35-D01B-C1F710B100F5}"/>
              </a:ext>
            </a:extLst>
          </p:cNvPr>
          <p:cNvSpPr txBox="1"/>
          <p:nvPr/>
        </p:nvSpPr>
        <p:spPr>
          <a:xfrm>
            <a:off x="435007" y="1535837"/>
            <a:ext cx="10662080" cy="110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Data : </a:t>
            </a:r>
            <a:r>
              <a:rPr kumimoji="1" lang="en-US" altLang="ko-KR" sz="1400" dirty="0" err="1"/>
              <a:t>titanic.csv</a:t>
            </a:r>
            <a:r>
              <a:rPr kumimoji="1" lang="en-US" altLang="ko-KR" sz="1400" dirty="0"/>
              <a:t> </a:t>
            </a:r>
            <a:br>
              <a:rPr kumimoji="1" lang="en-US" altLang="ko-KR" sz="1400" dirty="0"/>
            </a:br>
            <a:r>
              <a:rPr kumimoji="1" lang="en-US" altLang="ko-KR" sz="1400" dirty="0"/>
              <a:t>- target = Survived </a:t>
            </a:r>
            <a:br>
              <a:rPr kumimoji="1" lang="en-US" altLang="ko-KR" sz="1400" dirty="0"/>
            </a:br>
            <a:r>
              <a:rPr kumimoji="1" lang="en-US" altLang="ko-KR" sz="1400" dirty="0"/>
              <a:t>- features = </a:t>
            </a:r>
            <a:r>
              <a:rPr kumimoji="1" lang="en-US" altLang="ko-KR" sz="1400" dirty="0" err="1"/>
              <a:t>Pclass</a:t>
            </a:r>
            <a:r>
              <a:rPr kumimoji="1" lang="en-US" altLang="ko-KR" sz="1400" dirty="0"/>
              <a:t>, Age, Sex, Fare, Embarked </a:t>
            </a:r>
            <a:r>
              <a:rPr kumimoji="1" lang="en-US" altLang="ko-KR" sz="1200" dirty="0"/>
              <a:t>(*</a:t>
            </a:r>
            <a:r>
              <a:rPr kumimoji="1" lang="ko-KR" altLang="en-US" sz="1200" dirty="0"/>
              <a:t>일련번호</a:t>
            </a:r>
            <a:r>
              <a:rPr kumimoji="1" lang="en-US" altLang="ko-KR" sz="1200" dirty="0"/>
              <a:t>(</a:t>
            </a:r>
            <a:r>
              <a:rPr kumimoji="1" lang="en-US" altLang="ko-KR" sz="1200" dirty="0" err="1"/>
              <a:t>PassengerId</a:t>
            </a:r>
            <a:r>
              <a:rPr kumimoji="1" lang="en-US" altLang="ko-KR" sz="1200" dirty="0"/>
              <a:t>)</a:t>
            </a:r>
            <a:r>
              <a:rPr kumimoji="1" lang="ko-KR" altLang="en-US" sz="1200" dirty="0"/>
              <a:t>와 성명</a:t>
            </a:r>
            <a:r>
              <a:rPr kumimoji="1" lang="en-US" altLang="ko-KR" sz="1200" dirty="0"/>
              <a:t>(Name)</a:t>
            </a:r>
            <a:r>
              <a:rPr kumimoji="1" lang="ko-KR" altLang="en-US" sz="1200" dirty="0"/>
              <a:t>은 분석에 무의미하다고 판단하여 제외</a:t>
            </a:r>
            <a:r>
              <a:rPr kumimoji="1" lang="en-US" altLang="ko-KR" sz="1200" dirty="0"/>
              <a:t>) 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Model, Loss FN, Optimizer : </a:t>
            </a:r>
            <a:r>
              <a:rPr kumimoji="1" lang="ko-KR" altLang="en-US" sz="1400" dirty="0"/>
              <a:t>실습</a:t>
            </a:r>
            <a:r>
              <a:rPr kumimoji="1" lang="en-US" altLang="ko-KR" sz="1400" dirty="0"/>
              <a:t>1</a:t>
            </a:r>
            <a:r>
              <a:rPr kumimoji="1" lang="ko-KR" altLang="en-US" sz="1400" dirty="0"/>
              <a:t>과 동일 </a:t>
            </a:r>
            <a:endParaRPr kumimoji="1" lang="en-US" altLang="ko-KR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142C4-5FDE-3E7C-C053-1FDF6ED31F9B}"/>
              </a:ext>
            </a:extLst>
          </p:cNvPr>
          <p:cNvSpPr txBox="1"/>
          <p:nvPr/>
        </p:nvSpPr>
        <p:spPr>
          <a:xfrm>
            <a:off x="7208668" y="3014880"/>
            <a:ext cx="2539013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sz="1400" b="1" u="sng" dirty="0"/>
              <a:t>실습</a:t>
            </a:r>
            <a:r>
              <a:rPr kumimoji="1" lang="en-US" altLang="ko-KR" sz="1400" b="1" u="sng" dirty="0"/>
              <a:t>2 </a:t>
            </a:r>
            <a:r>
              <a:rPr kumimoji="1" lang="ko-KR" altLang="en-US" sz="1400" b="1" u="sng" dirty="0"/>
              <a:t>모델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DB2942-E7BD-2EA5-9911-54053286CCED}"/>
              </a:ext>
            </a:extLst>
          </p:cNvPr>
          <p:cNvSpPr txBox="1"/>
          <p:nvPr/>
        </p:nvSpPr>
        <p:spPr>
          <a:xfrm>
            <a:off x="1714869" y="3055399"/>
            <a:ext cx="2539013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sz="1400" b="1" u="sng" dirty="0"/>
              <a:t>실습</a:t>
            </a:r>
            <a:r>
              <a:rPr kumimoji="1" lang="en-US" altLang="ko-KR" sz="1400" b="1" u="sng" dirty="0"/>
              <a:t>1 </a:t>
            </a:r>
            <a:r>
              <a:rPr kumimoji="1" lang="ko-KR" altLang="en-US" sz="1400" b="1" u="sng" dirty="0"/>
              <a:t>모델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8DAC46B-8460-866A-9974-DB13146FD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53" y="3421751"/>
            <a:ext cx="4381500" cy="977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4F4EF60-CB9C-72F3-789B-CF5B431B1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53" y="4808494"/>
            <a:ext cx="4381500" cy="1386080"/>
          </a:xfrm>
          <a:prstGeom prst="rect">
            <a:avLst/>
          </a:prstGeom>
        </p:spPr>
      </p:pic>
      <p:sp>
        <p:nvSpPr>
          <p:cNvPr id="9" name="오른쪽 화살표[R] 8">
            <a:extLst>
              <a:ext uri="{FF2B5EF4-FFF2-40B4-BE49-F238E27FC236}">
                <a16:creationId xmlns:a16="http://schemas.microsoft.com/office/drawing/2014/main" id="{B09DB42B-DFBD-9C39-9484-AD7537F1F65D}"/>
              </a:ext>
            </a:extLst>
          </p:cNvPr>
          <p:cNvSpPr/>
          <p:nvPr/>
        </p:nvSpPr>
        <p:spPr>
          <a:xfrm rot="5400000">
            <a:off x="2882281" y="4475346"/>
            <a:ext cx="204187" cy="2574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9AC66A6-B9DA-BC20-54A7-3B204048C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08521"/>
            <a:ext cx="5223851" cy="1297645"/>
          </a:xfrm>
          <a:prstGeom prst="rect">
            <a:avLst/>
          </a:prstGeom>
        </p:spPr>
      </p:pic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1956B793-F498-58C1-C250-B1BEF110EE13}"/>
              </a:ext>
            </a:extLst>
          </p:cNvPr>
          <p:cNvSpPr/>
          <p:nvPr/>
        </p:nvSpPr>
        <p:spPr>
          <a:xfrm rot="5400000">
            <a:off x="8504807" y="4579153"/>
            <a:ext cx="204187" cy="2574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20D13D3-30E5-13D8-7435-ABEE36948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817534"/>
            <a:ext cx="4535565" cy="137704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36A3374-05B1-3401-0259-10A6CD228B22}"/>
              </a:ext>
            </a:extLst>
          </p:cNvPr>
          <p:cNvSpPr/>
          <p:nvPr/>
        </p:nvSpPr>
        <p:spPr>
          <a:xfrm>
            <a:off x="6622742" y="3810126"/>
            <a:ext cx="1731145" cy="42452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10F6FF-B0FD-AF68-2DDA-90F343A2DF4D}"/>
              </a:ext>
            </a:extLst>
          </p:cNvPr>
          <p:cNvSpPr txBox="1"/>
          <p:nvPr/>
        </p:nvSpPr>
        <p:spPr>
          <a:xfrm>
            <a:off x="8363782" y="3902973"/>
            <a:ext cx="2254928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300" b="1" i="1" dirty="0">
                <a:solidFill>
                  <a:srgbClr val="FF0000"/>
                </a:solidFill>
              </a:rPr>
              <a:t>은닉층과 활성화함수 추가</a:t>
            </a:r>
          </a:p>
        </p:txBody>
      </p:sp>
    </p:spTree>
    <p:extLst>
      <p:ext uri="{BB962C8B-B14F-4D97-AF65-F5344CB8AC3E}">
        <p14:creationId xmlns:p14="http://schemas.microsoft.com/office/powerpoint/2010/main" val="2181410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F64D673F-8AFC-793E-5C4B-E7F710905417}"/>
              </a:ext>
            </a:extLst>
          </p:cNvPr>
          <p:cNvSpPr/>
          <p:nvPr/>
        </p:nvSpPr>
        <p:spPr>
          <a:xfrm>
            <a:off x="1818449" y="3787179"/>
            <a:ext cx="507505" cy="24112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E590E0-0E8F-F363-7A89-76E9829B378C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04. Binary Classification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1428224-2DA5-AE26-A9E6-360342AE30B2}"/>
              </a:ext>
            </a:extLst>
          </p:cNvPr>
          <p:cNvSpPr/>
          <p:nvPr/>
        </p:nvSpPr>
        <p:spPr>
          <a:xfrm>
            <a:off x="266330" y="887767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[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실습</a:t>
            </a:r>
            <a:r>
              <a:rPr kumimoji="1" lang="en-US" altLang="ko-KR" sz="1600" b="1" dirty="0">
                <a:solidFill>
                  <a:schemeClr val="tx1"/>
                </a:solidFill>
              </a:rPr>
              <a:t>3]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직원 이직여부 예측모델 개발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0509C-FDD2-5866-BF9A-FB2322E9CFC2}"/>
              </a:ext>
            </a:extLst>
          </p:cNvPr>
          <p:cNvSpPr txBox="1"/>
          <p:nvPr/>
        </p:nvSpPr>
        <p:spPr>
          <a:xfrm>
            <a:off x="435006" y="1535837"/>
            <a:ext cx="9206143" cy="110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Data : </a:t>
            </a:r>
            <a:r>
              <a:rPr kumimoji="1" lang="en-US" altLang="ko-KR" sz="1400" dirty="0" err="1"/>
              <a:t>attri.csv</a:t>
            </a:r>
            <a:r>
              <a:rPr kumimoji="1" lang="en-US" altLang="ko-KR" sz="1400" dirty="0"/>
              <a:t> (target = Attrition(</a:t>
            </a:r>
            <a:r>
              <a:rPr kumimoji="1" lang="ko-KR" altLang="en-US" sz="1400" dirty="0"/>
              <a:t>이직여부 </a:t>
            </a:r>
            <a:r>
              <a:rPr kumimoji="1" lang="en-US" altLang="ko-KR" sz="1400" dirty="0"/>
              <a:t>0,1) / features = Age, Department, </a:t>
            </a:r>
            <a:r>
              <a:rPr kumimoji="1" lang="en-US" altLang="ko-KR" sz="1400" dirty="0" err="1"/>
              <a:t>JobSatisfaction</a:t>
            </a:r>
            <a:r>
              <a:rPr kumimoji="1" lang="en-US" altLang="ko-KR" sz="1400" dirty="0"/>
              <a:t> </a:t>
            </a:r>
            <a:r>
              <a:rPr kumimoji="1" lang="ko-KR" altLang="en-US" sz="1400" dirty="0"/>
              <a:t>등 </a:t>
            </a:r>
            <a:r>
              <a:rPr kumimoji="1" lang="en-US" altLang="ko-KR" sz="1400" dirty="0"/>
              <a:t>18</a:t>
            </a:r>
            <a:r>
              <a:rPr kumimoji="1" lang="ko-KR" altLang="en-US" sz="1400" dirty="0"/>
              <a:t>개</a:t>
            </a:r>
            <a:r>
              <a:rPr kumimoji="1" lang="en-US" altLang="ko-KR" sz="1400" dirty="0"/>
              <a:t>)</a:t>
            </a:r>
            <a:r>
              <a:rPr kumimoji="1" lang="ko-KR" altLang="en-US" sz="1400" dirty="0"/>
              <a:t> </a:t>
            </a:r>
            <a:endParaRPr kumimoji="1" lang="en-US" altLang="ko-KR" sz="1400" dirty="0"/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Model : Linear 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Loss FN : BCE(Binary Cross Entropy)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Optimizer : Adam (Learning rate = 0.01)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31A24F-DB9D-C029-909D-8A8AF79F6EC9}"/>
              </a:ext>
            </a:extLst>
          </p:cNvPr>
          <p:cNvSpPr txBox="1"/>
          <p:nvPr/>
        </p:nvSpPr>
        <p:spPr>
          <a:xfrm>
            <a:off x="1250272" y="2870800"/>
            <a:ext cx="2539013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sz="1400" b="1" u="sng" dirty="0"/>
              <a:t>신경망 구성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C53683B-408B-78D8-34A2-C0793E6C5360}"/>
              </a:ext>
            </a:extLst>
          </p:cNvPr>
          <p:cNvSpPr/>
          <p:nvPr/>
        </p:nvSpPr>
        <p:spPr>
          <a:xfrm>
            <a:off x="1023903" y="3761345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3A1A60F-A4E0-9845-0E80-1BE7A4044D04}"/>
              </a:ext>
            </a:extLst>
          </p:cNvPr>
          <p:cNvSpPr/>
          <p:nvPr/>
        </p:nvSpPr>
        <p:spPr>
          <a:xfrm>
            <a:off x="1034260" y="4180077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8E1C0FF-C3EE-E78E-C511-209C0140B058}"/>
              </a:ext>
            </a:extLst>
          </p:cNvPr>
          <p:cNvSpPr/>
          <p:nvPr/>
        </p:nvSpPr>
        <p:spPr>
          <a:xfrm>
            <a:off x="1035739" y="4589931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B97FBDD-A455-C33B-DD1B-AD63277896A9}"/>
              </a:ext>
            </a:extLst>
          </p:cNvPr>
          <p:cNvSpPr/>
          <p:nvPr/>
        </p:nvSpPr>
        <p:spPr>
          <a:xfrm>
            <a:off x="1922029" y="3904867"/>
            <a:ext cx="273725" cy="27372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476F265-2125-E374-AD0B-355324471B49}"/>
              </a:ext>
            </a:extLst>
          </p:cNvPr>
          <p:cNvSpPr/>
          <p:nvPr/>
        </p:nvSpPr>
        <p:spPr>
          <a:xfrm>
            <a:off x="1023903" y="4996992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B81AD52-2DE7-F7A1-BFBD-6237A06CFA77}"/>
              </a:ext>
            </a:extLst>
          </p:cNvPr>
          <p:cNvSpPr/>
          <p:nvPr/>
        </p:nvSpPr>
        <p:spPr>
          <a:xfrm>
            <a:off x="1035739" y="6012014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58E173-A078-6240-E2DD-7BEBD050CDAC}"/>
              </a:ext>
            </a:extLst>
          </p:cNvPr>
          <p:cNvSpPr txBox="1"/>
          <p:nvPr/>
        </p:nvSpPr>
        <p:spPr>
          <a:xfrm>
            <a:off x="1015025" y="5201188"/>
            <a:ext cx="2737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400" b="1" dirty="0"/>
              <a:t>.</a:t>
            </a:r>
          </a:p>
          <a:p>
            <a:pPr algn="l"/>
            <a:r>
              <a:rPr kumimoji="1" lang="en-US" altLang="ko-KR" sz="1400" b="1" dirty="0"/>
              <a:t>.</a:t>
            </a:r>
          </a:p>
          <a:p>
            <a:pPr algn="l"/>
            <a:r>
              <a:rPr kumimoji="1" lang="en-US" altLang="ko-KR" sz="1400" b="1" dirty="0"/>
              <a:t>.</a:t>
            </a:r>
            <a:endParaRPr kumimoji="1" lang="ko-KR" altLang="en-US" sz="1400" b="1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0E9E249-568E-0294-C7F8-B1921497F188}"/>
              </a:ext>
            </a:extLst>
          </p:cNvPr>
          <p:cNvSpPr/>
          <p:nvPr/>
        </p:nvSpPr>
        <p:spPr>
          <a:xfrm>
            <a:off x="1922029" y="4408679"/>
            <a:ext cx="273725" cy="27372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3E034D1-193E-345E-6759-F4AFF3AC9BF7}"/>
              </a:ext>
            </a:extLst>
          </p:cNvPr>
          <p:cNvSpPr/>
          <p:nvPr/>
        </p:nvSpPr>
        <p:spPr>
          <a:xfrm>
            <a:off x="1922028" y="4866957"/>
            <a:ext cx="273725" cy="27372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7376463-6167-E3E5-0EE1-F3D459F67B98}"/>
              </a:ext>
            </a:extLst>
          </p:cNvPr>
          <p:cNvSpPr/>
          <p:nvPr/>
        </p:nvSpPr>
        <p:spPr>
          <a:xfrm>
            <a:off x="1922027" y="5759509"/>
            <a:ext cx="273725" cy="27372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2C6132-2A80-7F00-9D34-7056A6543B15}"/>
              </a:ext>
            </a:extLst>
          </p:cNvPr>
          <p:cNvSpPr txBox="1"/>
          <p:nvPr/>
        </p:nvSpPr>
        <p:spPr>
          <a:xfrm>
            <a:off x="1944218" y="5147869"/>
            <a:ext cx="273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400" b="1" dirty="0"/>
              <a:t>.</a:t>
            </a:r>
          </a:p>
          <a:p>
            <a:pPr algn="l"/>
            <a:r>
              <a:rPr kumimoji="1" lang="en-US" altLang="ko-KR" sz="1400" b="1" dirty="0"/>
              <a:t>.</a:t>
            </a:r>
            <a:endParaRPr kumimoji="1" lang="ko-KR" altLang="en-US" sz="1400" b="1" dirty="0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96AEED85-A40A-920B-0F11-C1C390E32E17}"/>
              </a:ext>
            </a:extLst>
          </p:cNvPr>
          <p:cNvSpPr/>
          <p:nvPr/>
        </p:nvSpPr>
        <p:spPr>
          <a:xfrm>
            <a:off x="2778717" y="3791359"/>
            <a:ext cx="507505" cy="24112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F563217-69EA-A84E-ACCF-477E092483CA}"/>
              </a:ext>
            </a:extLst>
          </p:cNvPr>
          <p:cNvSpPr/>
          <p:nvPr/>
        </p:nvSpPr>
        <p:spPr>
          <a:xfrm>
            <a:off x="2882297" y="3909047"/>
            <a:ext cx="273725" cy="27372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A89E95A-363D-4199-E88F-075D22EE6F07}"/>
              </a:ext>
            </a:extLst>
          </p:cNvPr>
          <p:cNvSpPr/>
          <p:nvPr/>
        </p:nvSpPr>
        <p:spPr>
          <a:xfrm>
            <a:off x="2882297" y="4412859"/>
            <a:ext cx="273725" cy="27372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60DC5E0-9DBD-5746-E0DA-54BE367CBA49}"/>
              </a:ext>
            </a:extLst>
          </p:cNvPr>
          <p:cNvSpPr/>
          <p:nvPr/>
        </p:nvSpPr>
        <p:spPr>
          <a:xfrm>
            <a:off x="2882296" y="4871137"/>
            <a:ext cx="273725" cy="27372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162C9F0-0A60-F683-3EBD-C4D865C99F92}"/>
              </a:ext>
            </a:extLst>
          </p:cNvPr>
          <p:cNvSpPr/>
          <p:nvPr/>
        </p:nvSpPr>
        <p:spPr>
          <a:xfrm>
            <a:off x="2882295" y="5763689"/>
            <a:ext cx="273725" cy="27372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49E2B3-69F2-381E-D374-B278FD61B20E}"/>
              </a:ext>
            </a:extLst>
          </p:cNvPr>
          <p:cNvSpPr txBox="1"/>
          <p:nvPr/>
        </p:nvSpPr>
        <p:spPr>
          <a:xfrm>
            <a:off x="2904486" y="5152049"/>
            <a:ext cx="273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400" b="1" dirty="0"/>
              <a:t>.</a:t>
            </a:r>
          </a:p>
          <a:p>
            <a:pPr algn="l"/>
            <a:r>
              <a:rPr kumimoji="1" lang="en-US" altLang="ko-KR" sz="1400" b="1" dirty="0"/>
              <a:t>.</a:t>
            </a:r>
            <a:endParaRPr kumimoji="1" lang="ko-KR" altLang="en-US" sz="1400" b="1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A28144A-2625-0641-A91F-451BDD8DCA47}"/>
              </a:ext>
            </a:extLst>
          </p:cNvPr>
          <p:cNvSpPr/>
          <p:nvPr/>
        </p:nvSpPr>
        <p:spPr>
          <a:xfrm>
            <a:off x="3789285" y="4817388"/>
            <a:ext cx="186431" cy="18643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7EBE85-89C3-10E5-5C17-13F4AD1DC13F}"/>
              </a:ext>
            </a:extLst>
          </p:cNvPr>
          <p:cNvSpPr txBox="1"/>
          <p:nvPr/>
        </p:nvSpPr>
        <p:spPr>
          <a:xfrm>
            <a:off x="1548420" y="3256631"/>
            <a:ext cx="1100831" cy="54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300" i="1" dirty="0">
                <a:solidFill>
                  <a:schemeClr val="accent1"/>
                </a:solidFill>
              </a:rPr>
              <a:t>Layer1</a:t>
            </a:r>
          </a:p>
          <a:p>
            <a:pPr algn="ctr">
              <a:lnSpc>
                <a:spcPct val="120000"/>
              </a:lnSpc>
            </a:pPr>
            <a:r>
              <a:rPr kumimoji="1" lang="en-US" altLang="ko-KR" sz="1300" i="1" dirty="0">
                <a:solidFill>
                  <a:schemeClr val="accent1"/>
                </a:solidFill>
              </a:rPr>
              <a:t>16 nodes</a:t>
            </a:r>
            <a:endParaRPr kumimoji="1" lang="ko-KR" altLang="en-US" sz="1300" i="1" dirty="0">
              <a:solidFill>
                <a:schemeClr val="accent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28AB74-1956-D06C-759C-38DCB4E89D4E}"/>
              </a:ext>
            </a:extLst>
          </p:cNvPr>
          <p:cNvSpPr txBox="1"/>
          <p:nvPr/>
        </p:nvSpPr>
        <p:spPr>
          <a:xfrm>
            <a:off x="2490932" y="3240355"/>
            <a:ext cx="1100831" cy="54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300" i="1" dirty="0">
                <a:solidFill>
                  <a:schemeClr val="accent1"/>
                </a:solidFill>
              </a:rPr>
              <a:t>Layer2</a:t>
            </a:r>
          </a:p>
          <a:p>
            <a:pPr algn="ctr">
              <a:lnSpc>
                <a:spcPct val="120000"/>
              </a:lnSpc>
            </a:pPr>
            <a:r>
              <a:rPr kumimoji="1" lang="en-US" altLang="ko-KR" sz="1300" i="1" dirty="0">
                <a:solidFill>
                  <a:schemeClr val="accent1"/>
                </a:solidFill>
              </a:rPr>
              <a:t>8 nodes</a:t>
            </a:r>
            <a:endParaRPr kumimoji="1" lang="ko-KR" altLang="en-US" sz="1300" i="1" dirty="0">
              <a:solidFill>
                <a:schemeClr val="accent1"/>
              </a:solidFill>
            </a:endParaRPr>
          </a:p>
        </p:txBody>
      </p:sp>
      <p:cxnSp>
        <p:nvCxnSpPr>
          <p:cNvPr id="47" name="직선 연결선[R] 46">
            <a:extLst>
              <a:ext uri="{FF2B5EF4-FFF2-40B4-BE49-F238E27FC236}">
                <a16:creationId xmlns:a16="http://schemas.microsoft.com/office/drawing/2014/main" id="{8D0756C4-6CAF-CA24-8FC6-1CF5B4727A27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210334" y="3854561"/>
            <a:ext cx="711695" cy="1871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[R] 47">
            <a:extLst>
              <a:ext uri="{FF2B5EF4-FFF2-40B4-BE49-F238E27FC236}">
                <a16:creationId xmlns:a16="http://schemas.microsoft.com/office/drawing/2014/main" id="{5B01A2BC-451B-22D6-2C8F-5E1C2593DAB5}"/>
              </a:ext>
            </a:extLst>
          </p:cNvPr>
          <p:cNvCxnSpPr>
            <a:cxnSpLocks/>
            <a:stCxn id="7" idx="6"/>
          </p:cNvCxnSpPr>
          <p:nvPr/>
        </p:nvCxnSpPr>
        <p:spPr>
          <a:xfrm flipV="1">
            <a:off x="1220691" y="4045909"/>
            <a:ext cx="701336" cy="227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[R] 50">
            <a:extLst>
              <a:ext uri="{FF2B5EF4-FFF2-40B4-BE49-F238E27FC236}">
                <a16:creationId xmlns:a16="http://schemas.microsoft.com/office/drawing/2014/main" id="{EC2AC232-6150-AE0A-60AB-D452901EF6FE}"/>
              </a:ext>
            </a:extLst>
          </p:cNvPr>
          <p:cNvCxnSpPr>
            <a:cxnSpLocks/>
            <a:stCxn id="8" idx="7"/>
            <a:endCxn id="9" idx="2"/>
          </p:cNvCxnSpPr>
          <p:nvPr/>
        </p:nvCxnSpPr>
        <p:spPr>
          <a:xfrm flipV="1">
            <a:off x="1194868" y="4041730"/>
            <a:ext cx="727161" cy="575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[R] 53">
            <a:extLst>
              <a:ext uri="{FF2B5EF4-FFF2-40B4-BE49-F238E27FC236}">
                <a16:creationId xmlns:a16="http://schemas.microsoft.com/office/drawing/2014/main" id="{04EEE5DB-C721-1FC1-5928-828074EA4504}"/>
              </a:ext>
            </a:extLst>
          </p:cNvPr>
          <p:cNvCxnSpPr>
            <a:cxnSpLocks/>
            <a:stCxn id="10" idx="7"/>
            <a:endCxn id="9" idx="2"/>
          </p:cNvCxnSpPr>
          <p:nvPr/>
        </p:nvCxnSpPr>
        <p:spPr>
          <a:xfrm flipV="1">
            <a:off x="1183032" y="4041730"/>
            <a:ext cx="738997" cy="982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[R] 56">
            <a:extLst>
              <a:ext uri="{FF2B5EF4-FFF2-40B4-BE49-F238E27FC236}">
                <a16:creationId xmlns:a16="http://schemas.microsoft.com/office/drawing/2014/main" id="{191353F1-78E1-6DC7-7D89-D74F252CF563}"/>
              </a:ext>
            </a:extLst>
          </p:cNvPr>
          <p:cNvCxnSpPr>
            <a:cxnSpLocks/>
            <a:stCxn id="6" idx="6"/>
            <a:endCxn id="15" idx="2"/>
          </p:cNvCxnSpPr>
          <p:nvPr/>
        </p:nvCxnSpPr>
        <p:spPr>
          <a:xfrm>
            <a:off x="1210334" y="3854561"/>
            <a:ext cx="711695" cy="690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[R] 59">
            <a:extLst>
              <a:ext uri="{FF2B5EF4-FFF2-40B4-BE49-F238E27FC236}">
                <a16:creationId xmlns:a16="http://schemas.microsoft.com/office/drawing/2014/main" id="{9C3B7A29-ED69-B5D4-72C4-0BBCABC6AB75}"/>
              </a:ext>
            </a:extLst>
          </p:cNvPr>
          <p:cNvCxnSpPr>
            <a:cxnSpLocks/>
            <a:stCxn id="7" idx="6"/>
            <a:endCxn id="15" idx="2"/>
          </p:cNvCxnSpPr>
          <p:nvPr/>
        </p:nvCxnSpPr>
        <p:spPr>
          <a:xfrm>
            <a:off x="1220691" y="4273293"/>
            <a:ext cx="701338" cy="272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[R] 62">
            <a:extLst>
              <a:ext uri="{FF2B5EF4-FFF2-40B4-BE49-F238E27FC236}">
                <a16:creationId xmlns:a16="http://schemas.microsoft.com/office/drawing/2014/main" id="{FF71CC7F-D45A-CD5E-A23B-3F2B99738C75}"/>
              </a:ext>
            </a:extLst>
          </p:cNvPr>
          <p:cNvCxnSpPr>
            <a:cxnSpLocks/>
            <a:stCxn id="8" idx="7"/>
          </p:cNvCxnSpPr>
          <p:nvPr/>
        </p:nvCxnSpPr>
        <p:spPr>
          <a:xfrm flipV="1">
            <a:off x="1194868" y="4523017"/>
            <a:ext cx="713876" cy="94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[R] 65">
            <a:extLst>
              <a:ext uri="{FF2B5EF4-FFF2-40B4-BE49-F238E27FC236}">
                <a16:creationId xmlns:a16="http://schemas.microsoft.com/office/drawing/2014/main" id="{B6F79CDC-E72C-6ED6-699E-37574066ED5D}"/>
              </a:ext>
            </a:extLst>
          </p:cNvPr>
          <p:cNvCxnSpPr>
            <a:cxnSpLocks/>
            <a:stCxn id="10" idx="6"/>
          </p:cNvCxnSpPr>
          <p:nvPr/>
        </p:nvCxnSpPr>
        <p:spPr>
          <a:xfrm flipV="1">
            <a:off x="1210334" y="4533012"/>
            <a:ext cx="698410" cy="5571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[R] 68">
            <a:extLst>
              <a:ext uri="{FF2B5EF4-FFF2-40B4-BE49-F238E27FC236}">
                <a16:creationId xmlns:a16="http://schemas.microsoft.com/office/drawing/2014/main" id="{61EAB6CA-25D0-19F8-9106-DBE4896D16F9}"/>
              </a:ext>
            </a:extLst>
          </p:cNvPr>
          <p:cNvCxnSpPr>
            <a:cxnSpLocks/>
            <a:stCxn id="6" idx="6"/>
            <a:endCxn id="16" idx="2"/>
          </p:cNvCxnSpPr>
          <p:nvPr/>
        </p:nvCxnSpPr>
        <p:spPr>
          <a:xfrm>
            <a:off x="1210334" y="3854561"/>
            <a:ext cx="711694" cy="1149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[R] 71">
            <a:extLst>
              <a:ext uri="{FF2B5EF4-FFF2-40B4-BE49-F238E27FC236}">
                <a16:creationId xmlns:a16="http://schemas.microsoft.com/office/drawing/2014/main" id="{B4B55574-3D41-9001-62EA-04A31F028675}"/>
              </a:ext>
            </a:extLst>
          </p:cNvPr>
          <p:cNvCxnSpPr>
            <a:cxnSpLocks/>
            <a:stCxn id="7" idx="6"/>
            <a:endCxn id="16" idx="2"/>
          </p:cNvCxnSpPr>
          <p:nvPr/>
        </p:nvCxnSpPr>
        <p:spPr>
          <a:xfrm>
            <a:off x="1220691" y="4273293"/>
            <a:ext cx="701337" cy="7305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[R] 74">
            <a:extLst>
              <a:ext uri="{FF2B5EF4-FFF2-40B4-BE49-F238E27FC236}">
                <a16:creationId xmlns:a16="http://schemas.microsoft.com/office/drawing/2014/main" id="{0AF51C94-6D83-A11E-36C9-97CC835571B5}"/>
              </a:ext>
            </a:extLst>
          </p:cNvPr>
          <p:cNvCxnSpPr>
            <a:cxnSpLocks/>
            <a:stCxn id="8" idx="7"/>
            <a:endCxn id="16" idx="2"/>
          </p:cNvCxnSpPr>
          <p:nvPr/>
        </p:nvCxnSpPr>
        <p:spPr>
          <a:xfrm>
            <a:off x="1194868" y="4617233"/>
            <a:ext cx="727160" cy="386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[R] 77">
            <a:extLst>
              <a:ext uri="{FF2B5EF4-FFF2-40B4-BE49-F238E27FC236}">
                <a16:creationId xmlns:a16="http://schemas.microsoft.com/office/drawing/2014/main" id="{1537A3E1-BE9B-6993-9E5D-DBF06F95374B}"/>
              </a:ext>
            </a:extLst>
          </p:cNvPr>
          <p:cNvCxnSpPr>
            <a:cxnSpLocks/>
            <a:stCxn id="10" idx="6"/>
            <a:endCxn id="16" idx="2"/>
          </p:cNvCxnSpPr>
          <p:nvPr/>
        </p:nvCxnSpPr>
        <p:spPr>
          <a:xfrm flipV="1">
            <a:off x="1210334" y="5003820"/>
            <a:ext cx="711694" cy="86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[R] 80">
            <a:extLst>
              <a:ext uri="{FF2B5EF4-FFF2-40B4-BE49-F238E27FC236}">
                <a16:creationId xmlns:a16="http://schemas.microsoft.com/office/drawing/2014/main" id="{2D79F812-0BC2-FC80-C6AC-A3DE9656954F}"/>
              </a:ext>
            </a:extLst>
          </p:cNvPr>
          <p:cNvCxnSpPr>
            <a:cxnSpLocks/>
            <a:stCxn id="12" idx="6"/>
            <a:endCxn id="17" idx="2"/>
          </p:cNvCxnSpPr>
          <p:nvPr/>
        </p:nvCxnSpPr>
        <p:spPr>
          <a:xfrm flipV="1">
            <a:off x="1222170" y="5896372"/>
            <a:ext cx="699857" cy="208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[R] 84">
            <a:extLst>
              <a:ext uri="{FF2B5EF4-FFF2-40B4-BE49-F238E27FC236}">
                <a16:creationId xmlns:a16="http://schemas.microsoft.com/office/drawing/2014/main" id="{5D07ED9B-D516-BDFE-8B20-DE930C537430}"/>
              </a:ext>
            </a:extLst>
          </p:cNvPr>
          <p:cNvCxnSpPr>
            <a:cxnSpLocks/>
            <a:stCxn id="17" idx="6"/>
            <a:endCxn id="24" idx="2"/>
          </p:cNvCxnSpPr>
          <p:nvPr/>
        </p:nvCxnSpPr>
        <p:spPr>
          <a:xfrm>
            <a:off x="2195752" y="5896372"/>
            <a:ext cx="686543" cy="41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[R] 87">
            <a:extLst>
              <a:ext uri="{FF2B5EF4-FFF2-40B4-BE49-F238E27FC236}">
                <a16:creationId xmlns:a16="http://schemas.microsoft.com/office/drawing/2014/main" id="{E29B05A2-A503-7E85-A81C-1DA49719352A}"/>
              </a:ext>
            </a:extLst>
          </p:cNvPr>
          <p:cNvCxnSpPr>
            <a:cxnSpLocks/>
            <a:stCxn id="24" idx="6"/>
            <a:endCxn id="32" idx="2"/>
          </p:cNvCxnSpPr>
          <p:nvPr/>
        </p:nvCxnSpPr>
        <p:spPr>
          <a:xfrm flipV="1">
            <a:off x="3156020" y="4910604"/>
            <a:ext cx="633265" cy="9899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[R] 90">
            <a:extLst>
              <a:ext uri="{FF2B5EF4-FFF2-40B4-BE49-F238E27FC236}">
                <a16:creationId xmlns:a16="http://schemas.microsoft.com/office/drawing/2014/main" id="{5C614EA5-26A0-73EB-2068-24F268A9B092}"/>
              </a:ext>
            </a:extLst>
          </p:cNvPr>
          <p:cNvCxnSpPr>
            <a:cxnSpLocks/>
            <a:stCxn id="23" idx="6"/>
            <a:endCxn id="32" idx="2"/>
          </p:cNvCxnSpPr>
          <p:nvPr/>
        </p:nvCxnSpPr>
        <p:spPr>
          <a:xfrm flipV="1">
            <a:off x="3156021" y="4910604"/>
            <a:ext cx="633264" cy="9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[R] 93">
            <a:extLst>
              <a:ext uri="{FF2B5EF4-FFF2-40B4-BE49-F238E27FC236}">
                <a16:creationId xmlns:a16="http://schemas.microsoft.com/office/drawing/2014/main" id="{BA0094DF-698E-A3CF-47CF-007DE662BB35}"/>
              </a:ext>
            </a:extLst>
          </p:cNvPr>
          <p:cNvCxnSpPr>
            <a:cxnSpLocks/>
            <a:stCxn id="22" idx="6"/>
            <a:endCxn id="32" idx="2"/>
          </p:cNvCxnSpPr>
          <p:nvPr/>
        </p:nvCxnSpPr>
        <p:spPr>
          <a:xfrm>
            <a:off x="3156022" y="4549722"/>
            <a:ext cx="633263" cy="360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[R] 96">
            <a:extLst>
              <a:ext uri="{FF2B5EF4-FFF2-40B4-BE49-F238E27FC236}">
                <a16:creationId xmlns:a16="http://schemas.microsoft.com/office/drawing/2014/main" id="{9F5AF419-40AA-E553-5891-632815C5E5A6}"/>
              </a:ext>
            </a:extLst>
          </p:cNvPr>
          <p:cNvCxnSpPr>
            <a:cxnSpLocks/>
            <a:stCxn id="21" idx="6"/>
            <a:endCxn id="32" idx="2"/>
          </p:cNvCxnSpPr>
          <p:nvPr/>
        </p:nvCxnSpPr>
        <p:spPr>
          <a:xfrm>
            <a:off x="3156022" y="4045910"/>
            <a:ext cx="633263" cy="864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[R] 99">
            <a:extLst>
              <a:ext uri="{FF2B5EF4-FFF2-40B4-BE49-F238E27FC236}">
                <a16:creationId xmlns:a16="http://schemas.microsoft.com/office/drawing/2014/main" id="{263E388F-B7EE-018F-4A7F-1648DB729690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2210538" y="4045910"/>
            <a:ext cx="671759" cy="14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[R] 101">
            <a:extLst>
              <a:ext uri="{FF2B5EF4-FFF2-40B4-BE49-F238E27FC236}">
                <a16:creationId xmlns:a16="http://schemas.microsoft.com/office/drawing/2014/main" id="{532F0402-9AD5-A44C-37AB-448E6C9478B7}"/>
              </a:ext>
            </a:extLst>
          </p:cNvPr>
          <p:cNvCxnSpPr>
            <a:cxnSpLocks/>
            <a:stCxn id="9" idx="6"/>
            <a:endCxn id="22" idx="2"/>
          </p:cNvCxnSpPr>
          <p:nvPr/>
        </p:nvCxnSpPr>
        <p:spPr>
          <a:xfrm>
            <a:off x="2195754" y="4041730"/>
            <a:ext cx="686543" cy="507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[R] 104">
            <a:extLst>
              <a:ext uri="{FF2B5EF4-FFF2-40B4-BE49-F238E27FC236}">
                <a16:creationId xmlns:a16="http://schemas.microsoft.com/office/drawing/2014/main" id="{0191BEF5-4B54-4561-B138-ED17FD3A77C1}"/>
              </a:ext>
            </a:extLst>
          </p:cNvPr>
          <p:cNvCxnSpPr>
            <a:cxnSpLocks/>
            <a:stCxn id="9" idx="6"/>
            <a:endCxn id="23" idx="2"/>
          </p:cNvCxnSpPr>
          <p:nvPr/>
        </p:nvCxnSpPr>
        <p:spPr>
          <a:xfrm>
            <a:off x="2195754" y="4041730"/>
            <a:ext cx="686542" cy="966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[R] 108">
            <a:extLst>
              <a:ext uri="{FF2B5EF4-FFF2-40B4-BE49-F238E27FC236}">
                <a16:creationId xmlns:a16="http://schemas.microsoft.com/office/drawing/2014/main" id="{2891A031-C856-064B-9260-18601DE5AE78}"/>
              </a:ext>
            </a:extLst>
          </p:cNvPr>
          <p:cNvCxnSpPr>
            <a:cxnSpLocks/>
            <a:stCxn id="15" idx="6"/>
            <a:endCxn id="21" idx="2"/>
          </p:cNvCxnSpPr>
          <p:nvPr/>
        </p:nvCxnSpPr>
        <p:spPr>
          <a:xfrm flipV="1">
            <a:off x="2195754" y="4045910"/>
            <a:ext cx="686543" cy="499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[R] 111">
            <a:extLst>
              <a:ext uri="{FF2B5EF4-FFF2-40B4-BE49-F238E27FC236}">
                <a16:creationId xmlns:a16="http://schemas.microsoft.com/office/drawing/2014/main" id="{B99E7680-E2B2-4D36-0267-C8FD4E5D1562}"/>
              </a:ext>
            </a:extLst>
          </p:cNvPr>
          <p:cNvCxnSpPr>
            <a:cxnSpLocks/>
            <a:stCxn id="15" idx="6"/>
            <a:endCxn id="22" idx="2"/>
          </p:cNvCxnSpPr>
          <p:nvPr/>
        </p:nvCxnSpPr>
        <p:spPr>
          <a:xfrm>
            <a:off x="2195754" y="4545542"/>
            <a:ext cx="686543" cy="41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[R] 114">
            <a:extLst>
              <a:ext uri="{FF2B5EF4-FFF2-40B4-BE49-F238E27FC236}">
                <a16:creationId xmlns:a16="http://schemas.microsoft.com/office/drawing/2014/main" id="{0DCEC1A6-8F79-5AA3-D0A3-FEBB85B6B5CB}"/>
              </a:ext>
            </a:extLst>
          </p:cNvPr>
          <p:cNvCxnSpPr>
            <a:cxnSpLocks/>
            <a:stCxn id="15" idx="6"/>
            <a:endCxn id="23" idx="2"/>
          </p:cNvCxnSpPr>
          <p:nvPr/>
        </p:nvCxnSpPr>
        <p:spPr>
          <a:xfrm>
            <a:off x="2195754" y="4545542"/>
            <a:ext cx="686542" cy="4624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[R] 117">
            <a:extLst>
              <a:ext uri="{FF2B5EF4-FFF2-40B4-BE49-F238E27FC236}">
                <a16:creationId xmlns:a16="http://schemas.microsoft.com/office/drawing/2014/main" id="{B02C8CEC-5928-6ECA-064D-1C9C5A5D7EDB}"/>
              </a:ext>
            </a:extLst>
          </p:cNvPr>
          <p:cNvCxnSpPr>
            <a:cxnSpLocks/>
            <a:stCxn id="16" idx="6"/>
            <a:endCxn id="21" idx="2"/>
          </p:cNvCxnSpPr>
          <p:nvPr/>
        </p:nvCxnSpPr>
        <p:spPr>
          <a:xfrm flipV="1">
            <a:off x="2195753" y="4045910"/>
            <a:ext cx="686544" cy="957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[R] 120">
            <a:extLst>
              <a:ext uri="{FF2B5EF4-FFF2-40B4-BE49-F238E27FC236}">
                <a16:creationId xmlns:a16="http://schemas.microsoft.com/office/drawing/2014/main" id="{864FE9B5-35CB-E13D-D520-255137268719}"/>
              </a:ext>
            </a:extLst>
          </p:cNvPr>
          <p:cNvCxnSpPr>
            <a:cxnSpLocks/>
            <a:stCxn id="16" idx="6"/>
            <a:endCxn id="22" idx="2"/>
          </p:cNvCxnSpPr>
          <p:nvPr/>
        </p:nvCxnSpPr>
        <p:spPr>
          <a:xfrm flipV="1">
            <a:off x="2195753" y="4549722"/>
            <a:ext cx="686544" cy="454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[R] 123">
            <a:extLst>
              <a:ext uri="{FF2B5EF4-FFF2-40B4-BE49-F238E27FC236}">
                <a16:creationId xmlns:a16="http://schemas.microsoft.com/office/drawing/2014/main" id="{9AF5D35B-3088-4981-E950-3C13A5B21CBF}"/>
              </a:ext>
            </a:extLst>
          </p:cNvPr>
          <p:cNvCxnSpPr>
            <a:cxnSpLocks/>
            <a:stCxn id="16" idx="6"/>
            <a:endCxn id="23" idx="2"/>
          </p:cNvCxnSpPr>
          <p:nvPr/>
        </p:nvCxnSpPr>
        <p:spPr>
          <a:xfrm>
            <a:off x="2195753" y="5003820"/>
            <a:ext cx="686543" cy="41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오른쪽 화살표[R] 126">
            <a:extLst>
              <a:ext uri="{FF2B5EF4-FFF2-40B4-BE49-F238E27FC236}">
                <a16:creationId xmlns:a16="http://schemas.microsoft.com/office/drawing/2014/main" id="{751C2673-5395-40F0-DADC-34CD847770A3}"/>
              </a:ext>
            </a:extLst>
          </p:cNvPr>
          <p:cNvSpPr/>
          <p:nvPr/>
        </p:nvSpPr>
        <p:spPr>
          <a:xfrm>
            <a:off x="4090991" y="4128255"/>
            <a:ext cx="260414" cy="417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28" name="그림 127">
            <a:extLst>
              <a:ext uri="{FF2B5EF4-FFF2-40B4-BE49-F238E27FC236}">
                <a16:creationId xmlns:a16="http://schemas.microsoft.com/office/drawing/2014/main" id="{F796129D-09B7-D29B-00B2-55CD12F37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284" y="3540507"/>
            <a:ext cx="4432300" cy="1816100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759CD067-EF19-9629-FC7C-846951CF51D8}"/>
              </a:ext>
            </a:extLst>
          </p:cNvPr>
          <p:cNvSpPr txBox="1"/>
          <p:nvPr/>
        </p:nvSpPr>
        <p:spPr>
          <a:xfrm>
            <a:off x="9522303" y="2961437"/>
            <a:ext cx="2180685" cy="10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300" i="1" dirty="0"/>
              <a:t>&lt;Layer 1&gt;</a:t>
            </a:r>
          </a:p>
          <a:p>
            <a:pPr algn="l">
              <a:lnSpc>
                <a:spcPct val="120000"/>
              </a:lnSpc>
            </a:pPr>
            <a:r>
              <a:rPr kumimoji="1" lang="ko-KR" altLang="en-US" sz="1300" i="1" dirty="0" err="1"/>
              <a:t>입력값</a:t>
            </a:r>
            <a:r>
              <a:rPr kumimoji="1" lang="ko-KR" altLang="en-US" sz="1300" i="1" dirty="0"/>
              <a:t> </a:t>
            </a:r>
            <a:r>
              <a:rPr kumimoji="1" lang="en-US" altLang="ko-KR" sz="1300" i="1" dirty="0"/>
              <a:t>= </a:t>
            </a:r>
            <a:r>
              <a:rPr kumimoji="1" lang="ko-KR" altLang="en-US" sz="1300" i="1" dirty="0"/>
              <a:t>변수 개수</a:t>
            </a:r>
            <a:r>
              <a:rPr kumimoji="1" lang="en-US" altLang="ko-KR" sz="1300" i="1" dirty="0"/>
              <a:t>(18</a:t>
            </a:r>
            <a:r>
              <a:rPr kumimoji="1" lang="ko-KR" altLang="en-US" sz="1300" i="1" dirty="0"/>
              <a:t>개</a:t>
            </a:r>
            <a:r>
              <a:rPr kumimoji="1" lang="en-US" altLang="ko-KR" sz="1300" i="1" dirty="0"/>
              <a:t>)</a:t>
            </a:r>
          </a:p>
          <a:p>
            <a:pPr algn="l">
              <a:lnSpc>
                <a:spcPct val="120000"/>
              </a:lnSpc>
            </a:pPr>
            <a:r>
              <a:rPr kumimoji="1" lang="en-US" altLang="ko-KR" sz="1300" i="1" dirty="0">
                <a:sym typeface="Wingdings" pitchFamily="2" charset="2"/>
              </a:rPr>
              <a:t> </a:t>
            </a:r>
            <a:r>
              <a:rPr kumimoji="1" lang="ko-KR" altLang="en-US" sz="1300" i="1" dirty="0">
                <a:sym typeface="Wingdings" pitchFamily="2" charset="2"/>
              </a:rPr>
              <a:t>다음 층으로 </a:t>
            </a:r>
            <a:r>
              <a:rPr kumimoji="1" lang="en-US" altLang="ko-KR" sz="1300" i="1" dirty="0">
                <a:sym typeface="Wingdings" pitchFamily="2" charset="2"/>
              </a:rPr>
              <a:t>16</a:t>
            </a:r>
            <a:r>
              <a:rPr kumimoji="1" lang="ko-KR" altLang="en-US" sz="1300" i="1" dirty="0">
                <a:sym typeface="Wingdings" pitchFamily="2" charset="2"/>
              </a:rPr>
              <a:t>개의 값을 전달 </a:t>
            </a:r>
            <a:endParaRPr kumimoji="1" lang="ko-KR" altLang="en-US" sz="1300" i="1" dirty="0"/>
          </a:p>
        </p:txBody>
      </p:sp>
      <p:cxnSp>
        <p:nvCxnSpPr>
          <p:cNvPr id="133" name="꺾인 연결선[E] 132">
            <a:extLst>
              <a:ext uri="{FF2B5EF4-FFF2-40B4-BE49-F238E27FC236}">
                <a16:creationId xmlns:a16="http://schemas.microsoft.com/office/drawing/2014/main" id="{0400F87C-B6BA-7034-02E9-8DE80FE1B026}"/>
              </a:ext>
            </a:extLst>
          </p:cNvPr>
          <p:cNvCxnSpPr/>
          <p:nvPr/>
        </p:nvCxnSpPr>
        <p:spPr>
          <a:xfrm flipV="1">
            <a:off x="8060924" y="3362357"/>
            <a:ext cx="1438183" cy="5219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E4F2D113-7C88-40DA-9EED-720E3C65F318}"/>
              </a:ext>
            </a:extLst>
          </p:cNvPr>
          <p:cNvSpPr txBox="1"/>
          <p:nvPr/>
        </p:nvSpPr>
        <p:spPr>
          <a:xfrm>
            <a:off x="9522302" y="4255538"/>
            <a:ext cx="2180685" cy="10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300" i="1" dirty="0"/>
              <a:t>&lt;Layer 2&gt;</a:t>
            </a:r>
          </a:p>
          <a:p>
            <a:pPr algn="l">
              <a:lnSpc>
                <a:spcPct val="120000"/>
              </a:lnSpc>
            </a:pPr>
            <a:r>
              <a:rPr kumimoji="1" lang="en-US" altLang="ko-KR" sz="1300" i="1" dirty="0"/>
              <a:t>Layer1</a:t>
            </a:r>
            <a:r>
              <a:rPr kumimoji="1" lang="ko-KR" altLang="en-US" sz="1300" i="1" dirty="0"/>
              <a:t>에서 </a:t>
            </a:r>
            <a:r>
              <a:rPr kumimoji="1" lang="en-US" altLang="ko-KR" sz="1300" i="1" dirty="0"/>
              <a:t>16</a:t>
            </a:r>
            <a:r>
              <a:rPr kumimoji="1" lang="ko-KR" altLang="en-US" sz="1300" i="1" dirty="0"/>
              <a:t>개의 값을 받아</a:t>
            </a:r>
            <a:r>
              <a:rPr kumimoji="1" lang="en-US" altLang="ko-KR" sz="1300" i="1" dirty="0"/>
              <a:t>, </a:t>
            </a:r>
            <a:r>
              <a:rPr kumimoji="1" lang="ko-KR" altLang="en-US" sz="1300" i="1" dirty="0"/>
              <a:t>다음 단계로 </a:t>
            </a:r>
            <a:r>
              <a:rPr kumimoji="1" lang="en-US" altLang="ko-KR" sz="1300" i="1" dirty="0"/>
              <a:t>8</a:t>
            </a:r>
            <a:r>
              <a:rPr kumimoji="1" lang="ko-KR" altLang="en-US" sz="1300" i="1" dirty="0"/>
              <a:t>개의 값을 전달 </a:t>
            </a:r>
          </a:p>
        </p:txBody>
      </p:sp>
      <p:cxnSp>
        <p:nvCxnSpPr>
          <p:cNvPr id="136" name="꺾인 연결선[E] 135">
            <a:extLst>
              <a:ext uri="{FF2B5EF4-FFF2-40B4-BE49-F238E27FC236}">
                <a16:creationId xmlns:a16="http://schemas.microsoft.com/office/drawing/2014/main" id="{D83F6875-1D02-D938-8E6B-D48560B4039B}"/>
              </a:ext>
            </a:extLst>
          </p:cNvPr>
          <p:cNvCxnSpPr/>
          <p:nvPr/>
        </p:nvCxnSpPr>
        <p:spPr>
          <a:xfrm>
            <a:off x="7119891" y="4354341"/>
            <a:ext cx="2379216" cy="253345"/>
          </a:xfrm>
          <a:prstGeom prst="bentConnector3">
            <a:avLst>
              <a:gd name="adj1" fmla="val 462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꺾인 연결선[E] 137">
            <a:extLst>
              <a:ext uri="{FF2B5EF4-FFF2-40B4-BE49-F238E27FC236}">
                <a16:creationId xmlns:a16="http://schemas.microsoft.com/office/drawing/2014/main" id="{50B6FC06-8F34-8954-4BDB-D41C51EBBA16}"/>
              </a:ext>
            </a:extLst>
          </p:cNvPr>
          <p:cNvCxnSpPr>
            <a:cxnSpLocks/>
          </p:cNvCxnSpPr>
          <p:nvPr/>
        </p:nvCxnSpPr>
        <p:spPr>
          <a:xfrm>
            <a:off x="6786368" y="4921531"/>
            <a:ext cx="1603030" cy="8061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A15F4FEF-9AC0-05EC-5564-1270145DB514}"/>
              </a:ext>
            </a:extLst>
          </p:cNvPr>
          <p:cNvSpPr txBox="1"/>
          <p:nvPr/>
        </p:nvSpPr>
        <p:spPr>
          <a:xfrm>
            <a:off x="8431959" y="5502413"/>
            <a:ext cx="2379216" cy="788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300" i="1" dirty="0"/>
              <a:t>&lt;</a:t>
            </a:r>
            <a:r>
              <a:rPr kumimoji="1" lang="ko-KR" altLang="en-US" sz="1300" i="1" dirty="0" err="1"/>
              <a:t>출력층</a:t>
            </a:r>
            <a:r>
              <a:rPr kumimoji="1" lang="en-US" altLang="ko-KR" sz="1300" i="1" dirty="0"/>
              <a:t>&gt;</a:t>
            </a:r>
          </a:p>
          <a:p>
            <a:pPr algn="l">
              <a:lnSpc>
                <a:spcPct val="120000"/>
              </a:lnSpc>
            </a:pPr>
            <a:r>
              <a:rPr kumimoji="1" lang="en-US" altLang="ko-KR" sz="1300" i="1" dirty="0"/>
              <a:t>Layer2</a:t>
            </a:r>
            <a:r>
              <a:rPr kumimoji="1" lang="ko-KR" altLang="en-US" sz="1300" i="1" dirty="0"/>
              <a:t>에서 </a:t>
            </a:r>
            <a:r>
              <a:rPr kumimoji="1" lang="en-US" altLang="ko-KR" sz="1300" i="1" dirty="0"/>
              <a:t>8</a:t>
            </a:r>
            <a:r>
              <a:rPr kumimoji="1" lang="ko-KR" altLang="en-US" sz="1300" i="1" dirty="0"/>
              <a:t>개의 값을 받아</a:t>
            </a:r>
            <a:r>
              <a:rPr kumimoji="1" lang="en-US" altLang="ko-KR" sz="1300" i="1" dirty="0"/>
              <a:t>, </a:t>
            </a:r>
            <a:r>
              <a:rPr kumimoji="1" lang="ko-KR" altLang="en-US" sz="1300" i="1" dirty="0"/>
              <a:t>최종 </a:t>
            </a:r>
            <a:r>
              <a:rPr kumimoji="1" lang="en-US" altLang="ko-KR" sz="1300" i="1" dirty="0"/>
              <a:t>1</a:t>
            </a:r>
            <a:r>
              <a:rPr kumimoji="1" lang="ko-KR" altLang="en-US" sz="1300" i="1" dirty="0"/>
              <a:t>개의 값을 출력 </a:t>
            </a:r>
          </a:p>
        </p:txBody>
      </p:sp>
    </p:spTree>
    <p:extLst>
      <p:ext uri="{BB962C8B-B14F-4D97-AF65-F5344CB8AC3E}">
        <p14:creationId xmlns:p14="http://schemas.microsoft.com/office/powerpoint/2010/main" val="2658356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lnSpc>
            <a:spcPct val="120000"/>
          </a:lnSpc>
          <a:buFont typeface="Arial" panose="020B0604020202020204" pitchFamily="34" charset="0"/>
          <a:buChar char="•"/>
          <a:defRPr kumimoji="1"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640</Words>
  <Application>Microsoft Macintosh PowerPoint</Application>
  <PresentationFormat>와이드스크린</PresentationFormat>
  <Paragraphs>147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Young-Boo Choi</dc:creator>
  <cp:lastModifiedBy>Young-Boo Choi</cp:lastModifiedBy>
  <cp:revision>205</cp:revision>
  <dcterms:created xsi:type="dcterms:W3CDTF">2025-12-09T14:37:52Z</dcterms:created>
  <dcterms:modified xsi:type="dcterms:W3CDTF">2026-03-23T15:07:23Z</dcterms:modified>
</cp:coreProperties>
</file>