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73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35"/>
    <p:restoredTop sz="96790"/>
  </p:normalViewPr>
  <p:slideViewPr>
    <p:cSldViewPr snapToGrid="0">
      <p:cViewPr varScale="1">
        <p:scale>
          <a:sx n="144" d="100"/>
          <a:sy n="144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42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EC386611-DA1D-5984-7915-A39655EA00D8}"/>
              </a:ext>
            </a:extLst>
          </p:cNvPr>
          <p:cNvCxnSpPr/>
          <p:nvPr userDrawn="1"/>
        </p:nvCxnSpPr>
        <p:spPr>
          <a:xfrm>
            <a:off x="268913" y="694436"/>
            <a:ext cx="116393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ACC33B-932B-13A7-800E-CA47F31C7A77}"/>
              </a:ext>
            </a:extLst>
          </p:cNvPr>
          <p:cNvSpPr txBox="1"/>
          <p:nvPr userDrawn="1"/>
        </p:nvSpPr>
        <p:spPr>
          <a:xfrm>
            <a:off x="10864676" y="6291470"/>
            <a:ext cx="1043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77F96B8-C915-EB4F-8C3F-29DAE644A8B2}" type="slidenum">
              <a:rPr kumimoji="1" lang="ko-KR" altLang="en-US" sz="1200" smtClean="0"/>
              <a:pPr algn="r"/>
              <a:t>‹#›</a:t>
            </a:fld>
            <a:endParaRPr kumimoji="1"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EBB57-E58D-1126-CFFA-065DCF37E58D}"/>
              </a:ext>
            </a:extLst>
          </p:cNvPr>
          <p:cNvSpPr txBox="1"/>
          <p:nvPr userDrawn="1"/>
        </p:nvSpPr>
        <p:spPr>
          <a:xfrm>
            <a:off x="188007" y="323716"/>
            <a:ext cx="3507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200" dirty="0"/>
              <a:t>Deep Learning with </a:t>
            </a:r>
            <a:r>
              <a:rPr kumimoji="1" lang="en-US" altLang="ko-KR" sz="1200" dirty="0" err="1"/>
              <a:t>Pytorch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9155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EA1C0A-EAB4-70F3-F80B-C43D9EFEB2B8}"/>
              </a:ext>
            </a:extLst>
          </p:cNvPr>
          <p:cNvSpPr txBox="1"/>
          <p:nvPr/>
        </p:nvSpPr>
        <p:spPr>
          <a:xfrm>
            <a:off x="10317190" y="336429"/>
            <a:ext cx="1535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1-1. </a:t>
            </a:r>
            <a:r>
              <a:rPr kumimoji="1" lang="ko-KR" altLang="en-US" sz="1200" dirty="0"/>
              <a:t>과정소개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688FDB-FB25-6391-F405-76C2A3284180}"/>
              </a:ext>
            </a:extLst>
          </p:cNvPr>
          <p:cNvSpPr/>
          <p:nvPr/>
        </p:nvSpPr>
        <p:spPr>
          <a:xfrm>
            <a:off x="232913" y="232913"/>
            <a:ext cx="11740551" cy="6288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18510-5A9B-9E78-9DDB-ABEB9CCBD434}"/>
              </a:ext>
            </a:extLst>
          </p:cNvPr>
          <p:cNvSpPr txBox="1"/>
          <p:nvPr/>
        </p:nvSpPr>
        <p:spPr>
          <a:xfrm>
            <a:off x="778135" y="1535100"/>
            <a:ext cx="103689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3300" b="1" dirty="0"/>
              <a:t>Deep Learning with </a:t>
            </a:r>
            <a:r>
              <a:rPr kumimoji="1" lang="en-US" altLang="ko-KR" sz="3300" b="1" dirty="0" err="1"/>
              <a:t>Pytorch</a:t>
            </a:r>
            <a:endParaRPr kumimoji="1" lang="en-US" altLang="ko-KR" sz="33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4B1708-9840-AFBF-CFD2-887619A75B54}"/>
              </a:ext>
            </a:extLst>
          </p:cNvPr>
          <p:cNvSpPr txBox="1"/>
          <p:nvPr/>
        </p:nvSpPr>
        <p:spPr>
          <a:xfrm>
            <a:off x="4063040" y="2931851"/>
            <a:ext cx="4876773" cy="268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b="1" dirty="0">
                <a:latin typeface="+mn-ea"/>
              </a:rPr>
              <a:t>05. Multi Classification model </a:t>
            </a:r>
            <a:br>
              <a:rPr kumimoji="1" lang="en-US" altLang="ko-KR" sz="1400" dirty="0">
                <a:latin typeface="+mn-ea"/>
              </a:rPr>
            </a:br>
            <a:endParaRPr kumimoji="1"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다중분류의 특징 </a:t>
            </a:r>
            <a:endParaRPr kumimoji="1"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 err="1">
                <a:latin typeface="+mn-ea"/>
              </a:rPr>
              <a:t>Softmax</a:t>
            </a:r>
            <a:r>
              <a:rPr kumimoji="1" lang="en-US" altLang="ko-KR" sz="1400" dirty="0">
                <a:latin typeface="+mn-ea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Cross Entropy </a:t>
            </a:r>
          </a:p>
          <a:p>
            <a:pPr>
              <a:lnSpc>
                <a:spcPct val="150000"/>
              </a:lnSpc>
            </a:pPr>
            <a:endParaRPr kumimoji="1"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+mn-ea"/>
              </a:rPr>
              <a:t>[</a:t>
            </a:r>
            <a:r>
              <a:rPr kumimoji="1" lang="ko-KR" altLang="en-US" sz="1400" dirty="0">
                <a:latin typeface="+mn-ea"/>
              </a:rPr>
              <a:t>실습</a:t>
            </a:r>
            <a:r>
              <a:rPr kumimoji="1" lang="en-US" altLang="ko-KR" sz="1400" dirty="0">
                <a:latin typeface="+mn-ea"/>
              </a:rPr>
              <a:t>1] IRIS </a:t>
            </a:r>
            <a:br>
              <a:rPr kumimoji="1" lang="en-US" altLang="ko-KR" sz="1400" dirty="0">
                <a:latin typeface="+mn-ea"/>
              </a:rPr>
            </a:br>
            <a:r>
              <a:rPr kumimoji="1" lang="en-US" altLang="ko-KR" sz="1400" dirty="0">
                <a:latin typeface="+mn-ea"/>
              </a:rPr>
              <a:t>[</a:t>
            </a:r>
            <a:r>
              <a:rPr kumimoji="1" lang="ko-KR" altLang="en-US" sz="1400" dirty="0">
                <a:latin typeface="+mn-ea"/>
              </a:rPr>
              <a:t>실습</a:t>
            </a:r>
            <a:r>
              <a:rPr kumimoji="1" lang="en-US" altLang="ko-KR" sz="1400" dirty="0">
                <a:latin typeface="+mn-ea"/>
              </a:rPr>
              <a:t>2] MNIST</a:t>
            </a:r>
          </a:p>
        </p:txBody>
      </p:sp>
    </p:spTree>
    <p:extLst>
      <p:ext uri="{BB962C8B-B14F-4D97-AF65-F5344CB8AC3E}">
        <p14:creationId xmlns:p14="http://schemas.microsoft.com/office/powerpoint/2010/main" val="39526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EDD26-9939-94FE-9DF8-E5BA809AD977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05. Multi Classification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AA50BD-23A3-10EA-4853-9EC3733A41A4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다중분류의 특징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A273FAC-7AE9-8287-798C-AB5E7C765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05964"/>
              </p:ext>
            </p:extLst>
          </p:nvPr>
        </p:nvGraphicFramePr>
        <p:xfrm>
          <a:off x="266330" y="1571924"/>
          <a:ext cx="1124801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326">
                  <a:extLst>
                    <a:ext uri="{9D8B030D-6E8A-4147-A177-3AD203B41FA5}">
                      <a16:colId xmlns:a16="http://schemas.microsoft.com/office/drawing/2014/main" val="3120743854"/>
                    </a:ext>
                  </a:extLst>
                </a:gridCol>
                <a:gridCol w="2290439">
                  <a:extLst>
                    <a:ext uri="{9D8B030D-6E8A-4147-A177-3AD203B41FA5}">
                      <a16:colId xmlns:a16="http://schemas.microsoft.com/office/drawing/2014/main" val="2719480293"/>
                    </a:ext>
                  </a:extLst>
                </a:gridCol>
                <a:gridCol w="1935332">
                  <a:extLst>
                    <a:ext uri="{9D8B030D-6E8A-4147-A177-3AD203B41FA5}">
                      <a16:colId xmlns:a16="http://schemas.microsoft.com/office/drawing/2014/main" val="2242630771"/>
                    </a:ext>
                  </a:extLst>
                </a:gridCol>
                <a:gridCol w="2299317">
                  <a:extLst>
                    <a:ext uri="{9D8B030D-6E8A-4147-A177-3AD203B41FA5}">
                      <a16:colId xmlns:a16="http://schemas.microsoft.com/office/drawing/2014/main" val="975094274"/>
                    </a:ext>
                  </a:extLst>
                </a:gridCol>
                <a:gridCol w="3222596">
                  <a:extLst>
                    <a:ext uri="{9D8B030D-6E8A-4147-A177-3AD203B41FA5}">
                      <a16:colId xmlns:a16="http://schemas.microsoft.com/office/drawing/2014/main" val="1931522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출력층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활성화 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출력값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Target Encoding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071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이진분류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Node 1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Sigmoid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0~1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사이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또는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사망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=0,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생존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=1)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984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다중분류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Node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여러개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출력 범주의 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Softmax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각 범주에 속할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정수값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Setosa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=0, Versicolor=1, Virginica=2)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9674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55D8E42-9F6E-D414-A9DA-44A096DADED4}"/>
              </a:ext>
            </a:extLst>
          </p:cNvPr>
          <p:cNvSpPr txBox="1"/>
          <p:nvPr/>
        </p:nvSpPr>
        <p:spPr>
          <a:xfrm>
            <a:off x="4603072" y="3235421"/>
            <a:ext cx="2574525" cy="328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400" b="1" u="sng" dirty="0"/>
              <a:t>다중분류 신경망 구조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13527EC1-4F0B-2756-9FC3-46842C88218B}"/>
              </a:ext>
            </a:extLst>
          </p:cNvPr>
          <p:cNvSpPr/>
          <p:nvPr/>
        </p:nvSpPr>
        <p:spPr>
          <a:xfrm>
            <a:off x="2409549" y="3939020"/>
            <a:ext cx="507505" cy="167702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39B1760-42D5-8B38-53C1-696A10EB3C7C}"/>
              </a:ext>
            </a:extLst>
          </p:cNvPr>
          <p:cNvSpPr/>
          <p:nvPr/>
        </p:nvSpPr>
        <p:spPr>
          <a:xfrm>
            <a:off x="1615003" y="4099618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9F4D2D6-C7B5-D353-30F0-53321C7E2CF5}"/>
              </a:ext>
            </a:extLst>
          </p:cNvPr>
          <p:cNvSpPr/>
          <p:nvPr/>
        </p:nvSpPr>
        <p:spPr>
          <a:xfrm>
            <a:off x="1625360" y="4518350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10BB934-7E75-F6CD-1D8E-957649941BCF}"/>
              </a:ext>
            </a:extLst>
          </p:cNvPr>
          <p:cNvSpPr/>
          <p:nvPr/>
        </p:nvSpPr>
        <p:spPr>
          <a:xfrm>
            <a:off x="1626839" y="4928204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089A16C-483F-9CAD-5D5F-72356A99F5B6}"/>
              </a:ext>
            </a:extLst>
          </p:cNvPr>
          <p:cNvSpPr/>
          <p:nvPr/>
        </p:nvSpPr>
        <p:spPr>
          <a:xfrm>
            <a:off x="2513129" y="4127730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28FDF7F-3DE2-2567-D94A-A498964FD317}"/>
              </a:ext>
            </a:extLst>
          </p:cNvPr>
          <p:cNvSpPr/>
          <p:nvPr/>
        </p:nvSpPr>
        <p:spPr>
          <a:xfrm>
            <a:off x="1615003" y="5335265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A89538D-1CF1-8702-970A-FD4A51583DE9}"/>
              </a:ext>
            </a:extLst>
          </p:cNvPr>
          <p:cNvSpPr/>
          <p:nvPr/>
        </p:nvSpPr>
        <p:spPr>
          <a:xfrm>
            <a:off x="2513129" y="4631542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7041C59-BB00-F01A-C502-430C1823085F}"/>
              </a:ext>
            </a:extLst>
          </p:cNvPr>
          <p:cNvSpPr/>
          <p:nvPr/>
        </p:nvSpPr>
        <p:spPr>
          <a:xfrm>
            <a:off x="2513128" y="5089820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E878FE51-2BDE-D067-6BAA-41659E6DEDB5}"/>
              </a:ext>
            </a:extLst>
          </p:cNvPr>
          <p:cNvCxnSpPr>
            <a:stCxn id="7" idx="6"/>
            <a:endCxn id="11" idx="2"/>
          </p:cNvCxnSpPr>
          <p:nvPr/>
        </p:nvCxnSpPr>
        <p:spPr>
          <a:xfrm>
            <a:off x="1801434" y="4192834"/>
            <a:ext cx="711695" cy="71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924B9C7B-708C-B873-696F-D2BE5C90D707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1811791" y="4384182"/>
            <a:ext cx="701336" cy="227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F1FD8DAC-A60E-B573-1EF1-8873141BE8FD}"/>
              </a:ext>
            </a:extLst>
          </p:cNvPr>
          <p:cNvCxnSpPr>
            <a:cxnSpLocks/>
            <a:stCxn id="9" idx="7"/>
            <a:endCxn id="11" idx="2"/>
          </p:cNvCxnSpPr>
          <p:nvPr/>
        </p:nvCxnSpPr>
        <p:spPr>
          <a:xfrm flipV="1">
            <a:off x="1785968" y="4264593"/>
            <a:ext cx="727161" cy="690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DB3BB031-1ECC-7B80-FEC3-D0C8D53DFF8D}"/>
              </a:ext>
            </a:extLst>
          </p:cNvPr>
          <p:cNvCxnSpPr>
            <a:cxnSpLocks/>
            <a:stCxn id="12" idx="7"/>
            <a:endCxn id="11" idx="2"/>
          </p:cNvCxnSpPr>
          <p:nvPr/>
        </p:nvCxnSpPr>
        <p:spPr>
          <a:xfrm flipV="1">
            <a:off x="1774132" y="4264593"/>
            <a:ext cx="738997" cy="109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D32367A6-62E1-5B9F-CFE3-15D75FA9DB1E}"/>
              </a:ext>
            </a:extLst>
          </p:cNvPr>
          <p:cNvCxnSpPr>
            <a:cxnSpLocks/>
            <a:stCxn id="7" idx="6"/>
            <a:endCxn id="15" idx="2"/>
          </p:cNvCxnSpPr>
          <p:nvPr/>
        </p:nvCxnSpPr>
        <p:spPr>
          <a:xfrm>
            <a:off x="1801434" y="4192834"/>
            <a:ext cx="711695" cy="575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CCB01640-7F9F-21EB-50D2-3DD5E43F5477}"/>
              </a:ext>
            </a:extLst>
          </p:cNvPr>
          <p:cNvCxnSpPr>
            <a:cxnSpLocks/>
            <a:stCxn id="8" idx="6"/>
            <a:endCxn id="15" idx="2"/>
          </p:cNvCxnSpPr>
          <p:nvPr/>
        </p:nvCxnSpPr>
        <p:spPr>
          <a:xfrm>
            <a:off x="1811791" y="4611566"/>
            <a:ext cx="701338" cy="156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BA835B61-A29C-ED55-5E24-F2DA7893D302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1785968" y="4861290"/>
            <a:ext cx="713876" cy="94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[R] 32">
            <a:extLst>
              <a:ext uri="{FF2B5EF4-FFF2-40B4-BE49-F238E27FC236}">
                <a16:creationId xmlns:a16="http://schemas.microsoft.com/office/drawing/2014/main" id="{2A90EFD2-13FB-7FE9-46A4-B3B1187AFB81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1801434" y="4871285"/>
            <a:ext cx="698410" cy="5571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[R] 34">
            <a:extLst>
              <a:ext uri="{FF2B5EF4-FFF2-40B4-BE49-F238E27FC236}">
                <a16:creationId xmlns:a16="http://schemas.microsoft.com/office/drawing/2014/main" id="{763309F6-13BA-7713-3341-7292C70EE29C}"/>
              </a:ext>
            </a:extLst>
          </p:cNvPr>
          <p:cNvCxnSpPr>
            <a:cxnSpLocks/>
            <a:stCxn id="7" idx="6"/>
            <a:endCxn id="18" idx="2"/>
          </p:cNvCxnSpPr>
          <p:nvPr/>
        </p:nvCxnSpPr>
        <p:spPr>
          <a:xfrm>
            <a:off x="1801434" y="4192834"/>
            <a:ext cx="711694" cy="1033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E8F77577-035F-8998-B0D2-84F4C1C32509}"/>
              </a:ext>
            </a:extLst>
          </p:cNvPr>
          <p:cNvCxnSpPr>
            <a:cxnSpLocks/>
            <a:stCxn id="8" idx="6"/>
            <a:endCxn id="18" idx="2"/>
          </p:cNvCxnSpPr>
          <p:nvPr/>
        </p:nvCxnSpPr>
        <p:spPr>
          <a:xfrm>
            <a:off x="1811791" y="4611566"/>
            <a:ext cx="701337" cy="615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[R] 43">
            <a:extLst>
              <a:ext uri="{FF2B5EF4-FFF2-40B4-BE49-F238E27FC236}">
                <a16:creationId xmlns:a16="http://schemas.microsoft.com/office/drawing/2014/main" id="{E1F11195-C5ED-B940-3A6E-02D9D57C85C1}"/>
              </a:ext>
            </a:extLst>
          </p:cNvPr>
          <p:cNvCxnSpPr>
            <a:cxnSpLocks/>
            <a:stCxn id="9" idx="7"/>
            <a:endCxn id="18" idx="2"/>
          </p:cNvCxnSpPr>
          <p:nvPr/>
        </p:nvCxnSpPr>
        <p:spPr>
          <a:xfrm>
            <a:off x="1785968" y="4955506"/>
            <a:ext cx="727160" cy="2711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[R] 49">
            <a:extLst>
              <a:ext uri="{FF2B5EF4-FFF2-40B4-BE49-F238E27FC236}">
                <a16:creationId xmlns:a16="http://schemas.microsoft.com/office/drawing/2014/main" id="{788B9477-AF9C-A66E-D3EE-E56A85041E04}"/>
              </a:ext>
            </a:extLst>
          </p:cNvPr>
          <p:cNvCxnSpPr>
            <a:cxnSpLocks/>
            <a:stCxn id="12" idx="6"/>
            <a:endCxn id="18" idx="2"/>
          </p:cNvCxnSpPr>
          <p:nvPr/>
        </p:nvCxnSpPr>
        <p:spPr>
          <a:xfrm flipV="1">
            <a:off x="1801434" y="5226683"/>
            <a:ext cx="711694" cy="2017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CAF3E84-B3B1-DC3B-0597-47BC19DBCE0D}"/>
              </a:ext>
            </a:extLst>
          </p:cNvPr>
          <p:cNvSpPr txBox="1"/>
          <p:nvPr/>
        </p:nvSpPr>
        <p:spPr>
          <a:xfrm>
            <a:off x="1157064" y="5649111"/>
            <a:ext cx="1000217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400" i="1" dirty="0"/>
              <a:t>input</a:t>
            </a:r>
            <a:endParaRPr kumimoji="1" lang="ko-KR" altLang="en-US" sz="1400" i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96431F-7EA4-07D0-2AF3-097AB73D132E}"/>
              </a:ext>
            </a:extLst>
          </p:cNvPr>
          <p:cNvSpPr txBox="1"/>
          <p:nvPr/>
        </p:nvSpPr>
        <p:spPr>
          <a:xfrm>
            <a:off x="2142906" y="5678052"/>
            <a:ext cx="1000217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400" i="1" dirty="0"/>
              <a:t>output</a:t>
            </a:r>
          </a:p>
          <a:p>
            <a:pPr algn="ctr">
              <a:lnSpc>
                <a:spcPct val="120000"/>
              </a:lnSpc>
            </a:pPr>
            <a:r>
              <a:rPr kumimoji="1" lang="en-US" altLang="ko-KR" sz="1400" i="1" dirty="0"/>
              <a:t>layer</a:t>
            </a:r>
            <a:endParaRPr kumimoji="1" lang="ko-KR" altLang="en-US" sz="1400" i="1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CD437F3-AC1B-227C-FC76-F951703A9583}"/>
              </a:ext>
            </a:extLst>
          </p:cNvPr>
          <p:cNvSpPr/>
          <p:nvPr/>
        </p:nvSpPr>
        <p:spPr>
          <a:xfrm>
            <a:off x="266330" y="3634918"/>
            <a:ext cx="11248010" cy="27859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데이터 57">
            <a:extLst>
              <a:ext uri="{FF2B5EF4-FFF2-40B4-BE49-F238E27FC236}">
                <a16:creationId xmlns:a16="http://schemas.microsoft.com/office/drawing/2014/main" id="{51FDB025-7314-51DE-EF46-0D2412D4B948}"/>
              </a:ext>
            </a:extLst>
          </p:cNvPr>
          <p:cNvSpPr/>
          <p:nvPr/>
        </p:nvSpPr>
        <p:spPr>
          <a:xfrm>
            <a:off x="3684234" y="4560373"/>
            <a:ext cx="972112" cy="506414"/>
          </a:xfrm>
          <a:prstGeom prst="flowChartInputOutpu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300" dirty="0" err="1">
                <a:solidFill>
                  <a:schemeClr val="tx1"/>
                </a:solidFill>
              </a:rPr>
              <a:t>Softmax</a:t>
            </a:r>
            <a:endParaRPr kumimoji="1" lang="ko-KR" altLang="en-US" sz="1300" dirty="0">
              <a:solidFill>
                <a:schemeClr val="tx1"/>
              </a:solidFill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982F1EC-3CF7-531F-554F-9994FEE8B74D}"/>
              </a:ext>
            </a:extLst>
          </p:cNvPr>
          <p:cNvCxnSpPr>
            <a:cxnSpLocks/>
          </p:cNvCxnSpPr>
          <p:nvPr/>
        </p:nvCxnSpPr>
        <p:spPr>
          <a:xfrm flipV="1">
            <a:off x="2917054" y="4803917"/>
            <a:ext cx="713913" cy="9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36E288F-D45E-7048-9641-5C90B75B6DA9}"/>
              </a:ext>
            </a:extLst>
          </p:cNvPr>
          <p:cNvCxnSpPr/>
          <p:nvPr/>
        </p:nvCxnSpPr>
        <p:spPr>
          <a:xfrm flipV="1">
            <a:off x="4703316" y="4796552"/>
            <a:ext cx="713913" cy="9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D6987931-956F-F8D8-5279-36DDD737C6E5}"/>
              </a:ext>
            </a:extLst>
          </p:cNvPr>
          <p:cNvSpPr/>
          <p:nvPr/>
        </p:nvSpPr>
        <p:spPr>
          <a:xfrm>
            <a:off x="5557421" y="3903508"/>
            <a:ext cx="1305018" cy="2287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F76970-11DB-AF0A-D8BC-D2B89BD96932}"/>
              </a:ext>
            </a:extLst>
          </p:cNvPr>
          <p:cNvSpPr txBox="1"/>
          <p:nvPr/>
        </p:nvSpPr>
        <p:spPr>
          <a:xfrm>
            <a:off x="5636581" y="4084250"/>
            <a:ext cx="1138192" cy="1989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300" b="1" i="1" dirty="0" err="1">
                <a:solidFill>
                  <a:schemeClr val="accent2"/>
                </a:solidFill>
              </a:rPr>
              <a:t>Setosa</a:t>
            </a:r>
            <a:endParaRPr kumimoji="1" lang="en-US" altLang="ko-KR" sz="1300" b="1" i="1" dirty="0">
              <a:solidFill>
                <a:schemeClr val="accent2"/>
              </a:solidFill>
            </a:endParaRPr>
          </a:p>
          <a:p>
            <a:pPr algn="ctr">
              <a:lnSpc>
                <a:spcPct val="120000"/>
              </a:lnSpc>
            </a:pPr>
            <a:r>
              <a:rPr kumimoji="1" lang="en-US" altLang="ko-KR" sz="1300" b="1" i="1" dirty="0">
                <a:solidFill>
                  <a:schemeClr val="accent2"/>
                </a:solidFill>
              </a:rPr>
              <a:t>0.79</a:t>
            </a:r>
          </a:p>
          <a:p>
            <a:pPr algn="ctr">
              <a:lnSpc>
                <a:spcPct val="120000"/>
              </a:lnSpc>
            </a:pPr>
            <a:endParaRPr kumimoji="1" lang="en-US" altLang="ko-KR" sz="1300" i="1" dirty="0">
              <a:solidFill>
                <a:schemeClr val="accent2"/>
              </a:solidFill>
            </a:endParaRPr>
          </a:p>
          <a:p>
            <a:pPr algn="ctr">
              <a:lnSpc>
                <a:spcPct val="120000"/>
              </a:lnSpc>
            </a:pPr>
            <a:r>
              <a:rPr kumimoji="1" lang="en-US" altLang="ko-KR" sz="1300" i="1" dirty="0"/>
              <a:t>Versicolor 0.20</a:t>
            </a:r>
          </a:p>
          <a:p>
            <a:pPr algn="ctr">
              <a:lnSpc>
                <a:spcPct val="120000"/>
              </a:lnSpc>
            </a:pPr>
            <a:endParaRPr kumimoji="1" lang="en-US" altLang="ko-KR" sz="1300" i="1" dirty="0"/>
          </a:p>
          <a:p>
            <a:pPr algn="ctr">
              <a:lnSpc>
                <a:spcPct val="120000"/>
              </a:lnSpc>
            </a:pPr>
            <a:r>
              <a:rPr kumimoji="1" lang="en-US" altLang="ko-KR" sz="1300" i="1" dirty="0"/>
              <a:t>Virginica</a:t>
            </a:r>
          </a:p>
          <a:p>
            <a:pPr algn="ctr">
              <a:lnSpc>
                <a:spcPct val="120000"/>
              </a:lnSpc>
            </a:pPr>
            <a:r>
              <a:rPr kumimoji="1" lang="en-US" altLang="ko-KR" sz="1300" i="1" dirty="0"/>
              <a:t>0.01</a:t>
            </a:r>
            <a:endParaRPr kumimoji="1" lang="ko-KR" altLang="en-US" sz="1300" i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66DE711-DB68-F00B-22E1-6821563389E9}"/>
              </a:ext>
            </a:extLst>
          </p:cNvPr>
          <p:cNvSpPr txBox="1"/>
          <p:nvPr/>
        </p:nvSpPr>
        <p:spPr>
          <a:xfrm>
            <a:off x="6862439" y="5953254"/>
            <a:ext cx="2015231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300" i="1" dirty="0"/>
              <a:t>*0.79+0.20+0.01 = 1</a:t>
            </a:r>
            <a:endParaRPr kumimoji="1" lang="ko-KR" altLang="en-US" sz="1300" i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8288DC6-F9DA-FD53-77B8-41E555A0BA51}"/>
              </a:ext>
            </a:extLst>
          </p:cNvPr>
          <p:cNvSpPr txBox="1"/>
          <p:nvPr/>
        </p:nvSpPr>
        <p:spPr>
          <a:xfrm>
            <a:off x="7307864" y="4272225"/>
            <a:ext cx="3620547" cy="84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itchFamily="2" charset="2"/>
              <a:buChar char="ü"/>
            </a:pPr>
            <a:r>
              <a:rPr kumimoji="1" lang="en-US" altLang="ko-KR" sz="1400" dirty="0"/>
              <a:t>IRIS </a:t>
            </a:r>
            <a:r>
              <a:rPr kumimoji="1" lang="ko-KR" altLang="en-US" sz="1400" dirty="0"/>
              <a:t>품종분류 예시 </a:t>
            </a:r>
            <a:br>
              <a:rPr kumimoji="1" lang="en-US" altLang="ko-KR" sz="1400" dirty="0"/>
            </a:br>
            <a:r>
              <a:rPr kumimoji="1" lang="en-US" altLang="ko-KR" sz="1400" dirty="0"/>
              <a:t>- </a:t>
            </a:r>
            <a:r>
              <a:rPr kumimoji="1" lang="ko-KR" altLang="en-US" sz="1400" dirty="0"/>
              <a:t>입력된 데이터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건</a:t>
            </a:r>
            <a:r>
              <a:rPr kumimoji="1" lang="en-US" altLang="ko-KR" sz="1400" dirty="0"/>
              <a:t>)</a:t>
            </a:r>
            <a:r>
              <a:rPr kumimoji="1" lang="ko-KR" altLang="en-US" sz="1400" dirty="0"/>
              <a:t>는 </a:t>
            </a:r>
            <a:r>
              <a:rPr kumimoji="1" lang="en-US" altLang="ko-KR" sz="1400" dirty="0" err="1"/>
              <a:t>Setosa</a:t>
            </a:r>
            <a:r>
              <a:rPr kumimoji="1" lang="ko-KR" altLang="en-US" sz="1400" dirty="0"/>
              <a:t>일 확률이 </a:t>
            </a:r>
            <a:br>
              <a:rPr kumimoji="1" lang="en-US" altLang="ko-KR" sz="1400" dirty="0"/>
            </a:br>
            <a:r>
              <a:rPr kumimoji="1" lang="en-US" altLang="ko-KR" sz="1400" dirty="0"/>
              <a:t>   79%</a:t>
            </a:r>
            <a:r>
              <a:rPr kumimoji="1" lang="ko-KR" altLang="en-US" sz="1400" dirty="0"/>
              <a:t>로 가장 높다</a:t>
            </a:r>
            <a:r>
              <a:rPr kumimoji="1" lang="en-US" altLang="ko-KR" sz="1400" dirty="0"/>
              <a:t>. </a:t>
            </a:r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2254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3C1975-3E2C-8280-C686-07228ED4F774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05. Multi Classification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28F9B1C-F667-3A82-DBA8-0D5330378969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</a:t>
            </a:r>
            <a:r>
              <a:rPr kumimoji="1" lang="en-US" altLang="ko-KR" sz="1600" b="1" dirty="0" err="1">
                <a:solidFill>
                  <a:schemeClr val="tx1"/>
                </a:solidFill>
              </a:rPr>
              <a:t>Softmax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함수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BB155-9DA4-D08F-62FB-BFAA1BF72A30}"/>
              </a:ext>
            </a:extLst>
          </p:cNvPr>
          <p:cNvSpPr txBox="1"/>
          <p:nvPr/>
        </p:nvSpPr>
        <p:spPr>
          <a:xfrm>
            <a:off x="390617" y="1509204"/>
            <a:ext cx="11425562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Sigmoid </a:t>
            </a:r>
            <a:r>
              <a:rPr kumimoji="1" lang="ko-KR" altLang="en-US" sz="1400" dirty="0"/>
              <a:t>함수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이진분류</a:t>
            </a:r>
            <a:r>
              <a:rPr kumimoji="1" lang="en-US" altLang="ko-KR" sz="1400" dirty="0"/>
              <a:t>)</a:t>
            </a:r>
            <a:r>
              <a:rPr kumimoji="1" lang="ko-KR" altLang="en-US" sz="1400" dirty="0"/>
              <a:t>는 출력 노드에서 계산한 하나의 </a:t>
            </a:r>
            <a:r>
              <a:rPr kumimoji="1" lang="en-US" altLang="ko-KR" sz="1400" dirty="0"/>
              <a:t>Logit</a:t>
            </a:r>
            <a:r>
              <a:rPr kumimoji="1" lang="ko-KR" altLang="en-US" sz="1400" dirty="0"/>
              <a:t>값을 </a:t>
            </a:r>
            <a:r>
              <a:rPr kumimoji="1" lang="en-US" altLang="ko-KR" sz="1400" dirty="0"/>
              <a:t>0~1</a:t>
            </a:r>
            <a:r>
              <a:rPr kumimoji="1" lang="ko-KR" altLang="en-US" sz="1400" dirty="0"/>
              <a:t>사이의 </a:t>
            </a:r>
            <a:r>
              <a:rPr kumimoji="1" lang="ko-KR" altLang="en-US" sz="1400" dirty="0" err="1"/>
              <a:t>확률값으로</a:t>
            </a:r>
            <a:r>
              <a:rPr kumimoji="1" lang="ko-KR" altLang="en-US" sz="1400" dirty="0"/>
              <a:t> 변환 </a:t>
            </a:r>
            <a:endParaRPr kumimoji="1" lang="en-US" altLang="ko-KR" sz="14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반면 </a:t>
            </a:r>
            <a:r>
              <a:rPr kumimoji="1" lang="en-US" altLang="ko-KR" sz="1400" dirty="0" err="1"/>
              <a:t>Softmax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함수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다중분류</a:t>
            </a:r>
            <a:r>
              <a:rPr kumimoji="1" lang="en-US" altLang="ko-KR" sz="1400" dirty="0"/>
              <a:t>)</a:t>
            </a:r>
            <a:r>
              <a:rPr kumimoji="1" lang="ko-KR" altLang="en-US" sz="1400" dirty="0"/>
              <a:t>는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분류해야 할 범주의 개수만큼 출력 노드를 가지고 있으며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각 노드의 </a:t>
            </a:r>
            <a:r>
              <a:rPr kumimoji="1" lang="en-US" altLang="ko-KR" sz="1400" dirty="0"/>
              <a:t>Logit</a:t>
            </a:r>
            <a:r>
              <a:rPr kumimoji="1" lang="ko-KR" altLang="en-US" sz="1400" dirty="0"/>
              <a:t>값을 각각의 </a:t>
            </a:r>
            <a:r>
              <a:rPr kumimoji="1" lang="ko-KR" altLang="en-US" sz="1400" dirty="0" err="1"/>
              <a:t>확률값으로</a:t>
            </a:r>
            <a:r>
              <a:rPr kumimoji="1" lang="ko-KR" altLang="en-US" sz="1400" dirty="0"/>
              <a:t> 변환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AF5C47F-6E58-5BE4-D368-32E639612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430636"/>
              </p:ext>
            </p:extLst>
          </p:nvPr>
        </p:nvGraphicFramePr>
        <p:xfrm>
          <a:off x="390616" y="2238554"/>
          <a:ext cx="112746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170">
                  <a:extLst>
                    <a:ext uri="{9D8B030D-6E8A-4147-A177-3AD203B41FA5}">
                      <a16:colId xmlns:a16="http://schemas.microsoft.com/office/drawing/2014/main" val="2612354333"/>
                    </a:ext>
                  </a:extLst>
                </a:gridCol>
                <a:gridCol w="1633492">
                  <a:extLst>
                    <a:ext uri="{9D8B030D-6E8A-4147-A177-3AD203B41FA5}">
                      <a16:colId xmlns:a16="http://schemas.microsoft.com/office/drawing/2014/main" val="3032703827"/>
                    </a:ext>
                  </a:extLst>
                </a:gridCol>
                <a:gridCol w="1633491">
                  <a:extLst>
                    <a:ext uri="{9D8B030D-6E8A-4147-A177-3AD203B41FA5}">
                      <a16:colId xmlns:a16="http://schemas.microsoft.com/office/drawing/2014/main" val="2527021638"/>
                    </a:ext>
                  </a:extLst>
                </a:gridCol>
                <a:gridCol w="4536487">
                  <a:extLst>
                    <a:ext uri="{9D8B030D-6E8A-4147-A177-3AD203B41FA5}">
                      <a16:colId xmlns:a16="http://schemas.microsoft.com/office/drawing/2014/main" val="1343526995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Node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Logit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P(x) 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0125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Setoa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1" baseline="0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 altLang="ko-KR" sz="1400" b="0" i="1" baseline="30000" dirty="0">
                          <a:solidFill>
                            <a:schemeClr val="tx1"/>
                          </a:solidFill>
                        </a:rPr>
                        <a:t>2.5</a:t>
                      </a:r>
                      <a:r>
                        <a:rPr lang="en-US" altLang="ko-KR" sz="1400" b="0" i="1" baseline="0" dirty="0">
                          <a:solidFill>
                            <a:schemeClr val="tx1"/>
                          </a:solidFill>
                        </a:rPr>
                        <a:t> / (e2.5+e</a:t>
                      </a:r>
                      <a:r>
                        <a:rPr lang="en-US" altLang="ko-KR" sz="1400" b="0" i="1" baseline="30000" dirty="0">
                          <a:solidFill>
                            <a:schemeClr val="tx1"/>
                          </a:solidFill>
                        </a:rPr>
                        <a:t>1.2</a:t>
                      </a:r>
                      <a:r>
                        <a:rPr lang="en-US" altLang="ko-KR" sz="1400" b="0" i="1" baseline="0" dirty="0">
                          <a:solidFill>
                            <a:schemeClr val="tx1"/>
                          </a:solidFill>
                        </a:rPr>
                        <a:t>+e</a:t>
                      </a:r>
                      <a:r>
                        <a:rPr lang="en-US" altLang="ko-KR" sz="1400" b="0" i="1" baseline="30000" dirty="0">
                          <a:solidFill>
                            <a:schemeClr val="tx1"/>
                          </a:solidFill>
                        </a:rPr>
                        <a:t>-0.5</a:t>
                      </a:r>
                      <a:r>
                        <a:rPr lang="en-US" altLang="ko-KR" sz="1400" b="0" i="1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en-US" altLang="ko-KR" sz="1400" b="0" i="1" dirty="0">
                          <a:solidFill>
                            <a:schemeClr val="tx1"/>
                          </a:solidFill>
                        </a:rPr>
                        <a:t>=  0.79</a:t>
                      </a:r>
                      <a:endParaRPr lang="ko-KR" alt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6253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Versicolor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1" baseline="0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 altLang="ko-KR" sz="1400" b="0" i="1" baseline="30000" dirty="0">
                          <a:solidFill>
                            <a:schemeClr val="tx1"/>
                          </a:solidFill>
                        </a:rPr>
                        <a:t>1.2</a:t>
                      </a:r>
                      <a:r>
                        <a:rPr lang="en-US" altLang="ko-KR" sz="1400" b="0" i="1" baseline="0" dirty="0">
                          <a:solidFill>
                            <a:schemeClr val="tx1"/>
                          </a:solidFill>
                        </a:rPr>
                        <a:t> / (e2.5+e</a:t>
                      </a:r>
                      <a:r>
                        <a:rPr lang="en-US" altLang="ko-KR" sz="1400" b="0" i="1" baseline="30000" dirty="0">
                          <a:solidFill>
                            <a:schemeClr val="tx1"/>
                          </a:solidFill>
                        </a:rPr>
                        <a:t>1.2</a:t>
                      </a:r>
                      <a:r>
                        <a:rPr lang="en-US" altLang="ko-KR" sz="1400" b="0" i="1" baseline="0" dirty="0">
                          <a:solidFill>
                            <a:schemeClr val="tx1"/>
                          </a:solidFill>
                        </a:rPr>
                        <a:t>+e</a:t>
                      </a:r>
                      <a:r>
                        <a:rPr lang="en-US" altLang="ko-KR" sz="1400" b="0" i="1" baseline="30000" dirty="0">
                          <a:solidFill>
                            <a:schemeClr val="tx1"/>
                          </a:solidFill>
                        </a:rPr>
                        <a:t>-0.5</a:t>
                      </a:r>
                      <a:r>
                        <a:rPr lang="en-US" altLang="ko-KR" sz="1400" b="0" i="1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en-US" altLang="ko-KR" sz="1400" b="0" i="1" dirty="0">
                          <a:solidFill>
                            <a:schemeClr val="tx1"/>
                          </a:solidFill>
                        </a:rPr>
                        <a:t>= 0.20</a:t>
                      </a:r>
                      <a:endParaRPr lang="ko-KR" alt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5357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Verginica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-0.5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1" baseline="0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 altLang="ko-KR" sz="1400" b="0" i="1" baseline="30000" dirty="0">
                          <a:solidFill>
                            <a:schemeClr val="tx1"/>
                          </a:solidFill>
                        </a:rPr>
                        <a:t>-0.5</a:t>
                      </a:r>
                      <a:r>
                        <a:rPr lang="en-US" altLang="ko-KR" sz="1400" b="0" i="1" baseline="0" dirty="0">
                          <a:solidFill>
                            <a:schemeClr val="tx1"/>
                          </a:solidFill>
                        </a:rPr>
                        <a:t> / (e2.5+e</a:t>
                      </a:r>
                      <a:r>
                        <a:rPr lang="en-US" altLang="ko-KR" sz="1400" b="0" i="1" baseline="30000" dirty="0">
                          <a:solidFill>
                            <a:schemeClr val="tx1"/>
                          </a:solidFill>
                        </a:rPr>
                        <a:t>1.2</a:t>
                      </a:r>
                      <a:r>
                        <a:rPr lang="en-US" altLang="ko-KR" sz="1400" b="0" i="1" baseline="0" dirty="0">
                          <a:solidFill>
                            <a:schemeClr val="tx1"/>
                          </a:solidFill>
                        </a:rPr>
                        <a:t>+e</a:t>
                      </a:r>
                      <a:r>
                        <a:rPr lang="en-US" altLang="ko-KR" sz="1400" b="0" i="1" baseline="30000" dirty="0">
                          <a:solidFill>
                            <a:schemeClr val="tx1"/>
                          </a:solidFill>
                        </a:rPr>
                        <a:t>-0.5</a:t>
                      </a:r>
                      <a:r>
                        <a:rPr lang="en-US" altLang="ko-KR" sz="1400" b="0" i="1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en-US" altLang="ko-KR" sz="1400" b="0" i="1" dirty="0">
                          <a:solidFill>
                            <a:schemeClr val="tx1"/>
                          </a:solidFill>
                        </a:rPr>
                        <a:t>= 0.01</a:t>
                      </a:r>
                      <a:endParaRPr lang="ko-KR" alt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4803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99E7A9D-3E7E-3A46-A7B7-D4B4AB03D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361" y="2444244"/>
            <a:ext cx="2143958" cy="107197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1851918-666F-8883-794C-75ADD7A63C9F}"/>
              </a:ext>
            </a:extLst>
          </p:cNvPr>
          <p:cNvSpPr/>
          <p:nvPr/>
        </p:nvSpPr>
        <p:spPr>
          <a:xfrm>
            <a:off x="266329" y="3996429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Cross Entropy (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손실함수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)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435450-0874-7C50-7046-FD04849C5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87" y="5077780"/>
            <a:ext cx="22987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9E74CC98-346D-C8C6-1101-FD07FB414A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652586"/>
                  </p:ext>
                </p:extLst>
              </p:nvPr>
            </p:nvGraphicFramePr>
            <p:xfrm>
              <a:off x="5250403" y="4233164"/>
              <a:ext cx="4301970" cy="2331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2125">
                      <a:extLst>
                        <a:ext uri="{9D8B030D-6E8A-4147-A177-3AD203B41FA5}">
                          <a16:colId xmlns:a16="http://schemas.microsoft.com/office/drawing/2014/main" val="3469172091"/>
                        </a:ext>
                      </a:extLst>
                    </a:gridCol>
                    <a:gridCol w="1722268">
                      <a:extLst>
                        <a:ext uri="{9D8B030D-6E8A-4147-A177-3AD203B41FA5}">
                          <a16:colId xmlns:a16="http://schemas.microsoft.com/office/drawing/2014/main" val="2547451959"/>
                        </a:ext>
                      </a:extLst>
                    </a:gridCol>
                    <a:gridCol w="1917577">
                      <a:extLst>
                        <a:ext uri="{9D8B030D-6E8A-4147-A177-3AD203B41FA5}">
                          <a16:colId xmlns:a16="http://schemas.microsoft.com/office/drawing/2014/main" val="1567165704"/>
                        </a:ext>
                      </a:extLst>
                    </a:gridCol>
                  </a:tblGrid>
                  <a:tr h="25805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ko-KR" alt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error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6565691"/>
                      </a:ext>
                    </a:extLst>
                  </a:tr>
                  <a:tr h="17504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[0.1, </a:t>
                          </a:r>
                          <a:r>
                            <a:rPr lang="en-US" altLang="ko-KR" sz="1300" b="0" dirty="0">
                              <a:solidFill>
                                <a:srgbClr val="FF0000"/>
                              </a:solidFill>
                            </a:rPr>
                            <a:t>0.6</a:t>
                          </a: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, 0.3]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-log(0.6) = 0.51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3032050"/>
                      </a:ext>
                    </a:extLst>
                  </a:tr>
                  <a:tr h="17504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[</a:t>
                          </a:r>
                          <a:r>
                            <a:rPr lang="en-US" altLang="ko-KR" sz="1300" b="0" dirty="0">
                              <a:solidFill>
                                <a:srgbClr val="FF0000"/>
                              </a:solidFill>
                            </a:rPr>
                            <a:t>0.3</a:t>
                          </a: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, 0.2, 0.5]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-log(0.3) = 1.20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8466148"/>
                      </a:ext>
                    </a:extLst>
                  </a:tr>
                  <a:tr h="17504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[0.2, 0.4, 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0.4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-log(0.4) = 0.91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31812184"/>
                      </a:ext>
                    </a:extLst>
                  </a:tr>
                  <a:tr h="17504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[0.1, 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0.9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, 0.0]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-log(0.9) = 0.10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90909593"/>
                      </a:ext>
                    </a:extLst>
                  </a:tr>
                  <a:tr h="17504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[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0.7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, 0.1, 0.2]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-log(0.7) = 0.36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4153"/>
                      </a:ext>
                    </a:extLst>
                  </a:tr>
                  <a:tr h="17504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[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0.5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, 0.3, 0.2]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-log(0.5) = 0.69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74672861"/>
                      </a:ext>
                    </a:extLst>
                  </a:tr>
                  <a:tr h="17504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[0.1, 0.1, 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0.8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-log(0.8) = 0.22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5425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9E74CC98-346D-C8C6-1101-FD07FB414A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652586"/>
                  </p:ext>
                </p:extLst>
              </p:nvPr>
            </p:nvGraphicFramePr>
            <p:xfrm>
              <a:off x="5250403" y="4233164"/>
              <a:ext cx="4301970" cy="2331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2125">
                      <a:extLst>
                        <a:ext uri="{9D8B030D-6E8A-4147-A177-3AD203B41FA5}">
                          <a16:colId xmlns:a16="http://schemas.microsoft.com/office/drawing/2014/main" val="3469172091"/>
                        </a:ext>
                      </a:extLst>
                    </a:gridCol>
                    <a:gridCol w="1722268">
                      <a:extLst>
                        <a:ext uri="{9D8B030D-6E8A-4147-A177-3AD203B41FA5}">
                          <a16:colId xmlns:a16="http://schemas.microsoft.com/office/drawing/2014/main" val="2547451959"/>
                        </a:ext>
                      </a:extLst>
                    </a:gridCol>
                    <a:gridCol w="1917577">
                      <a:extLst>
                        <a:ext uri="{9D8B030D-6E8A-4147-A177-3AD203B41FA5}">
                          <a16:colId xmlns:a16="http://schemas.microsoft.com/office/drawing/2014/main" val="156716570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971" t="-4167" r="-112500" b="-6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error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6565691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[0.1, </a:t>
                          </a:r>
                          <a:r>
                            <a:rPr lang="en-US" altLang="ko-KR" sz="1300" b="0" dirty="0">
                              <a:solidFill>
                                <a:srgbClr val="FF0000"/>
                              </a:solidFill>
                            </a:rPr>
                            <a:t>0.6</a:t>
                          </a: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, 0.3]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-log(0.6) = 0.51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3032050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[</a:t>
                          </a:r>
                          <a:r>
                            <a:rPr lang="en-US" altLang="ko-KR" sz="1300" b="0" dirty="0">
                              <a:solidFill>
                                <a:srgbClr val="FF0000"/>
                              </a:solidFill>
                            </a:rPr>
                            <a:t>0.3</a:t>
                          </a:r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, 0.2, 0.5]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-log(0.3) = 1.20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8466148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[0.2, 0.4, 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0.4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-log(0.4) = 0.91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31812184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[0.1, 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0.9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, 0.0]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-log(0.9) = 0.10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90909593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[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0.7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, 0.1, 0.2]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-log(0.7) = 0.36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4153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[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0.5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, 0.3, 0.2]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-log(0.5) = 0.69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74672861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[0.1, 0.1, 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0.8</a:t>
                          </a:r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]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3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맑은 고딕" panose="020F0502020204030204"/>
                              <a:ea typeface="맑은 고딕" panose="020B0503020000020004" pitchFamily="34" charset="-127"/>
                              <a:cs typeface="+mn-cs"/>
                            </a:rPr>
                            <a:t>-log(0.8) = 0.22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5425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8AA2F065-A1AC-FC3D-9CC8-97C75B03A8AF}"/>
              </a:ext>
            </a:extLst>
          </p:cNvPr>
          <p:cNvSpPr/>
          <p:nvPr/>
        </p:nvSpPr>
        <p:spPr>
          <a:xfrm>
            <a:off x="3688733" y="5333699"/>
            <a:ext cx="452762" cy="346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973D7-0555-2BD8-1C8E-010200AD3A36}"/>
              </a:ext>
            </a:extLst>
          </p:cNvPr>
          <p:cNvSpPr txBox="1"/>
          <p:nvPr/>
        </p:nvSpPr>
        <p:spPr>
          <a:xfrm>
            <a:off x="278175" y="4556055"/>
            <a:ext cx="4746586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 err="1"/>
              <a:t>목표값</a:t>
            </a:r>
            <a:r>
              <a:rPr kumimoji="1" lang="en-US" altLang="ko-KR" sz="1400" dirty="0"/>
              <a:t>(y)</a:t>
            </a:r>
            <a:r>
              <a:rPr kumimoji="1" lang="ko-KR" altLang="en-US" sz="1400" dirty="0"/>
              <a:t>와 </a:t>
            </a:r>
            <a:r>
              <a:rPr kumimoji="1" lang="ko-KR" altLang="en-US" sz="1400" dirty="0" err="1"/>
              <a:t>목표값에</a:t>
            </a:r>
            <a:r>
              <a:rPr kumimoji="1" lang="ko-KR" altLang="en-US" sz="1400" dirty="0"/>
              <a:t> 대한 확률을 이용하여 계산</a:t>
            </a:r>
          </a:p>
        </p:txBody>
      </p:sp>
    </p:spTree>
    <p:extLst>
      <p:ext uri="{BB962C8B-B14F-4D97-AF65-F5344CB8AC3E}">
        <p14:creationId xmlns:p14="http://schemas.microsoft.com/office/powerpoint/2010/main" val="1501769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D09717-AB74-F5DF-47C0-E1401BFC044C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05. Multi Classification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8EFCB9-B8BE-014C-8624-443650048526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[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실습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1] Iris 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BCEF6-222D-C286-44AB-5CEB91350B2E}"/>
              </a:ext>
            </a:extLst>
          </p:cNvPr>
          <p:cNvSpPr txBox="1"/>
          <p:nvPr/>
        </p:nvSpPr>
        <p:spPr>
          <a:xfrm>
            <a:off x="337351" y="1544715"/>
            <a:ext cx="10022890" cy="110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Target : </a:t>
            </a:r>
            <a:r>
              <a:rPr lang="en-US" altLang="ko-KR" sz="1400" dirty="0" err="1"/>
              <a:t>Setosa</a:t>
            </a:r>
            <a:r>
              <a:rPr lang="en-US" altLang="ko-KR" sz="1400" dirty="0"/>
              <a:t>=0, Versicolor=1, Virginica=2 (3</a:t>
            </a:r>
            <a:r>
              <a:rPr lang="ko-KR" altLang="en-US" sz="1400" dirty="0"/>
              <a:t>가지 범주로 분류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endParaRPr kumimoji="1" lang="en-US" altLang="ko-KR" sz="1400" dirty="0"/>
          </a:p>
          <a:p>
            <a:pPr>
              <a:lnSpc>
                <a:spcPct val="120000"/>
              </a:lnSpc>
            </a:pPr>
            <a:r>
              <a:rPr kumimoji="1" lang="en-US" altLang="ko-KR" sz="1400" dirty="0"/>
              <a:t>※ </a:t>
            </a:r>
            <a:r>
              <a:rPr kumimoji="1" lang="ko-KR" altLang="en-US" sz="1400" dirty="0"/>
              <a:t>주의 </a:t>
            </a:r>
            <a:r>
              <a:rPr kumimoji="1" lang="en-US" altLang="ko-KR" sz="1400" dirty="0"/>
              <a:t>     </a:t>
            </a:r>
            <a:br>
              <a:rPr kumimoji="1" lang="en-US" altLang="ko-KR" sz="1400" dirty="0"/>
            </a:br>
            <a:r>
              <a:rPr kumimoji="1" lang="en-US" altLang="ko-KR" sz="1400" dirty="0"/>
              <a:t>    - y</a:t>
            </a:r>
            <a:r>
              <a:rPr kumimoji="1" lang="ko-KR" altLang="en-US" sz="1400" dirty="0"/>
              <a:t>값은 앞서 회귀모델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이진분류 모델에서 </a:t>
            </a:r>
            <a:r>
              <a:rPr kumimoji="1" lang="ko-KR" altLang="en-US" sz="1400" dirty="0" err="1"/>
              <a:t>실수형이었던</a:t>
            </a:r>
            <a:r>
              <a:rPr kumimoji="1" lang="ko-KR" altLang="en-US" sz="1400" dirty="0"/>
              <a:t> 것과 달리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다중분류에서는 </a:t>
            </a:r>
            <a:r>
              <a:rPr kumimoji="1" lang="ko-KR" altLang="en-US" sz="1400" dirty="0" err="1"/>
              <a:t>정수값이</a:t>
            </a:r>
            <a:r>
              <a:rPr kumimoji="1" lang="ko-KR" altLang="en-US" sz="1400" dirty="0"/>
              <a:t> 된다</a:t>
            </a:r>
            <a:r>
              <a:rPr kumimoji="1" lang="en-US" altLang="ko-KR" sz="1400" dirty="0"/>
              <a:t>. </a:t>
            </a:r>
            <a:endParaRPr kumimoji="1"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E239E5-622F-55FE-3C3B-C9A30A170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88" y="3174115"/>
            <a:ext cx="7721600" cy="1435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A3CC8EE-91B0-0FFE-F2EB-CE7B99B27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88" y="5003432"/>
            <a:ext cx="7721600" cy="1435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8B70CD-0B74-A865-9A45-21B7D1BFD782}"/>
              </a:ext>
            </a:extLst>
          </p:cNvPr>
          <p:cNvSpPr txBox="1"/>
          <p:nvPr/>
        </p:nvSpPr>
        <p:spPr>
          <a:xfrm>
            <a:off x="450788" y="2815055"/>
            <a:ext cx="2991775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① </a:t>
            </a:r>
            <a:r>
              <a:rPr kumimoji="1" lang="ko-KR" altLang="en-US" sz="1400" dirty="0"/>
              <a:t>이진분류의 </a:t>
            </a:r>
            <a:r>
              <a:rPr kumimoji="1" lang="en-US" altLang="ko-KR" sz="1400" dirty="0" err="1"/>
              <a:t>make_DataSet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함수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3AA28-4471-D518-97B3-4A63FD45BF1E}"/>
              </a:ext>
            </a:extLst>
          </p:cNvPr>
          <p:cNvSpPr txBox="1"/>
          <p:nvPr/>
        </p:nvSpPr>
        <p:spPr>
          <a:xfrm>
            <a:off x="450787" y="4642930"/>
            <a:ext cx="2991775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② </a:t>
            </a:r>
            <a:r>
              <a:rPr kumimoji="1" lang="ko-KR" altLang="en-US" sz="1400" dirty="0"/>
              <a:t>다중분류의 </a:t>
            </a:r>
            <a:r>
              <a:rPr kumimoji="1" lang="en-US" altLang="ko-KR" sz="1400" dirty="0" err="1"/>
              <a:t>make_DataSet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함수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35F9FBD-A8C6-10A1-94D0-FE303812CCA1}"/>
              </a:ext>
            </a:extLst>
          </p:cNvPr>
          <p:cNvSpPr/>
          <p:nvPr/>
        </p:nvSpPr>
        <p:spPr>
          <a:xfrm>
            <a:off x="6897950" y="3616457"/>
            <a:ext cx="1189607" cy="2752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41BE86-28DD-7911-F558-F192495F9A89}"/>
              </a:ext>
            </a:extLst>
          </p:cNvPr>
          <p:cNvSpPr/>
          <p:nvPr/>
        </p:nvSpPr>
        <p:spPr>
          <a:xfrm>
            <a:off x="6517689" y="4058799"/>
            <a:ext cx="1189607" cy="2752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768F8F-3260-9030-937F-E0AC02BA7489}"/>
              </a:ext>
            </a:extLst>
          </p:cNvPr>
          <p:cNvSpPr/>
          <p:nvPr/>
        </p:nvSpPr>
        <p:spPr>
          <a:xfrm>
            <a:off x="4829451" y="5445774"/>
            <a:ext cx="1793289" cy="2752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CC28A0-2061-4C9F-F99A-885ECF119925}"/>
              </a:ext>
            </a:extLst>
          </p:cNvPr>
          <p:cNvSpPr/>
          <p:nvPr/>
        </p:nvSpPr>
        <p:spPr>
          <a:xfrm>
            <a:off x="4387048" y="5891139"/>
            <a:ext cx="1793289" cy="2752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15FD0F6-B2D9-6E01-77A8-9BBD221AA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041011"/>
              </p:ext>
            </p:extLst>
          </p:nvPr>
        </p:nvGraphicFramePr>
        <p:xfrm>
          <a:off x="8461904" y="3833963"/>
          <a:ext cx="3314820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708">
                  <a:extLst>
                    <a:ext uri="{9D8B030D-6E8A-4147-A177-3AD203B41FA5}">
                      <a16:colId xmlns:a16="http://schemas.microsoft.com/office/drawing/2014/main" val="747580671"/>
                    </a:ext>
                  </a:extLst>
                </a:gridCol>
                <a:gridCol w="612559">
                  <a:extLst>
                    <a:ext uri="{9D8B030D-6E8A-4147-A177-3AD203B41FA5}">
                      <a16:colId xmlns:a16="http://schemas.microsoft.com/office/drawing/2014/main" val="300401327"/>
                    </a:ext>
                  </a:extLst>
                </a:gridCol>
                <a:gridCol w="870012">
                  <a:extLst>
                    <a:ext uri="{9D8B030D-6E8A-4147-A177-3AD203B41FA5}">
                      <a16:colId xmlns:a16="http://schemas.microsoft.com/office/drawing/2014/main" val="3242710386"/>
                    </a:ext>
                  </a:extLst>
                </a:gridCol>
                <a:gridCol w="1194541">
                  <a:extLst>
                    <a:ext uri="{9D8B030D-6E8A-4147-A177-3AD203B41FA5}">
                      <a16:colId xmlns:a16="http://schemas.microsoft.com/office/drawing/2014/main" val="759732921"/>
                    </a:ext>
                  </a:extLst>
                </a:gridCol>
              </a:tblGrid>
              <a:tr h="243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</a:rPr>
                        <a:t>목표값</a:t>
                      </a:r>
                      <a:endParaRPr lang="en-US" altLang="ko-KR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손실</a:t>
                      </a:r>
                      <a:endParaRPr lang="en-US" altLang="ko-KR" sz="13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091343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차원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82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회귀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실수</a:t>
                      </a:r>
                      <a:endParaRPr lang="en-US" altLang="ko-KR" sz="13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(float32)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 err="1">
                          <a:solidFill>
                            <a:schemeClr val="tx1"/>
                          </a:solidFill>
                        </a:rPr>
                        <a:t>MSELoss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556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이진</a:t>
                      </a:r>
                      <a:endParaRPr lang="en-US" altLang="ko-KR" sz="13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실수</a:t>
                      </a:r>
                      <a:endParaRPr lang="en-US" altLang="ko-KR" sz="13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(float32)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 err="1">
                          <a:solidFill>
                            <a:schemeClr val="tx1"/>
                          </a:solidFill>
                        </a:rPr>
                        <a:t>BCELoss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156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다중</a:t>
                      </a:r>
                      <a:endParaRPr lang="en-US" altLang="ko-KR" sz="13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정수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(long)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 err="1">
                          <a:solidFill>
                            <a:schemeClr val="tx1"/>
                          </a:solidFill>
                        </a:rPr>
                        <a:t>CrossEntropyLoss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98622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5E1FBD0-0B5E-0EA1-3B4D-ABD15AC73BE5}"/>
              </a:ext>
            </a:extLst>
          </p:cNvPr>
          <p:cNvSpPr txBox="1"/>
          <p:nvPr/>
        </p:nvSpPr>
        <p:spPr>
          <a:xfrm>
            <a:off x="8362766" y="3432281"/>
            <a:ext cx="2180685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※ </a:t>
            </a:r>
            <a:r>
              <a:rPr kumimoji="1" lang="ko-KR" altLang="en-US" sz="1400" dirty="0"/>
              <a:t>문제유형별 </a:t>
            </a:r>
            <a:r>
              <a:rPr kumimoji="1" lang="en-US" altLang="ko-KR" sz="1400" dirty="0"/>
              <a:t>y</a:t>
            </a:r>
            <a:r>
              <a:rPr kumimoji="1" lang="ko-KR" altLang="en-US" sz="1400" dirty="0"/>
              <a:t>의 구조</a:t>
            </a:r>
          </a:p>
        </p:txBody>
      </p:sp>
    </p:spTree>
    <p:extLst>
      <p:ext uri="{BB962C8B-B14F-4D97-AF65-F5344CB8AC3E}">
        <p14:creationId xmlns:p14="http://schemas.microsoft.com/office/powerpoint/2010/main" val="4121405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C9B9FF-10B1-3C47-506E-14F8F438E445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05. Multi Classification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8BFC68-3A76-AECA-133E-454723EDB49D}"/>
              </a:ext>
            </a:extLst>
          </p:cNvPr>
          <p:cNvSpPr txBox="1"/>
          <p:nvPr/>
        </p:nvSpPr>
        <p:spPr>
          <a:xfrm>
            <a:off x="310718" y="896645"/>
            <a:ext cx="857583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Label Encoder : Target</a:t>
            </a:r>
            <a:r>
              <a:rPr kumimoji="1" lang="ko-KR" altLang="en-US" sz="1400" dirty="0"/>
              <a:t>인 </a:t>
            </a:r>
            <a:r>
              <a:rPr lang="en" altLang="ko-KR" sz="1400" b="1" dirty="0"/>
              <a:t>Species</a:t>
            </a:r>
            <a:r>
              <a:rPr kumimoji="1" lang="ko-KR" altLang="en-US" sz="1400" dirty="0"/>
              <a:t>의 범주를 정수로 변환한다</a:t>
            </a:r>
            <a:r>
              <a:rPr kumimoji="1" lang="en-US" altLang="ko-KR" sz="1400" dirty="0"/>
              <a:t>.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(</a:t>
            </a:r>
            <a:r>
              <a:rPr lang="en-US" altLang="ko-KR" sz="1400" dirty="0" err="1"/>
              <a:t>Setosa</a:t>
            </a:r>
            <a:r>
              <a:rPr lang="en-US" altLang="ko-KR" sz="1400" dirty="0"/>
              <a:t>=0, Versicolor=1, Virginica=2) </a:t>
            </a:r>
            <a:endParaRPr kumimoji="1"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5B350C-A6B6-A495-30CC-97C95CD0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25" y="1248624"/>
            <a:ext cx="6883400" cy="990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752AE32-C8BE-1FAB-6F8D-4AF716151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25" y="2642463"/>
            <a:ext cx="6883400" cy="215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E652BB-DB23-15F1-774A-98A49F670DFA}"/>
              </a:ext>
            </a:extLst>
          </p:cNvPr>
          <p:cNvSpPr txBox="1"/>
          <p:nvPr/>
        </p:nvSpPr>
        <p:spPr>
          <a:xfrm>
            <a:off x="310718" y="2265793"/>
            <a:ext cx="857583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Model</a:t>
            </a:r>
            <a:endParaRPr kumimoji="1"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F31127-119F-3B48-5737-F2E9F5372549}"/>
              </a:ext>
            </a:extLst>
          </p:cNvPr>
          <p:cNvSpPr/>
          <p:nvPr/>
        </p:nvSpPr>
        <p:spPr>
          <a:xfrm>
            <a:off x="3441577" y="3566603"/>
            <a:ext cx="1189607" cy="2752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8EB44C1-F064-DE69-D7C5-DEFEA835226C}"/>
              </a:ext>
            </a:extLst>
          </p:cNvPr>
          <p:cNvCxnSpPr>
            <a:stCxn id="7" idx="3"/>
          </p:cNvCxnSpPr>
          <p:nvPr/>
        </p:nvCxnSpPr>
        <p:spPr>
          <a:xfrm>
            <a:off x="4631184" y="3704207"/>
            <a:ext cx="3119022" cy="17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0D01D3-C6B3-7CBD-949D-2EFB457298DE}"/>
              </a:ext>
            </a:extLst>
          </p:cNvPr>
          <p:cNvSpPr txBox="1"/>
          <p:nvPr/>
        </p:nvSpPr>
        <p:spPr>
          <a:xfrm>
            <a:off x="7776839" y="3360538"/>
            <a:ext cx="2753434" cy="54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300" i="1" dirty="0"/>
              <a:t>구분해야 하는 범주가 </a:t>
            </a:r>
            <a:r>
              <a:rPr kumimoji="1" lang="en-US" altLang="ko-KR" sz="1300" i="1" dirty="0"/>
              <a:t>3</a:t>
            </a:r>
            <a:r>
              <a:rPr kumimoji="1" lang="ko-KR" altLang="en-US" sz="1300" i="1" dirty="0"/>
              <a:t>개 이므로</a:t>
            </a:r>
            <a:r>
              <a:rPr kumimoji="1" lang="en-US" altLang="ko-KR" sz="1300" i="1" dirty="0"/>
              <a:t>, </a:t>
            </a:r>
            <a:r>
              <a:rPr kumimoji="1" lang="ko-KR" altLang="en-US" sz="1300" i="1" dirty="0"/>
              <a:t>출력 노드도 </a:t>
            </a:r>
            <a:r>
              <a:rPr kumimoji="1" lang="en-US" altLang="ko-KR" sz="1300" i="1" dirty="0"/>
              <a:t>3</a:t>
            </a:r>
            <a:r>
              <a:rPr kumimoji="1" lang="ko-KR" altLang="en-US" sz="1300" i="1" dirty="0"/>
              <a:t>개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443AB45-0A89-73FD-CC1E-52D3A7DF4492}"/>
              </a:ext>
            </a:extLst>
          </p:cNvPr>
          <p:cNvCxnSpPr>
            <a:cxnSpLocks/>
          </p:cNvCxnSpPr>
          <p:nvPr/>
        </p:nvCxnSpPr>
        <p:spPr>
          <a:xfrm>
            <a:off x="4242046" y="4372683"/>
            <a:ext cx="3508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ED40E39-1C48-572A-6B1B-C8418818FBC1}"/>
              </a:ext>
            </a:extLst>
          </p:cNvPr>
          <p:cNvSpPr txBox="1"/>
          <p:nvPr/>
        </p:nvSpPr>
        <p:spPr>
          <a:xfrm>
            <a:off x="7776839" y="4193055"/>
            <a:ext cx="4332303" cy="532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300" i="1" dirty="0"/>
              <a:t>다중분류를 위해 </a:t>
            </a:r>
            <a:r>
              <a:rPr kumimoji="1" lang="en-US" altLang="ko-KR" sz="1300" i="1" dirty="0" err="1"/>
              <a:t>CrossEntropyLoss</a:t>
            </a:r>
            <a:r>
              <a:rPr kumimoji="1" lang="en-US" altLang="ko-KR" sz="1300" i="1" dirty="0"/>
              <a:t>() </a:t>
            </a:r>
            <a:r>
              <a:rPr kumimoji="1" lang="ko-KR" altLang="en-US" sz="1300" i="1" dirty="0"/>
              <a:t>사용 </a:t>
            </a:r>
            <a:br>
              <a:rPr kumimoji="1" lang="en-US" altLang="ko-KR" sz="1300" i="1" dirty="0"/>
            </a:br>
            <a:r>
              <a:rPr kumimoji="1" lang="en-US" altLang="ko-KR" sz="1200" i="1" dirty="0"/>
              <a:t>※ </a:t>
            </a:r>
            <a:r>
              <a:rPr kumimoji="1" lang="en-US" altLang="ko-KR" sz="1200" i="1" dirty="0" err="1"/>
              <a:t>CrossEntropyLoss</a:t>
            </a:r>
            <a:r>
              <a:rPr kumimoji="1" lang="en-US" altLang="ko-KR" sz="1200" i="1" dirty="0"/>
              <a:t>()</a:t>
            </a:r>
            <a:r>
              <a:rPr kumimoji="1" lang="ko-KR" altLang="en-US" sz="1200" i="1" dirty="0"/>
              <a:t> 함수는 </a:t>
            </a:r>
            <a:r>
              <a:rPr kumimoji="1" lang="en-US" altLang="ko-KR" sz="1200" i="1" dirty="0" err="1"/>
              <a:t>Softmax</a:t>
            </a:r>
            <a:r>
              <a:rPr kumimoji="1" lang="en-US" altLang="ko-KR" sz="1200" i="1" dirty="0"/>
              <a:t> </a:t>
            </a:r>
            <a:r>
              <a:rPr kumimoji="1" lang="ko-KR" altLang="en-US" sz="1200" i="1" dirty="0"/>
              <a:t>연산을 포함하고 있다</a:t>
            </a:r>
            <a:r>
              <a:rPr kumimoji="1" lang="en-US" altLang="ko-KR" sz="1200" i="1" dirty="0"/>
              <a:t>. </a:t>
            </a:r>
            <a:endParaRPr kumimoji="1" lang="ko-KR" altLang="en-US" sz="1200" i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7BC108E-3451-49A5-70E9-6720A4279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81" y="5113907"/>
            <a:ext cx="6883400" cy="1498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FDA36F0-BD8D-EBFA-871F-E471EDBCCC4F}"/>
              </a:ext>
            </a:extLst>
          </p:cNvPr>
          <p:cNvSpPr txBox="1"/>
          <p:nvPr/>
        </p:nvSpPr>
        <p:spPr>
          <a:xfrm>
            <a:off x="343269" y="4793456"/>
            <a:ext cx="857583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argmax</a:t>
            </a:r>
            <a:endParaRPr kumimoji="1" lang="ko-KR" altLang="en-US" sz="14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D9E41C2-F4AD-A321-EFEF-687C6B4D3BF7}"/>
              </a:ext>
            </a:extLst>
          </p:cNvPr>
          <p:cNvCxnSpPr>
            <a:cxnSpLocks/>
          </p:cNvCxnSpPr>
          <p:nvPr/>
        </p:nvCxnSpPr>
        <p:spPr>
          <a:xfrm>
            <a:off x="5086904" y="5767956"/>
            <a:ext cx="2689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CFF8990-6D17-B227-4746-BC353A4600DF}"/>
              </a:ext>
            </a:extLst>
          </p:cNvPr>
          <p:cNvSpPr txBox="1"/>
          <p:nvPr/>
        </p:nvSpPr>
        <p:spPr>
          <a:xfrm>
            <a:off x="7750206" y="5444177"/>
            <a:ext cx="3900380" cy="79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300" i="1" dirty="0"/>
              <a:t>evaluate(</a:t>
            </a:r>
            <a:r>
              <a:rPr kumimoji="1" lang="ko-KR" altLang="en-US" sz="1300" i="1" dirty="0"/>
              <a:t>검증</a:t>
            </a:r>
            <a:r>
              <a:rPr kumimoji="1" lang="en-US" altLang="ko-KR" sz="1300" i="1" dirty="0"/>
              <a:t>)</a:t>
            </a:r>
            <a:r>
              <a:rPr kumimoji="1" lang="ko-KR" altLang="en-US" sz="1300" i="1" dirty="0"/>
              <a:t>함수를 통한 </a:t>
            </a:r>
            <a:r>
              <a:rPr kumimoji="1" lang="ko-KR" altLang="en-US" sz="1300" i="1" dirty="0" err="1"/>
              <a:t>예측값은</a:t>
            </a:r>
            <a:r>
              <a:rPr kumimoji="1" lang="ko-KR" altLang="en-US" sz="1300" i="1" dirty="0"/>
              <a:t> </a:t>
            </a:r>
            <a:br>
              <a:rPr kumimoji="1" lang="en-US" altLang="ko-KR" sz="1300" i="1" dirty="0"/>
            </a:br>
            <a:r>
              <a:rPr kumimoji="1" lang="ko-KR" altLang="en-US" sz="1300" i="1" dirty="0"/>
              <a:t>각 범주에 대한 </a:t>
            </a:r>
            <a:r>
              <a:rPr kumimoji="1" lang="en-US" altLang="ko-KR" sz="1300" i="1" dirty="0"/>
              <a:t>logit</a:t>
            </a:r>
            <a:r>
              <a:rPr kumimoji="1" lang="ko-KR" altLang="en-US" sz="1300" i="1" dirty="0"/>
              <a:t>값 </a:t>
            </a:r>
            <a:endParaRPr kumimoji="1" lang="en-US" altLang="ko-KR" sz="1300" i="1" dirty="0"/>
          </a:p>
          <a:p>
            <a:pPr algn="l">
              <a:lnSpc>
                <a:spcPct val="120000"/>
              </a:lnSpc>
            </a:pPr>
            <a:r>
              <a:rPr kumimoji="1" lang="en-US" altLang="ko-KR" sz="1300" i="1" dirty="0">
                <a:sym typeface="Wingdings" pitchFamily="2" charset="2"/>
              </a:rPr>
              <a:t></a:t>
            </a:r>
            <a:r>
              <a:rPr kumimoji="1" lang="ko-KR" altLang="en-US" sz="1300" i="1" dirty="0">
                <a:sym typeface="Wingdings" pitchFamily="2" charset="2"/>
              </a:rPr>
              <a:t> </a:t>
            </a:r>
            <a:r>
              <a:rPr kumimoji="1" lang="en-US" altLang="ko-KR" sz="1300" i="1" dirty="0">
                <a:sym typeface="Wingdings" pitchFamily="2" charset="2"/>
              </a:rPr>
              <a:t>Argmax </a:t>
            </a:r>
            <a:r>
              <a:rPr kumimoji="1" lang="ko-KR" altLang="en-US" sz="1300" i="1" dirty="0">
                <a:sym typeface="Wingdings" pitchFamily="2" charset="2"/>
              </a:rPr>
              <a:t>함수로 가장 확률이 높은 범주 표시</a:t>
            </a:r>
            <a:endParaRPr kumimoji="1" lang="ko-KR" altLang="en-US" sz="1300" i="1" dirty="0"/>
          </a:p>
        </p:txBody>
      </p:sp>
    </p:spTree>
    <p:extLst>
      <p:ext uri="{BB962C8B-B14F-4D97-AF65-F5344CB8AC3E}">
        <p14:creationId xmlns:p14="http://schemas.microsoft.com/office/powerpoint/2010/main" val="349563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400315-C77C-6DD2-9EDC-C3A3E3BE3E82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05. Multi Classification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752F15-E74C-DA3C-33A1-59C91ED10AA0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[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실습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2] MNIST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2B44E-E57D-7BFC-EB14-AF73033F9D55}"/>
              </a:ext>
            </a:extLst>
          </p:cNvPr>
          <p:cNvSpPr txBox="1"/>
          <p:nvPr/>
        </p:nvSpPr>
        <p:spPr>
          <a:xfrm>
            <a:off x="337351" y="1544715"/>
            <a:ext cx="731520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손 글씨 이미지에 대한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숫자 분류 문제  </a:t>
            </a:r>
            <a:endParaRPr kumimoji="1"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EE2B69-D681-A05F-9EE5-1920FCFAA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717" y="954905"/>
            <a:ext cx="2019547" cy="2075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3AA2CF-5109-2ADE-98D4-A61741BF5CEF}"/>
              </a:ext>
            </a:extLst>
          </p:cNvPr>
          <p:cNvSpPr txBox="1"/>
          <p:nvPr/>
        </p:nvSpPr>
        <p:spPr>
          <a:xfrm>
            <a:off x="337351" y="2017853"/>
            <a:ext cx="8300621" cy="110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MNIST </a:t>
            </a:r>
            <a:r>
              <a:rPr kumimoji="1" lang="ko-KR" altLang="en-US" sz="1400" dirty="0"/>
              <a:t>데이터 다운로드 </a:t>
            </a:r>
            <a:br>
              <a:rPr kumimoji="1" lang="en-US" altLang="ko-KR" sz="1400" dirty="0"/>
            </a:br>
            <a:r>
              <a:rPr kumimoji="1" lang="en-US" altLang="ko-KR" sz="1400" dirty="0"/>
              <a:t>- MNIST</a:t>
            </a:r>
            <a:r>
              <a:rPr kumimoji="1" lang="ko-KR" altLang="en-US" sz="1400" dirty="0"/>
              <a:t>는 </a:t>
            </a:r>
            <a:r>
              <a:rPr kumimoji="1" lang="en-US" altLang="ko-KR" sz="1400" dirty="0"/>
              <a:t>train data 6</a:t>
            </a:r>
            <a:r>
              <a:rPr kumimoji="1" lang="ko-KR" altLang="en-US" sz="1400" dirty="0"/>
              <a:t>만개와 </a:t>
            </a:r>
            <a:r>
              <a:rPr kumimoji="1" lang="en-US" altLang="ko-KR" sz="1400" dirty="0"/>
              <a:t>test data 1</a:t>
            </a:r>
            <a:r>
              <a:rPr kumimoji="1" lang="ko-KR" altLang="en-US" sz="1400" dirty="0"/>
              <a:t>만개로 이루어져 있다</a:t>
            </a:r>
            <a:r>
              <a:rPr kumimoji="1" lang="en-US" altLang="ko-KR" sz="1400" dirty="0"/>
              <a:t>. (</a:t>
            </a:r>
            <a:r>
              <a:rPr kumimoji="1" lang="ko-KR" altLang="en-US" sz="1400" dirty="0"/>
              <a:t>각각의 이미지는 </a:t>
            </a:r>
            <a:r>
              <a:rPr kumimoji="1" lang="en-US" altLang="ko-KR" sz="1400" dirty="0"/>
              <a:t>28x28 </a:t>
            </a:r>
            <a:r>
              <a:rPr kumimoji="1" lang="ko-KR" altLang="en-US" sz="1400" dirty="0"/>
              <a:t>픽셀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- </a:t>
            </a:r>
            <a:r>
              <a:rPr kumimoji="1" lang="en-US" altLang="ko-KR" sz="1400" dirty="0" err="1"/>
              <a:t>Pytorch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내장 데이터셋으로 제공되며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아래 코드로 다운받을 수 있다</a:t>
            </a:r>
            <a:r>
              <a:rPr kumimoji="1" lang="en-US" altLang="ko-KR" sz="1400" dirty="0"/>
              <a:t>. </a:t>
            </a:r>
            <a:br>
              <a:rPr kumimoji="1" lang="en-US" altLang="ko-KR" sz="1400" dirty="0"/>
            </a:br>
            <a:r>
              <a:rPr kumimoji="1" lang="en-US" altLang="ko-KR" sz="1400" dirty="0"/>
              <a:t>  (※ </a:t>
            </a:r>
            <a:r>
              <a:rPr kumimoji="1" lang="en-US" altLang="ko-KR" sz="1400" dirty="0" err="1"/>
              <a:t>colab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사용시 </a:t>
            </a:r>
            <a:r>
              <a:rPr kumimoji="1" lang="en-US" altLang="ko-KR" sz="1400" dirty="0"/>
              <a:t>data &gt; MNIST &gt; Raw </a:t>
            </a:r>
            <a:r>
              <a:rPr kumimoji="1" lang="ko-KR" altLang="en-US" sz="1400" dirty="0"/>
              <a:t>폴더 생성</a:t>
            </a:r>
            <a:r>
              <a:rPr kumimoji="1" lang="en-US" altLang="ko-KR" sz="1400" dirty="0"/>
              <a:t>&amp;</a:t>
            </a:r>
            <a:r>
              <a:rPr kumimoji="1" lang="ko-KR" altLang="en-US" sz="1400" dirty="0"/>
              <a:t>저장됨</a:t>
            </a:r>
            <a:r>
              <a:rPr kumimoji="1" lang="en-US" altLang="ko-KR" sz="1400" dirty="0"/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8A32A16-F43A-B2FF-2F40-6D2357D03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52" y="3195221"/>
            <a:ext cx="5310450" cy="3321856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D2F0220-613A-A03A-80FA-2302C1C070B2}"/>
              </a:ext>
            </a:extLst>
          </p:cNvPr>
          <p:cNvCxnSpPr/>
          <p:nvPr/>
        </p:nvCxnSpPr>
        <p:spPr>
          <a:xfrm>
            <a:off x="2570085" y="4181383"/>
            <a:ext cx="38040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397BFC-8B4E-1F1F-04AB-4755CA10E028}"/>
              </a:ext>
            </a:extLst>
          </p:cNvPr>
          <p:cNvSpPr txBox="1"/>
          <p:nvPr/>
        </p:nvSpPr>
        <p:spPr>
          <a:xfrm>
            <a:off x="6445187" y="4009832"/>
            <a:ext cx="2725443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dirty="0"/>
              <a:t>데이터가 저장될 폴더 이름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09E14AC-4ACE-EC42-2CB2-679315748270}"/>
              </a:ext>
            </a:extLst>
          </p:cNvPr>
          <p:cNvCxnSpPr>
            <a:cxnSpLocks/>
          </p:cNvCxnSpPr>
          <p:nvPr/>
        </p:nvCxnSpPr>
        <p:spPr>
          <a:xfrm>
            <a:off x="3280977" y="4759914"/>
            <a:ext cx="31568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2454C7A-6E7B-A3AD-E6CD-B1030B15B6A3}"/>
              </a:ext>
            </a:extLst>
          </p:cNvPr>
          <p:cNvSpPr txBox="1"/>
          <p:nvPr/>
        </p:nvSpPr>
        <p:spPr>
          <a:xfrm>
            <a:off x="6508810" y="4588363"/>
            <a:ext cx="2725443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dirty="0"/>
              <a:t>데이터를 </a:t>
            </a:r>
            <a:r>
              <a:rPr kumimoji="1" lang="ko-KR" altLang="en-US" sz="1400" dirty="0" err="1"/>
              <a:t>텐서로</a:t>
            </a:r>
            <a:r>
              <a:rPr kumimoji="1" lang="ko-KR" altLang="en-US" sz="1400" dirty="0"/>
              <a:t> 변환 </a:t>
            </a:r>
          </a:p>
        </p:txBody>
      </p:sp>
      <p:cxnSp>
        <p:nvCxnSpPr>
          <p:cNvPr id="16" name="꺾인 연결선[E] 15">
            <a:extLst>
              <a:ext uri="{FF2B5EF4-FFF2-40B4-BE49-F238E27FC236}">
                <a16:creationId xmlns:a16="http://schemas.microsoft.com/office/drawing/2014/main" id="{89ED6C06-7AA2-6343-6B09-1EDDA9841040}"/>
              </a:ext>
            </a:extLst>
          </p:cNvPr>
          <p:cNvCxnSpPr/>
          <p:nvPr/>
        </p:nvCxnSpPr>
        <p:spPr>
          <a:xfrm>
            <a:off x="2570085" y="4335177"/>
            <a:ext cx="4540929" cy="12755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[E] 16">
            <a:extLst>
              <a:ext uri="{FF2B5EF4-FFF2-40B4-BE49-F238E27FC236}">
                <a16:creationId xmlns:a16="http://schemas.microsoft.com/office/drawing/2014/main" id="{FDC04980-2DE2-6671-0165-23A62FB762D8}"/>
              </a:ext>
            </a:extLst>
          </p:cNvPr>
          <p:cNvCxnSpPr>
            <a:cxnSpLocks/>
          </p:cNvCxnSpPr>
          <p:nvPr/>
        </p:nvCxnSpPr>
        <p:spPr>
          <a:xfrm flipV="1">
            <a:off x="2570085" y="5610687"/>
            <a:ext cx="4540929" cy="1537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484A239-8D10-090A-D117-25C0B04FF684}"/>
              </a:ext>
            </a:extLst>
          </p:cNvPr>
          <p:cNvSpPr txBox="1"/>
          <p:nvPr/>
        </p:nvSpPr>
        <p:spPr>
          <a:xfrm>
            <a:off x="7202747" y="5399230"/>
            <a:ext cx="2725443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train </a:t>
            </a:r>
            <a:r>
              <a:rPr kumimoji="1" lang="ko-KR" altLang="en-US" sz="1400" dirty="0"/>
              <a:t>또는 </a:t>
            </a:r>
            <a:r>
              <a:rPr kumimoji="1" lang="en-US" altLang="ko-KR" sz="1400" dirty="0"/>
              <a:t>test </a:t>
            </a:r>
            <a:r>
              <a:rPr kumimoji="1" lang="ko-KR" altLang="en-US" sz="1400" dirty="0"/>
              <a:t>데이터셋 저장</a:t>
            </a:r>
          </a:p>
        </p:txBody>
      </p:sp>
    </p:spTree>
    <p:extLst>
      <p:ext uri="{BB962C8B-B14F-4D97-AF65-F5344CB8AC3E}">
        <p14:creationId xmlns:p14="http://schemas.microsoft.com/office/powerpoint/2010/main" val="387559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64AB43-996B-0364-2FC1-1B7678D445DA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05. Multi Classification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8DDC7-EAA1-0535-74FC-5EA38287AED0}"/>
              </a:ext>
            </a:extLst>
          </p:cNvPr>
          <p:cNvSpPr txBox="1"/>
          <p:nvPr/>
        </p:nvSpPr>
        <p:spPr>
          <a:xfrm>
            <a:off x="310718" y="896645"/>
            <a:ext cx="857583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이미지 데이터 정규화 </a:t>
            </a:r>
            <a:r>
              <a:rPr kumimoji="1" lang="en-US" altLang="ko-KR" sz="1400" dirty="0"/>
              <a:t>: 0~255</a:t>
            </a:r>
            <a:r>
              <a:rPr kumimoji="1" lang="ko-KR" altLang="en-US" sz="1400" dirty="0"/>
              <a:t>의 값을 가진 흑백 이미지이므로</a:t>
            </a:r>
            <a:r>
              <a:rPr kumimoji="1" lang="en-US" altLang="ko-KR" sz="1400" dirty="0"/>
              <a:t>, 255</a:t>
            </a:r>
            <a:r>
              <a:rPr kumimoji="1" lang="ko-KR" altLang="en-US" sz="1400" dirty="0"/>
              <a:t>로 나눈다</a:t>
            </a:r>
            <a:r>
              <a:rPr kumimoji="1" lang="en-US" altLang="ko-KR" sz="1400" dirty="0"/>
              <a:t>. </a:t>
            </a:r>
            <a:endParaRPr kumimoji="1"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C3F869-BE09-D177-B599-D62975E95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86" y="1291639"/>
            <a:ext cx="5969000" cy="546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A22095-9C69-197A-5952-D2009BBF7577}"/>
              </a:ext>
            </a:extLst>
          </p:cNvPr>
          <p:cNvSpPr txBox="1"/>
          <p:nvPr/>
        </p:nvSpPr>
        <p:spPr>
          <a:xfrm>
            <a:off x="310718" y="1944275"/>
            <a:ext cx="8575830" cy="84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입력 데이터 차원 변경 </a:t>
            </a:r>
            <a:br>
              <a:rPr kumimoji="1" lang="en-US" altLang="ko-KR" sz="1400" dirty="0"/>
            </a:br>
            <a:r>
              <a:rPr kumimoji="1" lang="en-US" altLang="ko-KR" sz="1400" dirty="0"/>
              <a:t>- </a:t>
            </a:r>
            <a:r>
              <a:rPr kumimoji="1" lang="ko-KR" altLang="en-US" sz="1400" dirty="0"/>
              <a:t>컬러 이미지의 경우 </a:t>
            </a:r>
            <a:r>
              <a:rPr kumimoji="1" lang="en-US" altLang="ko-KR" sz="1400" dirty="0"/>
              <a:t>[</a:t>
            </a:r>
            <a:r>
              <a:rPr kumimoji="1" lang="ko-KR" altLang="en-US" sz="1400" dirty="0"/>
              <a:t>데이터 개수</a:t>
            </a:r>
            <a:r>
              <a:rPr kumimoji="1" lang="en-US" altLang="ko-KR" sz="1400" dirty="0"/>
              <a:t>, </a:t>
            </a:r>
            <a:r>
              <a:rPr kumimoji="1" lang="ko-KR" altLang="en-US" sz="1400" dirty="0" err="1"/>
              <a:t>채널수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가로 </a:t>
            </a:r>
            <a:r>
              <a:rPr kumimoji="1" lang="ko-KR" altLang="en-US" sz="1400" dirty="0" err="1"/>
              <a:t>픽셀수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세로 </a:t>
            </a:r>
            <a:r>
              <a:rPr kumimoji="1" lang="ko-KR" altLang="en-US" sz="1400" dirty="0" err="1"/>
              <a:t>픽셀수</a:t>
            </a:r>
            <a:r>
              <a:rPr kumimoji="1" lang="en-US" altLang="ko-KR" sz="1400" dirty="0"/>
              <a:t>]</a:t>
            </a:r>
            <a:r>
              <a:rPr kumimoji="1" lang="ko-KR" altLang="en-US" sz="1400" dirty="0"/>
              <a:t>의 </a:t>
            </a:r>
            <a:r>
              <a:rPr kumimoji="1" lang="en-US" altLang="ko-KR" sz="1400" dirty="0"/>
              <a:t>4</a:t>
            </a:r>
            <a:r>
              <a:rPr kumimoji="1" lang="ko-KR" altLang="en-US" sz="1400" dirty="0"/>
              <a:t>차원 형태 </a:t>
            </a:r>
            <a:br>
              <a:rPr kumimoji="1" lang="en-US" altLang="ko-KR" sz="1400" dirty="0"/>
            </a:br>
            <a:r>
              <a:rPr kumimoji="1" lang="en-US" altLang="ko-KR" sz="1400" dirty="0"/>
              <a:t>- MNIST</a:t>
            </a:r>
            <a:r>
              <a:rPr kumimoji="1" lang="ko-KR" altLang="en-US" sz="1400" dirty="0"/>
              <a:t>는 흑백 이미지로 </a:t>
            </a:r>
            <a:r>
              <a:rPr kumimoji="1" lang="en-US" altLang="ko-KR" sz="1400" dirty="0"/>
              <a:t>3</a:t>
            </a:r>
            <a:r>
              <a:rPr kumimoji="1" lang="ko-KR" altLang="en-US" sz="1400" dirty="0"/>
              <a:t>차원 </a:t>
            </a:r>
            <a:r>
              <a:rPr kumimoji="1" lang="en-US" altLang="ko-KR" sz="1400" dirty="0">
                <a:sym typeface="Wingdings" pitchFamily="2" charset="2"/>
              </a:rPr>
              <a:t> 4</a:t>
            </a:r>
            <a:r>
              <a:rPr kumimoji="1" lang="ko-KR" altLang="en-US" sz="1400" dirty="0">
                <a:sym typeface="Wingdings" pitchFamily="2" charset="2"/>
              </a:rPr>
              <a:t>차원으로 변경</a:t>
            </a:r>
            <a:endParaRPr kumimoji="1"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8BE97FA-6511-C4BF-13F6-13D1DDD1C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86" y="2786685"/>
            <a:ext cx="6070600" cy="114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DCAF66-2366-10A4-E04B-2B0623B5DD22}"/>
              </a:ext>
            </a:extLst>
          </p:cNvPr>
          <p:cNvSpPr txBox="1"/>
          <p:nvPr/>
        </p:nvSpPr>
        <p:spPr>
          <a:xfrm>
            <a:off x="303319" y="4094153"/>
            <a:ext cx="8575830" cy="84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Flatten() </a:t>
            </a:r>
            <a:r>
              <a:rPr kumimoji="1" lang="ko-KR" altLang="en-US" sz="1400" dirty="0"/>
              <a:t>함수</a:t>
            </a:r>
            <a:br>
              <a:rPr kumimoji="1" lang="en-US" altLang="ko-KR" sz="1400" dirty="0"/>
            </a:br>
            <a:r>
              <a:rPr kumimoji="1" lang="en-US" altLang="ko-KR" sz="1400" dirty="0"/>
              <a:t>- </a:t>
            </a:r>
            <a:r>
              <a:rPr kumimoji="1" lang="ko-KR" altLang="en-US" sz="1400" dirty="0"/>
              <a:t>일반적인 신경망</a:t>
            </a:r>
            <a:r>
              <a:rPr kumimoji="1" lang="en-US" altLang="ko-KR" sz="1400" dirty="0"/>
              <a:t>(</a:t>
            </a:r>
            <a:r>
              <a:rPr kumimoji="1" lang="en-US" altLang="ko-KR" sz="1400" dirty="0" err="1"/>
              <a:t>nn.Linear</a:t>
            </a:r>
            <a:r>
              <a:rPr kumimoji="1" lang="en-US" altLang="ko-KR" sz="1400" dirty="0"/>
              <a:t>())</a:t>
            </a:r>
            <a:r>
              <a:rPr kumimoji="1" lang="ko-KR" altLang="en-US" sz="1400" dirty="0" err="1"/>
              <a:t>에</a:t>
            </a:r>
            <a:r>
              <a:rPr kumimoji="1" lang="ko-KR" altLang="en-US" sz="1400" dirty="0"/>
              <a:t> 대한 </a:t>
            </a:r>
            <a:r>
              <a:rPr kumimoji="1" lang="ko-KR" altLang="en-US" sz="1400" dirty="0" err="1"/>
              <a:t>입력값</a:t>
            </a:r>
            <a:r>
              <a:rPr kumimoji="1" lang="ko-KR" altLang="en-US" sz="1400" dirty="0"/>
              <a:t> 형태는 </a:t>
            </a:r>
            <a:r>
              <a:rPr kumimoji="1" lang="en-US" altLang="ko-KR" sz="1400" dirty="0"/>
              <a:t>1</a:t>
            </a:r>
            <a:r>
              <a:rPr kumimoji="1" lang="ko-KR" altLang="en-US" sz="1400" dirty="0"/>
              <a:t>차원 벡터 </a:t>
            </a:r>
            <a:br>
              <a:rPr kumimoji="1" lang="en-US" altLang="ko-KR" sz="1400" dirty="0"/>
            </a:br>
            <a:r>
              <a:rPr kumimoji="1" lang="en-US" altLang="ko-KR" sz="1400" dirty="0"/>
              <a:t>- </a:t>
            </a:r>
            <a:r>
              <a:rPr kumimoji="1" lang="ko-KR" altLang="en-US" sz="1400" dirty="0"/>
              <a:t>데이터 형태를 </a:t>
            </a:r>
            <a:r>
              <a:rPr kumimoji="1" lang="en-US" altLang="ko-KR" sz="1400" dirty="0"/>
              <a:t>[1, 28, 28]  </a:t>
            </a:r>
            <a:r>
              <a:rPr kumimoji="1" lang="en-US" altLang="ko-KR" sz="1400" dirty="0">
                <a:sym typeface="Wingdings" pitchFamily="2" charset="2"/>
              </a:rPr>
              <a:t> [1, 28x28 = 784] </a:t>
            </a:r>
            <a:r>
              <a:rPr kumimoji="1" lang="ko-KR" altLang="en-US" sz="1400" dirty="0">
                <a:sym typeface="Wingdings" pitchFamily="2" charset="2"/>
              </a:rPr>
              <a:t>형태로 변환 </a:t>
            </a:r>
            <a:endParaRPr kumimoji="1" lang="ko-KR" altLang="en-US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882B19-CA1E-8F47-C16E-CAE7F275A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86" y="4936563"/>
            <a:ext cx="6070600" cy="10287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22BB1F1-A2C9-C119-F210-69A41281640E}"/>
              </a:ext>
            </a:extLst>
          </p:cNvPr>
          <p:cNvSpPr/>
          <p:nvPr/>
        </p:nvSpPr>
        <p:spPr>
          <a:xfrm>
            <a:off x="7324078" y="3929685"/>
            <a:ext cx="4295436" cy="2027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400" dirty="0">
                <a:solidFill>
                  <a:schemeClr val="tx1"/>
                </a:solidFill>
              </a:rPr>
              <a:t>※ </a:t>
            </a:r>
            <a:r>
              <a:rPr kumimoji="1" lang="ko-KR" altLang="en-US" sz="1400" dirty="0">
                <a:solidFill>
                  <a:schemeClr val="tx1"/>
                </a:solidFill>
              </a:rPr>
              <a:t>참고</a:t>
            </a:r>
            <a:br>
              <a:rPr kumimoji="1" lang="en-US" altLang="ko-KR" sz="1400" dirty="0">
                <a:solidFill>
                  <a:schemeClr val="tx1"/>
                </a:solidFill>
              </a:rPr>
            </a:br>
            <a:endParaRPr kumimoji="1" lang="en-US" altLang="ko-KR" sz="1400" dirty="0">
              <a:solidFill>
                <a:schemeClr val="tx1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kumimoji="1" lang="en-US" altLang="ko-KR" sz="1400" dirty="0">
                <a:solidFill>
                  <a:schemeClr val="tx1"/>
                </a:solidFill>
              </a:rPr>
              <a:t>Linear</a:t>
            </a:r>
            <a:r>
              <a:rPr kumimoji="1" lang="ko-KR" altLang="en-US" sz="1400" dirty="0">
                <a:solidFill>
                  <a:schemeClr val="tx1"/>
                </a:solidFill>
              </a:rPr>
              <a:t> 모델에 입력하기 위한 </a:t>
            </a:r>
            <a:r>
              <a:rPr kumimoji="1" lang="en-US" altLang="ko-KR" sz="1400" dirty="0">
                <a:solidFill>
                  <a:schemeClr val="tx1"/>
                </a:solidFill>
              </a:rPr>
              <a:t>1</a:t>
            </a:r>
            <a:r>
              <a:rPr kumimoji="1" lang="ko-KR" altLang="en-US" sz="1400" dirty="0">
                <a:solidFill>
                  <a:schemeClr val="tx1"/>
                </a:solidFill>
              </a:rPr>
              <a:t>차원 벡터를 </a:t>
            </a:r>
            <a:br>
              <a:rPr kumimoji="1" lang="en-US" altLang="ko-KR" sz="1400" dirty="0">
                <a:solidFill>
                  <a:schemeClr val="tx1"/>
                </a:solidFill>
              </a:rPr>
            </a:br>
            <a:r>
              <a:rPr kumimoji="1" lang="ko-KR" altLang="en-US" sz="1400" dirty="0">
                <a:solidFill>
                  <a:schemeClr val="tx1"/>
                </a:solidFill>
              </a:rPr>
              <a:t>만들기 위해 </a:t>
            </a:r>
            <a:r>
              <a:rPr kumimoji="1" lang="en-US" altLang="ko-KR" sz="1400" dirty="0">
                <a:solidFill>
                  <a:schemeClr val="tx1"/>
                </a:solidFill>
              </a:rPr>
              <a:t>Flatten() </a:t>
            </a:r>
            <a:r>
              <a:rPr kumimoji="1" lang="ko-KR" altLang="en-US" sz="1400" dirty="0">
                <a:solidFill>
                  <a:schemeClr val="tx1"/>
                </a:solidFill>
              </a:rPr>
              <a:t>사용</a:t>
            </a:r>
            <a:br>
              <a:rPr kumimoji="1" lang="en-US" altLang="ko-KR" sz="1400" dirty="0">
                <a:solidFill>
                  <a:schemeClr val="tx1"/>
                </a:solidFill>
              </a:rPr>
            </a:br>
            <a:endParaRPr kumimoji="1" lang="en-US" altLang="ko-KR" sz="1400" dirty="0">
              <a:solidFill>
                <a:schemeClr val="tx1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kumimoji="1" lang="en-US" altLang="ko-KR" sz="1400" dirty="0">
                <a:solidFill>
                  <a:schemeClr val="tx1"/>
                </a:solidFill>
              </a:rPr>
              <a:t>CNN(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합성곱</a:t>
            </a:r>
            <a:r>
              <a:rPr kumimoji="1" lang="en-US" altLang="ko-KR" sz="1400" dirty="0">
                <a:solidFill>
                  <a:schemeClr val="tx1"/>
                </a:solidFill>
              </a:rPr>
              <a:t>) </a:t>
            </a:r>
            <a:r>
              <a:rPr kumimoji="1" lang="ko-KR" altLang="en-US" sz="1400" dirty="0">
                <a:solidFill>
                  <a:schemeClr val="tx1"/>
                </a:solidFill>
              </a:rPr>
              <a:t>모델 등에서는 </a:t>
            </a:r>
            <a:r>
              <a:rPr kumimoji="1" lang="en-US" altLang="ko-KR" sz="1400" dirty="0">
                <a:solidFill>
                  <a:schemeClr val="tx1"/>
                </a:solidFill>
              </a:rPr>
              <a:t>4</a:t>
            </a:r>
            <a:r>
              <a:rPr kumimoji="1" lang="ko-KR" altLang="en-US" sz="1400" dirty="0">
                <a:solidFill>
                  <a:schemeClr val="tx1"/>
                </a:solidFill>
              </a:rPr>
              <a:t>차원 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텐서를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br>
              <a:rPr kumimoji="1" lang="en-US" altLang="ko-KR" sz="1400" dirty="0">
                <a:solidFill>
                  <a:schemeClr val="tx1"/>
                </a:solidFill>
              </a:rPr>
            </a:br>
            <a:r>
              <a:rPr kumimoji="1" lang="ko-KR" altLang="en-US" sz="1400" dirty="0" err="1">
                <a:solidFill>
                  <a:schemeClr val="tx1"/>
                </a:solidFill>
              </a:rPr>
              <a:t>입력값으로</a:t>
            </a:r>
            <a:r>
              <a:rPr kumimoji="1" lang="ko-KR" altLang="en-US" sz="1400" dirty="0">
                <a:solidFill>
                  <a:schemeClr val="tx1"/>
                </a:solidFill>
              </a:rPr>
              <a:t> 사용하기 때문에 </a:t>
            </a:r>
            <a:r>
              <a:rPr kumimoji="1" lang="en-US" altLang="ko-KR" sz="1400" dirty="0">
                <a:solidFill>
                  <a:schemeClr val="tx1"/>
                </a:solidFill>
              </a:rPr>
              <a:t>Flatten()</a:t>
            </a:r>
            <a:r>
              <a:rPr kumimoji="1" lang="ko-KR" altLang="en-US" sz="1400" dirty="0">
                <a:solidFill>
                  <a:schemeClr val="tx1"/>
                </a:solidFill>
              </a:rPr>
              <a:t>을 </a:t>
            </a:r>
            <a:br>
              <a:rPr kumimoji="1" lang="en-US" altLang="ko-KR" sz="1400" dirty="0">
                <a:solidFill>
                  <a:schemeClr val="tx1"/>
                </a:solidFill>
              </a:rPr>
            </a:br>
            <a:r>
              <a:rPr kumimoji="1" lang="ko-KR" altLang="en-US" sz="1400" dirty="0">
                <a:solidFill>
                  <a:schemeClr val="tx1"/>
                </a:solidFill>
              </a:rPr>
              <a:t>사용하지 않는다</a:t>
            </a:r>
            <a:r>
              <a:rPr kumimoji="1" lang="en-US" altLang="ko-KR" sz="1400" dirty="0">
                <a:solidFill>
                  <a:schemeClr val="tx1"/>
                </a:solidFill>
              </a:rPr>
              <a:t>. </a:t>
            </a:r>
            <a:endParaRPr kumimoji="1"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2" name="꺾인 연결선[E] 11">
            <a:extLst>
              <a:ext uri="{FF2B5EF4-FFF2-40B4-BE49-F238E27FC236}">
                <a16:creationId xmlns:a16="http://schemas.microsoft.com/office/drawing/2014/main" id="{EDD7C87C-5BD1-869A-0F78-3E559D5C61C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6643086" y="4943573"/>
            <a:ext cx="680992" cy="5073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317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lnSpc>
            <a:spcPct val="120000"/>
          </a:lnSpc>
          <a:buFont typeface="Arial" panose="020B0604020202020204" pitchFamily="34" charset="0"/>
          <a:buChar char="•"/>
          <a:defRPr kumimoji="1"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</TotalTime>
  <Words>736</Words>
  <Application>Microsoft Macintosh PowerPoint</Application>
  <PresentationFormat>와이드스크린</PresentationFormat>
  <Paragraphs>135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Young-Boo Choi</dc:creator>
  <cp:lastModifiedBy>Young-Boo Choi</cp:lastModifiedBy>
  <cp:revision>234</cp:revision>
  <dcterms:created xsi:type="dcterms:W3CDTF">2025-12-09T14:37:52Z</dcterms:created>
  <dcterms:modified xsi:type="dcterms:W3CDTF">2026-03-24T12:09:42Z</dcterms:modified>
</cp:coreProperties>
</file>