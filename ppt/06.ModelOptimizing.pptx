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47"/>
    <p:restoredTop sz="96790"/>
  </p:normalViewPr>
  <p:slideViewPr>
    <p:cSldViewPr snapToGrid="0">
      <p:cViewPr varScale="1">
        <p:scale>
          <a:sx n="144" d="100"/>
          <a:sy n="144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535100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0" y="2931851"/>
            <a:ext cx="4876773" cy="2358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06. Model Optimizing </a:t>
            </a:r>
            <a:br>
              <a:rPr kumimoji="1" lang="en-US" altLang="ko-KR" sz="1400" dirty="0">
                <a:latin typeface="+mn-ea"/>
              </a:rPr>
            </a:b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모델의 복잡도 </a:t>
            </a:r>
            <a:endParaRPr kumimoji="1" lang="en-US" altLang="ko-KR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Under fitting, Over fitting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모델 일반화를 위한 방법 들 </a:t>
            </a: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kumimoji="1" lang="en-US" altLang="ko-KR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] Fashion MNIST </a:t>
            </a: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EDD26-9939-94FE-9DF8-E5BA809AD97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A50BD-23A3-10EA-4853-9EC3733A41A4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모델의 복잡도와 일반화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A37B8A-EFBA-262D-F312-4F8E716621A0}"/>
              </a:ext>
            </a:extLst>
          </p:cNvPr>
          <p:cNvSpPr txBox="1"/>
          <p:nvPr/>
        </p:nvSpPr>
        <p:spPr>
          <a:xfrm>
            <a:off x="266329" y="1509204"/>
            <a:ext cx="11327907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b="1" dirty="0"/>
              <a:t>모델링의 목적 </a:t>
            </a:r>
            <a:br>
              <a:rPr kumimoji="1" lang="en-US" altLang="ko-KR" sz="1400" b="1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과거 데이터에서 규칙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패턴 발견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dirty="0">
                <a:sym typeface="Wingdings" pitchFamily="2" charset="2"/>
              </a:rPr>
              <a:t>미래의 결과 예측 </a:t>
            </a:r>
            <a:br>
              <a:rPr kumimoji="1" lang="en-US" altLang="ko-KR" sz="1400" dirty="0">
                <a:sym typeface="Wingdings" pitchFamily="2" charset="2"/>
              </a:rPr>
            </a:br>
            <a:r>
              <a:rPr kumimoji="1" lang="en-US" altLang="ko-KR" sz="1400" dirty="0">
                <a:sym typeface="Wingdings" pitchFamily="2" charset="2"/>
              </a:rPr>
              <a:t>- </a:t>
            </a:r>
            <a:r>
              <a:rPr kumimoji="1" lang="ko-KR" altLang="en-US" sz="1400" dirty="0">
                <a:sym typeface="Wingdings" pitchFamily="2" charset="2"/>
              </a:rPr>
              <a:t>따라서 학습</a:t>
            </a:r>
            <a:r>
              <a:rPr kumimoji="1" lang="en-US" altLang="ko-KR" sz="1400" dirty="0">
                <a:sym typeface="Wingdings" pitchFamily="2" charset="2"/>
              </a:rPr>
              <a:t>(</a:t>
            </a:r>
            <a:r>
              <a:rPr kumimoji="1" lang="ko-KR" altLang="en-US" sz="1400" dirty="0">
                <a:sym typeface="Wingdings" pitchFamily="2" charset="2"/>
              </a:rPr>
              <a:t>과거</a:t>
            </a:r>
            <a:r>
              <a:rPr kumimoji="1" lang="en-US" altLang="ko-KR" sz="1400" dirty="0">
                <a:sym typeface="Wingdings" pitchFamily="2" charset="2"/>
              </a:rPr>
              <a:t>) </a:t>
            </a:r>
            <a:r>
              <a:rPr kumimoji="1" lang="ko-KR" altLang="en-US" sz="1400" dirty="0">
                <a:sym typeface="Wingdings" pitchFamily="2" charset="2"/>
              </a:rPr>
              <a:t>데이터에서의 높은 성능보다</a:t>
            </a:r>
            <a:r>
              <a:rPr kumimoji="1" lang="en-US" altLang="ko-KR" sz="1400" dirty="0">
                <a:sym typeface="Wingdings" pitchFamily="2" charset="2"/>
              </a:rPr>
              <a:t>, </a:t>
            </a:r>
            <a:r>
              <a:rPr kumimoji="1" lang="ko-KR" altLang="en-US" sz="1400" dirty="0">
                <a:sym typeface="Wingdings" pitchFamily="2" charset="2"/>
              </a:rPr>
              <a:t>새로운 데이터에서 안정적이고 좋은 결과를 만드는 것이 더 중요 </a:t>
            </a:r>
            <a:r>
              <a:rPr kumimoji="1" lang="en-US" altLang="ko-KR" sz="1400" dirty="0">
                <a:sym typeface="Wingdings" pitchFamily="2" charset="2"/>
              </a:rPr>
              <a:t>(</a:t>
            </a:r>
            <a:r>
              <a:rPr kumimoji="1" lang="ko-KR" altLang="en-US" sz="1400" dirty="0">
                <a:sym typeface="Wingdings" pitchFamily="2" charset="2"/>
              </a:rPr>
              <a:t>일반화 성능</a:t>
            </a:r>
            <a:r>
              <a:rPr kumimoji="1" lang="en-US" altLang="ko-KR" sz="1400" dirty="0">
                <a:sym typeface="Wingdings" pitchFamily="2" charset="2"/>
              </a:rPr>
              <a:t>) </a:t>
            </a:r>
            <a:endParaRPr kumimoji="1"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D6B630-5557-5968-B351-3FF541C1CE86}"/>
              </a:ext>
            </a:extLst>
          </p:cNvPr>
          <p:cNvSpPr txBox="1"/>
          <p:nvPr/>
        </p:nvSpPr>
        <p:spPr>
          <a:xfrm>
            <a:off x="266328" y="2586590"/>
            <a:ext cx="11327907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b="1" dirty="0"/>
              <a:t>모델의 복잡도 </a:t>
            </a:r>
            <a:r>
              <a:rPr kumimoji="1" lang="en-US" altLang="ko-KR" sz="1400" b="1" dirty="0"/>
              <a:t>~ </a:t>
            </a:r>
            <a:r>
              <a:rPr kumimoji="1" lang="ko-KR" altLang="en-US" sz="1400" b="1" dirty="0"/>
              <a:t>학습 데이터 패턴이 모델에 반영된 정도 </a:t>
            </a:r>
            <a:br>
              <a:rPr kumimoji="1" lang="en-US" altLang="ko-KR" sz="1400" b="1" dirty="0"/>
            </a:br>
            <a:r>
              <a:rPr kumimoji="1" lang="en-US" altLang="ko-KR" sz="1400" dirty="0"/>
              <a:t>- </a:t>
            </a:r>
            <a:r>
              <a:rPr kumimoji="1" lang="ko-KR" altLang="en-US" sz="1400" dirty="0"/>
              <a:t>너무 단순한 모델 </a:t>
            </a:r>
            <a:r>
              <a:rPr kumimoji="1" lang="en-US" altLang="ko-KR" sz="1400" dirty="0"/>
              <a:t>: </a:t>
            </a:r>
            <a:r>
              <a:rPr kumimoji="1" lang="ko-KR" altLang="en-US" sz="1400" dirty="0"/>
              <a:t>학습 데이터 패턴 학습이 불충분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학습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검증 데이터 모두에서 성능이 낮음 </a:t>
            </a:r>
            <a:br>
              <a:rPr kumimoji="1" lang="en-US" altLang="ko-KR" sz="1400" dirty="0">
                <a:sym typeface="Wingdings" pitchFamily="2" charset="2"/>
              </a:rPr>
            </a:br>
            <a:r>
              <a:rPr kumimoji="1" lang="en-US" altLang="ko-KR" sz="1400" dirty="0">
                <a:sym typeface="Wingdings" pitchFamily="2" charset="2"/>
              </a:rPr>
              <a:t>- </a:t>
            </a:r>
            <a:r>
              <a:rPr kumimoji="1" lang="ko-KR" altLang="en-US" sz="1400" dirty="0">
                <a:sym typeface="Wingdings" pitchFamily="2" charset="2"/>
              </a:rPr>
              <a:t>너무 복잡한 모델 </a:t>
            </a:r>
            <a:r>
              <a:rPr kumimoji="1" lang="en-US" altLang="ko-KR" sz="1400" dirty="0">
                <a:sym typeface="Wingdings" pitchFamily="2" charset="2"/>
              </a:rPr>
              <a:t>: </a:t>
            </a:r>
            <a:r>
              <a:rPr kumimoji="1" lang="ko-KR" altLang="en-US" sz="1400" dirty="0">
                <a:sym typeface="Wingdings" pitchFamily="2" charset="2"/>
              </a:rPr>
              <a:t>학습 데이터의 너무 세밀한 패턴이나 노이즈까지 학습</a:t>
            </a:r>
            <a:r>
              <a:rPr kumimoji="1" lang="en-US" altLang="ko-KR" sz="1400" dirty="0">
                <a:sym typeface="Wingdings" pitchFamily="2" charset="2"/>
              </a:rPr>
              <a:t>, </a:t>
            </a:r>
            <a:r>
              <a:rPr kumimoji="1" lang="ko-KR" altLang="en-US" sz="1400" dirty="0">
                <a:sym typeface="Wingdings" pitchFamily="2" charset="2"/>
              </a:rPr>
              <a:t>학습 데이터에서는 고성능 반면 검증 데이터에서 </a:t>
            </a:r>
            <a:r>
              <a:rPr kumimoji="1" lang="ko-KR" altLang="en-US" sz="1400" dirty="0" err="1">
                <a:sym typeface="Wingdings" pitchFamily="2" charset="2"/>
              </a:rPr>
              <a:t>저성능</a:t>
            </a:r>
            <a:endParaRPr kumimoji="1" lang="ko-KR" altLang="en-US" sz="1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033F8F0-C260-BB22-4DCA-331D3FA3A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476" y="3813559"/>
            <a:ext cx="7022977" cy="268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F3A30-928D-5EFB-C212-2BA8574673E4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AD8056-49BB-C93A-FE22-69139F717C26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모델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일반화 방법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4B4D1-1A95-E40B-4D16-9FFB1E96E626}"/>
              </a:ext>
            </a:extLst>
          </p:cNvPr>
          <p:cNvSpPr txBox="1"/>
          <p:nvPr/>
        </p:nvSpPr>
        <p:spPr>
          <a:xfrm>
            <a:off x="266329" y="1509204"/>
            <a:ext cx="11327907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b="1" dirty="0"/>
              <a:t>모델 일반화</a:t>
            </a:r>
            <a:br>
              <a:rPr kumimoji="1" lang="en-US" altLang="ko-KR" sz="1400" b="1" dirty="0"/>
            </a:br>
            <a:r>
              <a:rPr kumimoji="1" lang="en-US" altLang="ko-KR" sz="1400" dirty="0"/>
              <a:t>- Overfitting</a:t>
            </a:r>
            <a:r>
              <a:rPr kumimoji="1" lang="ko-KR" altLang="en-US" sz="1400" dirty="0"/>
              <a:t>을 방지하고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모델이 다양한 실제 상황에 보다 잘 적용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수행되도록 하는 과정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64A56D-4CE6-D7EC-F962-6109A02C9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84509"/>
              </p:ext>
            </p:extLst>
          </p:nvPr>
        </p:nvGraphicFramePr>
        <p:xfrm>
          <a:off x="602696" y="2450812"/>
          <a:ext cx="11106951" cy="3963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450">
                  <a:extLst>
                    <a:ext uri="{9D8B030D-6E8A-4147-A177-3AD203B41FA5}">
                      <a16:colId xmlns:a16="http://schemas.microsoft.com/office/drawing/2014/main" val="4089819115"/>
                    </a:ext>
                  </a:extLst>
                </a:gridCol>
                <a:gridCol w="2752077">
                  <a:extLst>
                    <a:ext uri="{9D8B030D-6E8A-4147-A177-3AD203B41FA5}">
                      <a16:colId xmlns:a16="http://schemas.microsoft.com/office/drawing/2014/main" val="1471147530"/>
                    </a:ext>
                  </a:extLst>
                </a:gridCol>
                <a:gridCol w="7226424">
                  <a:extLst>
                    <a:ext uri="{9D8B030D-6E8A-4147-A177-3AD203B41FA5}">
                      <a16:colId xmlns:a16="http://schemas.microsoft.com/office/drawing/2014/main" val="3119528183"/>
                    </a:ext>
                  </a:extLst>
                </a:gridCol>
              </a:tblGrid>
              <a:tr h="336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 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79772"/>
                  </a:ext>
                </a:extLst>
              </a:tr>
              <a:tr h="51816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Hyper Parameter Tunning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은닉층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(layer)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개수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은닉층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개수가 많을 수록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더 복잡하고 추상적인 패턴 학습 가능하나 복잡도는 증가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925824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각 은닉층의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Node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개수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Node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개수는 학습하는 정보의 양을 결정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많을수록 복잡도 증가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199913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반복학습 회수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(epoch)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너무 적으면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Underfitting,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너무 많으면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Overfitting.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989194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학습율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(Learning rate)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모델이 오차를 줄여 나가는 속도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너무 적으면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Underfitting,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너무 많으면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Overfitting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771010"/>
                  </a:ext>
                </a:extLst>
              </a:tr>
              <a:tr h="51816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반복학습 조기종료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(Early Stopping)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지나친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불필요한 반복학습 방지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일정 회수동안 성능개선이 없으면 학습 중단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96165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Drop Out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학습과정에서 일부 노드를 무작위로 사용하지 않도록 함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250531"/>
                  </a:ext>
                </a:extLst>
              </a:tr>
              <a:tr h="5181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가중치 규제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(Regulation)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손실함수의 가중치에 페널티 추가하여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특정 가중치가 지나치게 커지는 것 방지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75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64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E4636-F21F-EBF9-2893-F2C87E54E8D4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E720E4-03C2-01D5-F2FD-289B8F981360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] Fashion MNIST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BF4A02-7CD4-20A6-084A-91B8EA12A0A2}"/>
              </a:ext>
            </a:extLst>
          </p:cNvPr>
          <p:cNvSpPr/>
          <p:nvPr/>
        </p:nvSpPr>
        <p:spPr>
          <a:xfrm>
            <a:off x="656947" y="2911876"/>
            <a:ext cx="10440139" cy="28674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64E6FAB-E3C7-3446-EC78-C268B2E01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06" y="3120841"/>
            <a:ext cx="1984130" cy="2166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F8E81AE-52D0-E0EE-B98B-CFBCEB147CDE}"/>
              </a:ext>
            </a:extLst>
          </p:cNvPr>
          <p:cNvGrpSpPr/>
          <p:nvPr/>
        </p:nvGrpSpPr>
        <p:grpSpPr>
          <a:xfrm>
            <a:off x="3071671" y="3391610"/>
            <a:ext cx="143522" cy="1803648"/>
            <a:chOff x="3746377" y="4030462"/>
            <a:chExt cx="143522" cy="1803648"/>
          </a:xfrm>
        </p:grpSpPr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C15146F5-7621-5D1D-004B-6D125D1B4C26}"/>
                </a:ext>
              </a:extLst>
            </p:cNvPr>
            <p:cNvCxnSpPr/>
            <p:nvPr/>
          </p:nvCxnSpPr>
          <p:spPr>
            <a:xfrm>
              <a:off x="3746377" y="4030462"/>
              <a:ext cx="13316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A1A1D31F-E076-1F8E-DF68-032741D31BE4}"/>
                </a:ext>
              </a:extLst>
            </p:cNvPr>
            <p:cNvCxnSpPr/>
            <p:nvPr/>
          </p:nvCxnSpPr>
          <p:spPr>
            <a:xfrm>
              <a:off x="3756734" y="5834110"/>
              <a:ext cx="13316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75D45AB6-01D9-CD9C-9DEC-C07AAEADBD53}"/>
                </a:ext>
              </a:extLst>
            </p:cNvPr>
            <p:cNvCxnSpPr/>
            <p:nvPr/>
          </p:nvCxnSpPr>
          <p:spPr>
            <a:xfrm>
              <a:off x="3823316" y="4030462"/>
              <a:ext cx="0" cy="18036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FF0D-1F7E-D112-ECCA-D3376DA621A3}"/>
              </a:ext>
            </a:extLst>
          </p:cNvPr>
          <p:cNvGrpSpPr/>
          <p:nvPr/>
        </p:nvGrpSpPr>
        <p:grpSpPr>
          <a:xfrm rot="5400000">
            <a:off x="1958010" y="4494440"/>
            <a:ext cx="143522" cy="1803648"/>
            <a:chOff x="3746377" y="4030462"/>
            <a:chExt cx="143522" cy="1803648"/>
          </a:xfrm>
        </p:grpSpPr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4E6ACE68-710D-AE02-650C-29BB17118D9A}"/>
                </a:ext>
              </a:extLst>
            </p:cNvPr>
            <p:cNvCxnSpPr/>
            <p:nvPr/>
          </p:nvCxnSpPr>
          <p:spPr>
            <a:xfrm>
              <a:off x="3746377" y="4030462"/>
              <a:ext cx="13316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[R] 11">
              <a:extLst>
                <a:ext uri="{FF2B5EF4-FFF2-40B4-BE49-F238E27FC236}">
                  <a16:creationId xmlns:a16="http://schemas.microsoft.com/office/drawing/2014/main" id="{8EFAA815-E254-E41E-7BAD-7C4F093A563E}"/>
                </a:ext>
              </a:extLst>
            </p:cNvPr>
            <p:cNvCxnSpPr/>
            <p:nvPr/>
          </p:nvCxnSpPr>
          <p:spPr>
            <a:xfrm>
              <a:off x="3756734" y="5834110"/>
              <a:ext cx="133165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[R] 12">
              <a:extLst>
                <a:ext uri="{FF2B5EF4-FFF2-40B4-BE49-F238E27FC236}">
                  <a16:creationId xmlns:a16="http://schemas.microsoft.com/office/drawing/2014/main" id="{4DA9F1C6-4190-2928-6485-C4F1D7476177}"/>
                </a:ext>
              </a:extLst>
            </p:cNvPr>
            <p:cNvCxnSpPr/>
            <p:nvPr/>
          </p:nvCxnSpPr>
          <p:spPr>
            <a:xfrm>
              <a:off x="3823316" y="4030462"/>
              <a:ext cx="0" cy="180364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121147B-5DDF-F60E-F1C2-DEEF397292CC}"/>
              </a:ext>
            </a:extLst>
          </p:cNvPr>
          <p:cNvSpPr txBox="1"/>
          <p:nvPr/>
        </p:nvSpPr>
        <p:spPr>
          <a:xfrm>
            <a:off x="1432257" y="5352616"/>
            <a:ext cx="1151138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dirty="0">
                <a:solidFill>
                  <a:schemeClr val="accent1"/>
                </a:solidFill>
              </a:rPr>
              <a:t>28 pixels</a:t>
            </a:r>
            <a:endParaRPr kumimoji="1"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94C3C3-97AA-B9E7-B671-46C7350DB2A7}"/>
              </a:ext>
            </a:extLst>
          </p:cNvPr>
          <p:cNvSpPr txBox="1"/>
          <p:nvPr/>
        </p:nvSpPr>
        <p:spPr>
          <a:xfrm rot="16200000">
            <a:off x="2730911" y="4117069"/>
            <a:ext cx="1151138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200" dirty="0">
                <a:solidFill>
                  <a:schemeClr val="accent1"/>
                </a:solidFill>
              </a:rPr>
              <a:t>28 pixels</a:t>
            </a:r>
            <a:endParaRPr kumimoji="1" lang="ko-KR" alt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A3929-8090-84BD-3FF2-3DCE616DFB5A}"/>
              </a:ext>
            </a:extLst>
          </p:cNvPr>
          <p:cNvSpPr txBox="1"/>
          <p:nvPr/>
        </p:nvSpPr>
        <p:spPr>
          <a:xfrm>
            <a:off x="3693109" y="3075814"/>
            <a:ext cx="286748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ko-KR" altLang="en-US" sz="1400" b="1" dirty="0"/>
              <a:t>참고</a:t>
            </a:r>
            <a:r>
              <a:rPr kumimoji="1" lang="en-US" altLang="ko-KR" sz="1400" b="1" dirty="0"/>
              <a:t>. Fashion MNIS dataset</a:t>
            </a:r>
            <a:endParaRPr kumimoji="1"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D8D433-CB26-A546-1FCF-A7A5FCACC5D0}"/>
              </a:ext>
            </a:extLst>
          </p:cNvPr>
          <p:cNvSpPr txBox="1"/>
          <p:nvPr/>
        </p:nvSpPr>
        <p:spPr>
          <a:xfrm>
            <a:off x="3852453" y="3474232"/>
            <a:ext cx="7323825" cy="18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en-US" altLang="ko-KR" sz="1300" dirty="0">
                <a:latin typeface="+mn-ea"/>
              </a:rPr>
              <a:t>10</a:t>
            </a:r>
            <a:r>
              <a:rPr kumimoji="1" lang="ko-KR" altLang="en-US" sz="1300" dirty="0">
                <a:latin typeface="+mn-ea"/>
              </a:rPr>
              <a:t>개 종류 패션 아이템들의 흑백 사진 이미지를 데이터화 한 것 </a:t>
            </a:r>
            <a:endParaRPr kumimoji="1" lang="en-US" altLang="ko-KR" sz="1300" dirty="0"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1300" dirty="0">
                <a:latin typeface="+mn-ea"/>
              </a:rPr>
              <a:t>데이터 부분</a:t>
            </a:r>
            <a:r>
              <a:rPr kumimoji="1" lang="en-US" altLang="ko-KR" sz="1300" dirty="0">
                <a:latin typeface="+mn-ea"/>
              </a:rPr>
              <a:t>(X)</a:t>
            </a:r>
            <a:r>
              <a:rPr kumimoji="1" lang="ko-KR" altLang="en-US" sz="1300" dirty="0">
                <a:latin typeface="+mn-ea"/>
              </a:rPr>
              <a:t>은 좌측과 같은 이미지를 가로</a:t>
            </a:r>
            <a:r>
              <a:rPr kumimoji="1" lang="en-US" altLang="ko-KR" sz="1300" dirty="0">
                <a:latin typeface="+mn-ea"/>
              </a:rPr>
              <a:t> x </a:t>
            </a:r>
            <a:r>
              <a:rPr kumimoji="1" lang="ko-KR" altLang="en-US" sz="1300" dirty="0">
                <a:latin typeface="+mn-ea"/>
              </a:rPr>
              <a:t>세로</a:t>
            </a:r>
            <a:r>
              <a:rPr kumimoji="1" lang="en-US" altLang="ko-KR" sz="1300" dirty="0">
                <a:latin typeface="+mn-ea"/>
              </a:rPr>
              <a:t> </a:t>
            </a:r>
            <a:r>
              <a:rPr kumimoji="1" lang="ko-KR" altLang="en-US" sz="1300" dirty="0">
                <a:latin typeface="+mn-ea"/>
              </a:rPr>
              <a:t>각 </a:t>
            </a:r>
            <a:r>
              <a:rPr kumimoji="1" lang="en-US" altLang="ko-KR" sz="1300" dirty="0">
                <a:latin typeface="+mn-ea"/>
              </a:rPr>
              <a:t>28</a:t>
            </a:r>
            <a:r>
              <a:rPr kumimoji="1" lang="ko-KR" altLang="en-US" sz="1300" dirty="0">
                <a:latin typeface="+mn-ea"/>
              </a:rPr>
              <a:t>개의 픽셀로 나누고</a:t>
            </a:r>
            <a:r>
              <a:rPr kumimoji="1" lang="en-US" altLang="ko-KR" sz="1300" dirty="0">
                <a:latin typeface="+mn-ea"/>
              </a:rPr>
              <a:t>, </a:t>
            </a:r>
            <a:br>
              <a:rPr kumimoji="1" lang="en-US" altLang="ko-KR" sz="1300" dirty="0">
                <a:latin typeface="+mn-ea"/>
              </a:rPr>
            </a:br>
            <a:r>
              <a:rPr kumimoji="1" lang="en-US" altLang="ko-KR" sz="1300" dirty="0">
                <a:latin typeface="+mn-ea"/>
              </a:rPr>
              <a:t>(28 x</a:t>
            </a:r>
            <a:r>
              <a:rPr kumimoji="1" lang="ko-KR" altLang="en-US" sz="1300" dirty="0">
                <a:latin typeface="+mn-ea"/>
              </a:rPr>
              <a:t> </a:t>
            </a:r>
            <a:r>
              <a:rPr kumimoji="1" lang="en-US" altLang="ko-KR" sz="1300" dirty="0">
                <a:latin typeface="+mn-ea"/>
              </a:rPr>
              <a:t>28 = 784</a:t>
            </a:r>
            <a:r>
              <a:rPr kumimoji="1" lang="ko-KR" altLang="en-US" sz="1300" dirty="0">
                <a:latin typeface="+mn-ea"/>
              </a:rPr>
              <a:t>개의 모눈</a:t>
            </a:r>
            <a:r>
              <a:rPr kumimoji="1" lang="en-US" altLang="ko-KR" sz="1300" dirty="0">
                <a:latin typeface="+mn-ea"/>
              </a:rPr>
              <a:t>)</a:t>
            </a:r>
          </a:p>
          <a:p>
            <a:pPr marL="285750" indent="-285750" algn="l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1300" dirty="0">
                <a:latin typeface="+mn-ea"/>
              </a:rPr>
              <a:t>각 픽셀은 검은색</a:t>
            </a:r>
            <a:r>
              <a:rPr kumimoji="1" lang="en-US" altLang="ko-KR" sz="1300" dirty="0">
                <a:latin typeface="+mn-ea"/>
              </a:rPr>
              <a:t>(0) ~ </a:t>
            </a:r>
            <a:r>
              <a:rPr kumimoji="1" lang="ko-KR" altLang="en-US" sz="1300" dirty="0">
                <a:latin typeface="+mn-ea"/>
              </a:rPr>
              <a:t>흰색</a:t>
            </a:r>
            <a:r>
              <a:rPr kumimoji="1" lang="en-US" altLang="ko-KR" sz="1300" dirty="0">
                <a:latin typeface="+mn-ea"/>
              </a:rPr>
              <a:t>(255) </a:t>
            </a:r>
            <a:r>
              <a:rPr kumimoji="1" lang="ko-KR" altLang="en-US" sz="1300" dirty="0">
                <a:latin typeface="+mn-ea"/>
              </a:rPr>
              <a:t>사이의 명도 차이를 </a:t>
            </a:r>
            <a:r>
              <a:rPr kumimoji="1" lang="en-US" altLang="ko-KR" sz="1300" dirty="0">
                <a:latin typeface="+mn-ea"/>
              </a:rPr>
              <a:t>255</a:t>
            </a:r>
            <a:r>
              <a:rPr kumimoji="1" lang="ko-KR" altLang="en-US" sz="1300" dirty="0">
                <a:latin typeface="+mn-ea"/>
              </a:rPr>
              <a:t>단계로 구분한 숫자를 담고 있다</a:t>
            </a:r>
            <a:r>
              <a:rPr kumimoji="1" lang="en-US" altLang="ko-KR" sz="13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1300" dirty="0">
                <a:latin typeface="+mn-ea"/>
              </a:rPr>
              <a:t>타겟 부분</a:t>
            </a:r>
            <a:r>
              <a:rPr kumimoji="1" lang="en-US" altLang="ko-KR" sz="1300" dirty="0">
                <a:latin typeface="+mn-ea"/>
              </a:rPr>
              <a:t>(y)</a:t>
            </a:r>
            <a:r>
              <a:rPr kumimoji="1" lang="ko-KR" altLang="en-US" sz="1300" dirty="0">
                <a:latin typeface="+mn-ea"/>
              </a:rPr>
              <a:t>는 </a:t>
            </a:r>
            <a:r>
              <a:rPr kumimoji="1" lang="en-US" altLang="ko-KR" sz="1300" dirty="0">
                <a:latin typeface="+mn-ea"/>
              </a:rPr>
              <a:t>0~9</a:t>
            </a:r>
            <a:r>
              <a:rPr kumimoji="1" lang="ko-KR" altLang="en-US" sz="1300" dirty="0">
                <a:latin typeface="+mn-ea"/>
              </a:rPr>
              <a:t>의 숫자이며</a:t>
            </a:r>
            <a:r>
              <a:rPr kumimoji="1" lang="en-US" altLang="ko-KR" sz="1300" dirty="0">
                <a:latin typeface="+mn-ea"/>
              </a:rPr>
              <a:t>, </a:t>
            </a:r>
            <a:r>
              <a:rPr kumimoji="1" lang="ko-KR" altLang="en-US" sz="1300" dirty="0">
                <a:latin typeface="+mn-ea"/>
              </a:rPr>
              <a:t>각 숫자는 패션 아이템의 종류를 나타낸다</a:t>
            </a:r>
            <a:r>
              <a:rPr kumimoji="1" lang="en-US" altLang="ko-KR" sz="1300" dirty="0">
                <a:latin typeface="+mn-ea"/>
              </a:rPr>
              <a:t>. </a:t>
            </a:r>
            <a:br>
              <a:rPr kumimoji="1" lang="en-US" altLang="ko-KR" sz="1300" dirty="0">
                <a:latin typeface="+mn-ea"/>
              </a:rPr>
            </a:br>
            <a:r>
              <a:rPr kumimoji="1" lang="en-US" altLang="ko-KR" sz="1300" dirty="0">
                <a:latin typeface="+mn-ea"/>
              </a:rPr>
              <a:t>- 0: </a:t>
            </a:r>
            <a:r>
              <a:rPr lang="en" altLang="ko-KR" sz="1300" dirty="0">
                <a:latin typeface="+mn-ea"/>
              </a:rPr>
              <a:t>T-shirt/top, </a:t>
            </a:r>
            <a:r>
              <a:rPr lang="en-US" altLang="ko-KR" sz="1300" dirty="0">
                <a:latin typeface="+mn-ea"/>
              </a:rPr>
              <a:t>1: </a:t>
            </a:r>
            <a:r>
              <a:rPr lang="en" altLang="ko-KR" sz="1300" dirty="0">
                <a:latin typeface="+mn-ea"/>
              </a:rPr>
              <a:t>Trouser, </a:t>
            </a:r>
            <a:r>
              <a:rPr lang="en-US" altLang="ko-KR" sz="1300" dirty="0">
                <a:latin typeface="+mn-ea"/>
              </a:rPr>
              <a:t>2: </a:t>
            </a:r>
            <a:r>
              <a:rPr lang="en" altLang="ko-KR" sz="1300" dirty="0">
                <a:latin typeface="+mn-ea"/>
              </a:rPr>
              <a:t>Pullover, </a:t>
            </a:r>
            <a:r>
              <a:rPr lang="en-US" altLang="ko-KR" sz="1300" dirty="0">
                <a:latin typeface="+mn-ea"/>
              </a:rPr>
              <a:t>3: </a:t>
            </a:r>
            <a:r>
              <a:rPr lang="en" altLang="ko-KR" sz="1300" dirty="0">
                <a:latin typeface="+mn-ea"/>
              </a:rPr>
              <a:t>Dress, </a:t>
            </a:r>
            <a:r>
              <a:rPr lang="en-US" altLang="ko-KR" sz="1300" dirty="0">
                <a:latin typeface="+mn-ea"/>
              </a:rPr>
              <a:t>4: </a:t>
            </a:r>
            <a:r>
              <a:rPr lang="en" altLang="ko-KR" sz="1300" dirty="0">
                <a:latin typeface="+mn-ea"/>
              </a:rPr>
              <a:t>Coat</a:t>
            </a:r>
            <a:r>
              <a:rPr kumimoji="1" lang="ko-KR" altLang="en-US" sz="1300" dirty="0">
                <a:latin typeface="+mn-ea"/>
              </a:rPr>
              <a:t> </a:t>
            </a:r>
            <a:r>
              <a:rPr kumimoji="1" lang="en-US" altLang="ko-KR" sz="1300" dirty="0">
                <a:latin typeface="+mn-ea"/>
              </a:rPr>
              <a:t>… </a:t>
            </a:r>
            <a:endParaRPr lang="en" altLang="ko-KR" sz="1300" dirty="0"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E2F5016B-CD6A-34C0-BDD7-59889332C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838020"/>
              </p:ext>
            </p:extLst>
          </p:nvPr>
        </p:nvGraphicFramePr>
        <p:xfrm>
          <a:off x="3565391" y="5085695"/>
          <a:ext cx="733488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488">
                  <a:extLst>
                    <a:ext uri="{9D8B030D-6E8A-4147-A177-3AD203B41FA5}">
                      <a16:colId xmlns:a16="http://schemas.microsoft.com/office/drawing/2014/main" val="344028337"/>
                    </a:ext>
                  </a:extLst>
                </a:gridCol>
                <a:gridCol w="733488">
                  <a:extLst>
                    <a:ext uri="{9D8B030D-6E8A-4147-A177-3AD203B41FA5}">
                      <a16:colId xmlns:a16="http://schemas.microsoft.com/office/drawing/2014/main" val="1493447538"/>
                    </a:ext>
                  </a:extLst>
                </a:gridCol>
                <a:gridCol w="733488">
                  <a:extLst>
                    <a:ext uri="{9D8B030D-6E8A-4147-A177-3AD203B41FA5}">
                      <a16:colId xmlns:a16="http://schemas.microsoft.com/office/drawing/2014/main" val="2943761161"/>
                    </a:ext>
                  </a:extLst>
                </a:gridCol>
                <a:gridCol w="733488">
                  <a:extLst>
                    <a:ext uri="{9D8B030D-6E8A-4147-A177-3AD203B41FA5}">
                      <a16:colId xmlns:a16="http://schemas.microsoft.com/office/drawing/2014/main" val="2492932494"/>
                    </a:ext>
                  </a:extLst>
                </a:gridCol>
                <a:gridCol w="733488">
                  <a:extLst>
                    <a:ext uri="{9D8B030D-6E8A-4147-A177-3AD203B41FA5}">
                      <a16:colId xmlns:a16="http://schemas.microsoft.com/office/drawing/2014/main" val="1104858017"/>
                    </a:ext>
                  </a:extLst>
                </a:gridCol>
                <a:gridCol w="733488">
                  <a:extLst>
                    <a:ext uri="{9D8B030D-6E8A-4147-A177-3AD203B41FA5}">
                      <a16:colId xmlns:a16="http://schemas.microsoft.com/office/drawing/2014/main" val="3054768708"/>
                    </a:ext>
                  </a:extLst>
                </a:gridCol>
                <a:gridCol w="652387">
                  <a:extLst>
                    <a:ext uri="{9D8B030D-6E8A-4147-A177-3AD203B41FA5}">
                      <a16:colId xmlns:a16="http://schemas.microsoft.com/office/drawing/2014/main" val="2406762765"/>
                    </a:ext>
                  </a:extLst>
                </a:gridCol>
                <a:gridCol w="814589">
                  <a:extLst>
                    <a:ext uri="{9D8B030D-6E8A-4147-A177-3AD203B41FA5}">
                      <a16:colId xmlns:a16="http://schemas.microsoft.com/office/drawing/2014/main" val="2412129529"/>
                    </a:ext>
                  </a:extLst>
                </a:gridCol>
                <a:gridCol w="623594">
                  <a:extLst>
                    <a:ext uri="{9D8B030D-6E8A-4147-A177-3AD203B41FA5}">
                      <a16:colId xmlns:a16="http://schemas.microsoft.com/office/drawing/2014/main" val="927301229"/>
                    </a:ext>
                  </a:extLst>
                </a:gridCol>
                <a:gridCol w="843382">
                  <a:extLst>
                    <a:ext uri="{9D8B030D-6E8A-4147-A177-3AD203B41FA5}">
                      <a16:colId xmlns:a16="http://schemas.microsoft.com/office/drawing/2014/main" val="1470487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329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티셔츠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바지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스웨터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드레스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코트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샌달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셔츠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스니커즈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가방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앵클부츠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0371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0D1002E-2251-D227-F5F9-EE3C50C95CFF}"/>
              </a:ext>
            </a:extLst>
          </p:cNvPr>
          <p:cNvSpPr txBox="1"/>
          <p:nvPr/>
        </p:nvSpPr>
        <p:spPr>
          <a:xfrm>
            <a:off x="532660" y="1633491"/>
            <a:ext cx="9357064" cy="733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ko-KR" sz="1500" b="1" dirty="0"/>
              <a:t>① </a:t>
            </a:r>
            <a:r>
              <a:rPr kumimoji="1" lang="en-US" altLang="ko-KR" sz="1500" b="1" dirty="0">
                <a:sym typeface="Wingdings" pitchFamily="2" charset="2"/>
              </a:rPr>
              <a:t>~ </a:t>
            </a:r>
            <a:r>
              <a:rPr kumimoji="1" lang="en-US" altLang="ko-KR" sz="1500" b="1" dirty="0"/>
              <a:t>④</a:t>
            </a:r>
            <a:r>
              <a:rPr kumimoji="1" lang="ko-KR" altLang="en-US" sz="1500" b="1" dirty="0"/>
              <a:t>의 순서로 진행하며</a:t>
            </a:r>
            <a:r>
              <a:rPr kumimoji="1" lang="en-US" altLang="ko-KR" sz="1500" b="1" dirty="0"/>
              <a:t>, Base Model</a:t>
            </a:r>
            <a:r>
              <a:rPr kumimoji="1" lang="ko-KR" altLang="en-US" sz="1500" b="1" dirty="0"/>
              <a:t>의 일반화 성능 개선 효과를 관찰한다</a:t>
            </a:r>
            <a:r>
              <a:rPr kumimoji="1" lang="en-US" altLang="ko-KR" sz="1500" b="1" dirty="0"/>
              <a:t>. </a:t>
            </a:r>
          </a:p>
          <a:p>
            <a:pPr algn="l">
              <a:lnSpc>
                <a:spcPct val="120000"/>
              </a:lnSpc>
            </a:pPr>
            <a:br>
              <a:rPr kumimoji="1" lang="en-US" altLang="ko-KR" sz="700" dirty="0"/>
            </a:br>
            <a:r>
              <a:rPr kumimoji="1" lang="en-US" altLang="ko-KR" sz="1400" dirty="0"/>
              <a:t>  : ① Base Model (Overfitted version)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en-US" altLang="ko-KR" sz="1400" dirty="0"/>
              <a:t>② Early Stopping </a:t>
            </a:r>
            <a:r>
              <a:rPr kumimoji="1" lang="ko-KR" altLang="en-US" sz="1400" dirty="0"/>
              <a:t>적용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en-US" altLang="ko-KR" sz="1400" dirty="0"/>
              <a:t>③ Drop out</a:t>
            </a:r>
            <a:r>
              <a:rPr kumimoji="1" lang="ko-KR" altLang="en-US" sz="1400" dirty="0"/>
              <a:t> 적용</a:t>
            </a:r>
            <a:r>
              <a:rPr kumimoji="1" lang="en-US" altLang="ko-KR" sz="1400" dirty="0"/>
              <a:t> </a:t>
            </a:r>
            <a:r>
              <a:rPr kumimoji="1" lang="en-US" altLang="ko-KR" sz="1400" dirty="0">
                <a:sym typeface="Wingdings" pitchFamily="2" charset="2"/>
              </a:rPr>
              <a:t></a:t>
            </a:r>
            <a:r>
              <a:rPr kumimoji="1" lang="en-US" altLang="ko-KR" sz="1400" dirty="0"/>
              <a:t> ④ Regulation </a:t>
            </a:r>
            <a:r>
              <a:rPr kumimoji="1" lang="ko-KR" altLang="en-US" sz="1400" dirty="0"/>
              <a:t>적용 </a:t>
            </a:r>
          </a:p>
        </p:txBody>
      </p:sp>
    </p:spTree>
    <p:extLst>
      <p:ext uri="{BB962C8B-B14F-4D97-AF65-F5344CB8AC3E}">
        <p14:creationId xmlns:p14="http://schemas.microsoft.com/office/powerpoint/2010/main" val="290896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86726EA-4A29-B856-511A-0680575D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87" y="1216241"/>
            <a:ext cx="6507540" cy="52467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D29CFE-E5D1-E045-8567-9B1850090929}"/>
              </a:ext>
            </a:extLst>
          </p:cNvPr>
          <p:cNvSpPr txBox="1"/>
          <p:nvPr/>
        </p:nvSpPr>
        <p:spPr>
          <a:xfrm>
            <a:off x="221942" y="807868"/>
            <a:ext cx="380852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Early Stopping : </a:t>
            </a:r>
            <a:r>
              <a:rPr kumimoji="1" lang="ko-KR" altLang="en-US" sz="1400" dirty="0"/>
              <a:t>모델 학습 코드 수정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3BF29-C22C-6F0C-D722-D9329D08DFE4}"/>
              </a:ext>
            </a:extLst>
          </p:cNvPr>
          <p:cNvSpPr txBox="1"/>
          <p:nvPr/>
        </p:nvSpPr>
        <p:spPr>
          <a:xfrm>
            <a:off x="7989902" y="3255714"/>
            <a:ext cx="3559945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5</a:t>
            </a:r>
            <a:r>
              <a:rPr kumimoji="1" lang="ko-KR" altLang="en-US" sz="1400" dirty="0"/>
              <a:t>회 연속 성능개선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val_loss</a:t>
            </a:r>
            <a:r>
              <a:rPr kumimoji="1" lang="ko-KR" altLang="en-US" sz="1400" dirty="0"/>
              <a:t>의 감소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가 </a:t>
            </a:r>
            <a:br>
              <a:rPr kumimoji="1" lang="en-US" altLang="ko-KR" sz="1400" dirty="0"/>
            </a:br>
            <a:r>
              <a:rPr kumimoji="1" lang="ko-KR" altLang="en-US" sz="1400" dirty="0"/>
              <a:t>일어나지 않으면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학습 종료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1B73F2-538F-4DC1-89BF-AC06C266FA5D}"/>
              </a:ext>
            </a:extLst>
          </p:cNvPr>
          <p:cNvSpPr/>
          <p:nvPr/>
        </p:nvSpPr>
        <p:spPr>
          <a:xfrm>
            <a:off x="772358" y="1177855"/>
            <a:ext cx="1242874" cy="25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2C3CA1-E7CD-3E80-BCB0-1336ACE70500}"/>
              </a:ext>
            </a:extLst>
          </p:cNvPr>
          <p:cNvSpPr/>
          <p:nvPr/>
        </p:nvSpPr>
        <p:spPr>
          <a:xfrm>
            <a:off x="883327" y="5798681"/>
            <a:ext cx="4372253" cy="584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9A3A151-190E-FEA1-0ED0-95510C6FF13D}"/>
              </a:ext>
            </a:extLst>
          </p:cNvPr>
          <p:cNvSpPr/>
          <p:nvPr/>
        </p:nvSpPr>
        <p:spPr>
          <a:xfrm>
            <a:off x="883328" y="3776011"/>
            <a:ext cx="2294878" cy="1009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2" name="꺾인 연결선[E] 11">
            <a:extLst>
              <a:ext uri="{FF2B5EF4-FFF2-40B4-BE49-F238E27FC236}">
                <a16:creationId xmlns:a16="http://schemas.microsoft.com/office/drawing/2014/main" id="{43AD9684-ACC1-AC8B-C6F4-0C3BECE52994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015232" y="1303580"/>
            <a:ext cx="5974670" cy="2244073"/>
          </a:xfrm>
          <a:prstGeom prst="bentConnector3">
            <a:avLst>
              <a:gd name="adj1" fmla="val 926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[E] 14">
            <a:extLst>
              <a:ext uri="{FF2B5EF4-FFF2-40B4-BE49-F238E27FC236}">
                <a16:creationId xmlns:a16="http://schemas.microsoft.com/office/drawing/2014/main" id="{329BF74B-586E-9CF4-C285-5AC41BB33386}"/>
              </a:ext>
            </a:extLst>
          </p:cNvPr>
          <p:cNvCxnSpPr>
            <a:stCxn id="9" idx="3"/>
            <a:endCxn id="6" idx="1"/>
          </p:cNvCxnSpPr>
          <p:nvPr/>
        </p:nvCxnSpPr>
        <p:spPr>
          <a:xfrm flipV="1">
            <a:off x="5255580" y="3547653"/>
            <a:ext cx="2734322" cy="2543190"/>
          </a:xfrm>
          <a:prstGeom prst="bentConnector3">
            <a:avLst>
              <a:gd name="adj1" fmla="val 837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[E] 17">
            <a:extLst>
              <a:ext uri="{FF2B5EF4-FFF2-40B4-BE49-F238E27FC236}">
                <a16:creationId xmlns:a16="http://schemas.microsoft.com/office/drawing/2014/main" id="{4BE47E6A-B4C2-7652-1124-5D6227AEE29D}"/>
              </a:ext>
            </a:extLst>
          </p:cNvPr>
          <p:cNvCxnSpPr>
            <a:stCxn id="10" idx="3"/>
            <a:endCxn id="6" idx="1"/>
          </p:cNvCxnSpPr>
          <p:nvPr/>
        </p:nvCxnSpPr>
        <p:spPr>
          <a:xfrm flipV="1">
            <a:off x="3178206" y="3547653"/>
            <a:ext cx="4811696" cy="732885"/>
          </a:xfrm>
          <a:prstGeom prst="bentConnector3">
            <a:avLst>
              <a:gd name="adj1" fmla="val 833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C98097-E2CE-5954-E284-908511D3348B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92355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30BD1-17C6-FFF4-E57D-B44AC5315FD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5D757-4751-9353-6E79-F708582DDE96}"/>
              </a:ext>
            </a:extLst>
          </p:cNvPr>
          <p:cNvSpPr txBox="1"/>
          <p:nvPr/>
        </p:nvSpPr>
        <p:spPr>
          <a:xfrm>
            <a:off x="221941" y="807868"/>
            <a:ext cx="5610687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Dropout : </a:t>
            </a:r>
            <a:r>
              <a:rPr kumimoji="1" lang="ko-KR" altLang="en-US" sz="1400" dirty="0"/>
              <a:t>모델 정의</a:t>
            </a:r>
            <a:r>
              <a:rPr kumimoji="1" lang="en-US" altLang="ko-KR" sz="1400" dirty="0"/>
              <a:t>(layer)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dropout </a:t>
            </a:r>
            <a:r>
              <a:rPr kumimoji="1" lang="ko-KR" altLang="en-US" sz="1400" dirty="0"/>
              <a:t>추가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C42A31-0FF2-DFAA-E516-CAAAE1DB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0" y="1368024"/>
            <a:ext cx="6527800" cy="37846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B4C46AD-B8A1-AE62-D032-C9F2676C0E01}"/>
              </a:ext>
            </a:extLst>
          </p:cNvPr>
          <p:cNvSpPr/>
          <p:nvPr/>
        </p:nvSpPr>
        <p:spPr>
          <a:xfrm>
            <a:off x="794551" y="1876190"/>
            <a:ext cx="2294878" cy="2988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3E8EF2-9875-5C44-F69D-A25C02325CFC}"/>
              </a:ext>
            </a:extLst>
          </p:cNvPr>
          <p:cNvSpPr/>
          <p:nvPr/>
        </p:nvSpPr>
        <p:spPr>
          <a:xfrm>
            <a:off x="1114148" y="3005875"/>
            <a:ext cx="3413464" cy="234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7F3933-527E-8E38-42EE-A05ACB4C072E}"/>
              </a:ext>
            </a:extLst>
          </p:cNvPr>
          <p:cNvSpPr/>
          <p:nvPr/>
        </p:nvSpPr>
        <p:spPr>
          <a:xfrm>
            <a:off x="1114148" y="3475608"/>
            <a:ext cx="3413464" cy="234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7A5216-7FA5-1ECE-5C7C-4DEF1A04C7CC}"/>
              </a:ext>
            </a:extLst>
          </p:cNvPr>
          <p:cNvSpPr/>
          <p:nvPr/>
        </p:nvSpPr>
        <p:spPr>
          <a:xfrm>
            <a:off x="1114148" y="3944894"/>
            <a:ext cx="3413464" cy="234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CAA038-5C90-0A44-401C-D92B15CFF4D8}"/>
              </a:ext>
            </a:extLst>
          </p:cNvPr>
          <p:cNvSpPr/>
          <p:nvPr/>
        </p:nvSpPr>
        <p:spPr>
          <a:xfrm>
            <a:off x="1114148" y="4393403"/>
            <a:ext cx="3413464" cy="234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C571D-C2A2-4F02-9BAB-4F9E86C41AB9}"/>
              </a:ext>
            </a:extLst>
          </p:cNvPr>
          <p:cNvSpPr txBox="1"/>
          <p:nvPr/>
        </p:nvSpPr>
        <p:spPr>
          <a:xfrm>
            <a:off x="7341833" y="3269202"/>
            <a:ext cx="3559945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dirty="0"/>
              <a:t>마지막 출력층을 제외한 모든 </a:t>
            </a:r>
            <a:r>
              <a:rPr kumimoji="1" lang="en-US" altLang="ko-KR" sz="1400" dirty="0"/>
              <a:t>layer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</a:t>
            </a:r>
            <a:endParaRPr kumimoji="1" lang="en-US" altLang="ko-KR" sz="1400" dirty="0"/>
          </a:p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Dropout layer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추가한다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5BE38F4-AFE2-DA0E-6BCE-B2F948E936DC}"/>
              </a:ext>
            </a:extLst>
          </p:cNvPr>
          <p:cNvCxnSpPr/>
          <p:nvPr/>
        </p:nvCxnSpPr>
        <p:spPr>
          <a:xfrm>
            <a:off x="4829452" y="3592845"/>
            <a:ext cx="2512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42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B4066-E500-7BFC-C978-3CB8C2491785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FFF9B-97D5-959E-5639-80CBAB8BA9A6}"/>
              </a:ext>
            </a:extLst>
          </p:cNvPr>
          <p:cNvSpPr txBox="1"/>
          <p:nvPr/>
        </p:nvSpPr>
        <p:spPr>
          <a:xfrm>
            <a:off x="221942" y="807868"/>
            <a:ext cx="380852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 Regulation (L2) </a:t>
            </a:r>
            <a:endParaRPr kumimoji="1"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DE88FD-4540-D0FF-2FFA-AFE6B930A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51" y="1278199"/>
            <a:ext cx="7531100" cy="34671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DF9311B-A8FB-53BD-EDD2-671A77034BE8}"/>
              </a:ext>
            </a:extLst>
          </p:cNvPr>
          <p:cNvSpPr/>
          <p:nvPr/>
        </p:nvSpPr>
        <p:spPr>
          <a:xfrm>
            <a:off x="5402062" y="4510824"/>
            <a:ext cx="2410288" cy="3008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2027DC-63A3-754C-9B24-6E6F3ECD09CF}"/>
              </a:ext>
            </a:extLst>
          </p:cNvPr>
          <p:cNvSpPr txBox="1"/>
          <p:nvPr/>
        </p:nvSpPr>
        <p:spPr>
          <a:xfrm>
            <a:off x="6096000" y="4991469"/>
            <a:ext cx="498037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Optimizer</a:t>
            </a:r>
            <a:r>
              <a:rPr kumimoji="1" lang="ko-KR" altLang="en-US" sz="1400" dirty="0"/>
              <a:t>의 </a:t>
            </a:r>
            <a:r>
              <a:rPr kumimoji="1" lang="en-US" altLang="ko-KR" sz="1400" dirty="0" err="1"/>
              <a:t>weight_decay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옵션에 규제 수준을 지정한다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cxnSp>
        <p:nvCxnSpPr>
          <p:cNvPr id="8" name="꺾인 연결선[E] 7">
            <a:extLst>
              <a:ext uri="{FF2B5EF4-FFF2-40B4-BE49-F238E27FC236}">
                <a16:creationId xmlns:a16="http://schemas.microsoft.com/office/drawing/2014/main" id="{4F5F87EF-7FFC-91C2-CAA7-08DFE53FC45E}"/>
              </a:ext>
            </a:extLst>
          </p:cNvPr>
          <p:cNvCxnSpPr>
            <a:endCxn id="6" idx="1"/>
          </p:cNvCxnSpPr>
          <p:nvPr/>
        </p:nvCxnSpPr>
        <p:spPr>
          <a:xfrm>
            <a:off x="5690586" y="4811697"/>
            <a:ext cx="405414" cy="3424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00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33F83B-EC6B-784D-FE8A-399A36B3024D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06. Model Optimizing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80FC47-9FD7-BD08-BE75-6967AA75755C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결과 비교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5C17788-4837-1BCD-EDB8-8B5E85759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910744"/>
              </p:ext>
            </p:extLst>
          </p:nvPr>
        </p:nvGraphicFramePr>
        <p:xfrm>
          <a:off x="363985" y="2331652"/>
          <a:ext cx="11150357" cy="2090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589">
                  <a:extLst>
                    <a:ext uri="{9D8B030D-6E8A-4147-A177-3AD203B41FA5}">
                      <a16:colId xmlns:a16="http://schemas.microsoft.com/office/drawing/2014/main" val="2389884167"/>
                    </a:ext>
                  </a:extLst>
                </a:gridCol>
                <a:gridCol w="2015232">
                  <a:extLst>
                    <a:ext uri="{9D8B030D-6E8A-4147-A177-3AD203B41FA5}">
                      <a16:colId xmlns:a16="http://schemas.microsoft.com/office/drawing/2014/main" val="1276808557"/>
                    </a:ext>
                  </a:extLst>
                </a:gridCol>
                <a:gridCol w="3173768">
                  <a:extLst>
                    <a:ext uri="{9D8B030D-6E8A-4147-A177-3AD203B41FA5}">
                      <a16:colId xmlns:a16="http://schemas.microsoft.com/office/drawing/2014/main" val="4170466461"/>
                    </a:ext>
                  </a:extLst>
                </a:gridCol>
                <a:gridCol w="3173768">
                  <a:extLst>
                    <a:ext uri="{9D8B030D-6E8A-4147-A177-3AD203B41FA5}">
                      <a16:colId xmlns:a16="http://schemas.microsoft.com/office/drawing/2014/main" val="2037618109"/>
                    </a:ext>
                  </a:extLst>
                </a:gridCol>
              </a:tblGrid>
              <a:tr h="3405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epochs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CrossEntropyLoss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대략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52838"/>
                  </a:ext>
                </a:extLst>
              </a:tr>
              <a:tr h="437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Base (Over Fitted)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.8620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.4267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678293"/>
                  </a:ext>
                </a:extLst>
              </a:tr>
              <a:tr h="437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Early Stopping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.8584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.4285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38119"/>
                  </a:ext>
                </a:extLst>
              </a:tr>
              <a:tr h="437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Dropout (0.4)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.8780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.3905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350524"/>
                  </a:ext>
                </a:extLst>
              </a:tr>
              <a:tr h="437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Regulation (L2)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.8452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.4166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1745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C148CD-EE5F-31F8-F040-8120DB65EB11}"/>
              </a:ext>
            </a:extLst>
          </p:cNvPr>
          <p:cNvSpPr txBox="1"/>
          <p:nvPr/>
        </p:nvSpPr>
        <p:spPr>
          <a:xfrm>
            <a:off x="363985" y="1449109"/>
            <a:ext cx="7412854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Dropout</a:t>
            </a:r>
            <a:r>
              <a:rPr kumimoji="1" lang="ko-KR" altLang="en-US" sz="1400" dirty="0"/>
              <a:t>을 적용한 모델이 정확도와 오차 모두에서 가장 우수한 성능 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실제 분석에서는 이러한 기법들을 혼합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병행하여 사용하는 경우가 많다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1350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600</Words>
  <Application>Microsoft Macintosh PowerPoint</Application>
  <PresentationFormat>와이드스크린</PresentationFormat>
  <Paragraphs>101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243</cp:revision>
  <dcterms:created xsi:type="dcterms:W3CDTF">2025-12-09T14:37:52Z</dcterms:created>
  <dcterms:modified xsi:type="dcterms:W3CDTF">2026-03-26T09:55:01Z</dcterms:modified>
</cp:coreProperties>
</file>